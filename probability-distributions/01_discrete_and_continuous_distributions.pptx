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5143500" type="screen16x9"/>
  <p:notesSz cx="9144000" cy="5143500"/>
  <p:defaultTextStyle>
    <a:defPPr>
      <a:defRPr lang="es-H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816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HN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56E841-7FB4-4379-AACE-91C7DE6E7BF6}" type="datetimeFigureOut">
              <a:rPr lang="es-HN" smtClean="0"/>
              <a:t>25/4/2022</a:t>
            </a:fld>
            <a:endParaRPr lang="es-HN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HN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HN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E6D562-5F34-4C4F-81F3-FE7B25BABE29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4116426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g124c6f0d085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6" name="Google Shape;1536;g124c6f0d085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55739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" name="Google Shape;1541;g124c6f0d085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2" name="Google Shape;1542;g124c6f0d085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2227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gbd6c00e730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8" name="Google Shape;1548;gbd6c00e730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1218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61923" y="479325"/>
            <a:ext cx="7820152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1" i="0">
                <a:solidFill>
                  <a:srgbClr val="2D3F3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81" y="5143489"/>
                </a:moveTo>
                <a:lnTo>
                  <a:pt x="0" y="5143489"/>
                </a:lnTo>
                <a:lnTo>
                  <a:pt x="0" y="0"/>
                </a:lnTo>
                <a:lnTo>
                  <a:pt x="9143981" y="0"/>
                </a:lnTo>
                <a:lnTo>
                  <a:pt x="9143981" y="5143489"/>
                </a:lnTo>
                <a:close/>
              </a:path>
            </a:pathLst>
          </a:custGeom>
          <a:solidFill>
            <a:srgbClr val="EDF7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65049" y="303149"/>
            <a:ext cx="8614410" cy="4537710"/>
          </a:xfrm>
          <a:custGeom>
            <a:avLst/>
            <a:gdLst/>
            <a:ahLst/>
            <a:cxnLst/>
            <a:rect l="l" t="t" r="r" b="b"/>
            <a:pathLst>
              <a:path w="8614410" h="4537710">
                <a:moveTo>
                  <a:pt x="0" y="0"/>
                </a:moveTo>
                <a:lnTo>
                  <a:pt x="8613882" y="0"/>
                </a:lnTo>
                <a:lnTo>
                  <a:pt x="8613882" y="4537190"/>
                </a:lnTo>
                <a:lnTo>
                  <a:pt x="0" y="4537190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2D3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6967984" y="0"/>
            <a:ext cx="2176145" cy="1841500"/>
          </a:xfrm>
          <a:custGeom>
            <a:avLst/>
            <a:gdLst/>
            <a:ahLst/>
            <a:cxnLst/>
            <a:rect l="l" t="t" r="r" b="b"/>
            <a:pathLst>
              <a:path w="2176145" h="1841500">
                <a:moveTo>
                  <a:pt x="1987847" y="1840988"/>
                </a:moveTo>
                <a:lnTo>
                  <a:pt x="1916753" y="1838943"/>
                </a:lnTo>
                <a:lnTo>
                  <a:pt x="1840170" y="1832207"/>
                </a:lnTo>
                <a:lnTo>
                  <a:pt x="1799975" y="1826798"/>
                </a:lnTo>
                <a:lnTo>
                  <a:pt x="1758594" y="1819880"/>
                </a:lnTo>
                <a:lnTo>
                  <a:pt x="1716089" y="1811340"/>
                </a:lnTo>
                <a:lnTo>
                  <a:pt x="1672524" y="1801064"/>
                </a:lnTo>
                <a:lnTo>
                  <a:pt x="1627959" y="1788942"/>
                </a:lnTo>
                <a:lnTo>
                  <a:pt x="1582457" y="1774859"/>
                </a:lnTo>
                <a:lnTo>
                  <a:pt x="1536080" y="1758705"/>
                </a:lnTo>
                <a:lnTo>
                  <a:pt x="1488891" y="1740366"/>
                </a:lnTo>
                <a:lnTo>
                  <a:pt x="1440952" y="1719730"/>
                </a:lnTo>
                <a:lnTo>
                  <a:pt x="1392325" y="1696684"/>
                </a:lnTo>
                <a:lnTo>
                  <a:pt x="1343072" y="1671117"/>
                </a:lnTo>
                <a:lnTo>
                  <a:pt x="1293255" y="1642915"/>
                </a:lnTo>
                <a:lnTo>
                  <a:pt x="1242937" y="1611967"/>
                </a:lnTo>
                <a:lnTo>
                  <a:pt x="1192180" y="1578159"/>
                </a:lnTo>
                <a:lnTo>
                  <a:pt x="1141047" y="1541380"/>
                </a:lnTo>
                <a:lnTo>
                  <a:pt x="1089598" y="1501517"/>
                </a:lnTo>
                <a:lnTo>
                  <a:pt x="1044004" y="1464058"/>
                </a:lnTo>
                <a:lnTo>
                  <a:pt x="1000746" y="1426817"/>
                </a:lnTo>
                <a:lnTo>
                  <a:pt x="959714" y="1389777"/>
                </a:lnTo>
                <a:lnTo>
                  <a:pt x="920803" y="1352923"/>
                </a:lnTo>
                <a:lnTo>
                  <a:pt x="883901" y="1316239"/>
                </a:lnTo>
                <a:lnTo>
                  <a:pt x="848903" y="1279710"/>
                </a:lnTo>
                <a:lnTo>
                  <a:pt x="815699" y="1243321"/>
                </a:lnTo>
                <a:lnTo>
                  <a:pt x="784181" y="1207056"/>
                </a:lnTo>
                <a:lnTo>
                  <a:pt x="754240" y="1170900"/>
                </a:lnTo>
                <a:lnTo>
                  <a:pt x="725770" y="1134838"/>
                </a:lnTo>
                <a:lnTo>
                  <a:pt x="698660" y="1098853"/>
                </a:lnTo>
                <a:lnTo>
                  <a:pt x="672804" y="1062931"/>
                </a:lnTo>
                <a:lnTo>
                  <a:pt x="648092" y="1027057"/>
                </a:lnTo>
                <a:lnTo>
                  <a:pt x="624416" y="991214"/>
                </a:lnTo>
                <a:lnTo>
                  <a:pt x="601669" y="955388"/>
                </a:lnTo>
                <a:lnTo>
                  <a:pt x="579742" y="919562"/>
                </a:lnTo>
                <a:lnTo>
                  <a:pt x="558526" y="883723"/>
                </a:lnTo>
                <a:lnTo>
                  <a:pt x="537914" y="847853"/>
                </a:lnTo>
                <a:lnTo>
                  <a:pt x="517797" y="811938"/>
                </a:lnTo>
                <a:lnTo>
                  <a:pt x="498066" y="775963"/>
                </a:lnTo>
                <a:lnTo>
                  <a:pt x="478614" y="739912"/>
                </a:lnTo>
                <a:lnTo>
                  <a:pt x="459333" y="703769"/>
                </a:lnTo>
                <a:lnTo>
                  <a:pt x="401427" y="594638"/>
                </a:lnTo>
                <a:lnTo>
                  <a:pt x="381743" y="557975"/>
                </a:lnTo>
                <a:lnTo>
                  <a:pt x="361689" y="521144"/>
                </a:lnTo>
                <a:lnTo>
                  <a:pt x="341155" y="484129"/>
                </a:lnTo>
                <a:lnTo>
                  <a:pt x="320034" y="446915"/>
                </a:lnTo>
                <a:lnTo>
                  <a:pt x="298216" y="409486"/>
                </a:lnTo>
                <a:lnTo>
                  <a:pt x="275595" y="371827"/>
                </a:lnTo>
                <a:lnTo>
                  <a:pt x="252061" y="333923"/>
                </a:lnTo>
                <a:lnTo>
                  <a:pt x="227506" y="295758"/>
                </a:lnTo>
                <a:lnTo>
                  <a:pt x="201823" y="257316"/>
                </a:lnTo>
                <a:lnTo>
                  <a:pt x="174902" y="218583"/>
                </a:lnTo>
                <a:lnTo>
                  <a:pt x="146635" y="179543"/>
                </a:lnTo>
                <a:lnTo>
                  <a:pt x="116915" y="140180"/>
                </a:lnTo>
                <a:lnTo>
                  <a:pt x="85633" y="100479"/>
                </a:lnTo>
                <a:lnTo>
                  <a:pt x="52680" y="60425"/>
                </a:lnTo>
                <a:lnTo>
                  <a:pt x="17949" y="20002"/>
                </a:lnTo>
                <a:lnTo>
                  <a:pt x="0" y="0"/>
                </a:lnTo>
                <a:lnTo>
                  <a:pt x="2175996" y="0"/>
                </a:lnTo>
                <a:lnTo>
                  <a:pt x="2175996" y="1824788"/>
                </a:lnTo>
                <a:lnTo>
                  <a:pt x="2117463" y="1833974"/>
                </a:lnTo>
                <a:lnTo>
                  <a:pt x="1987847" y="1840988"/>
                </a:lnTo>
                <a:close/>
              </a:path>
            </a:pathLst>
          </a:custGeom>
          <a:solidFill>
            <a:srgbClr val="8789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6967984" y="0"/>
            <a:ext cx="2176145" cy="1841500"/>
          </a:xfrm>
          <a:custGeom>
            <a:avLst/>
            <a:gdLst/>
            <a:ahLst/>
            <a:cxnLst/>
            <a:rect l="l" t="t" r="r" b="b"/>
            <a:pathLst>
              <a:path w="2176145" h="1841500">
                <a:moveTo>
                  <a:pt x="0" y="0"/>
                </a:moveTo>
                <a:lnTo>
                  <a:pt x="52680" y="60425"/>
                </a:lnTo>
                <a:lnTo>
                  <a:pt x="85633" y="100479"/>
                </a:lnTo>
                <a:lnTo>
                  <a:pt x="116915" y="140180"/>
                </a:lnTo>
                <a:lnTo>
                  <a:pt x="146635" y="179543"/>
                </a:lnTo>
                <a:lnTo>
                  <a:pt x="174902" y="218583"/>
                </a:lnTo>
                <a:lnTo>
                  <a:pt x="201823" y="257316"/>
                </a:lnTo>
                <a:lnTo>
                  <a:pt x="227506" y="295758"/>
                </a:lnTo>
                <a:lnTo>
                  <a:pt x="252061" y="333923"/>
                </a:lnTo>
                <a:lnTo>
                  <a:pt x="275595" y="371827"/>
                </a:lnTo>
                <a:lnTo>
                  <a:pt x="298216" y="409486"/>
                </a:lnTo>
                <a:lnTo>
                  <a:pt x="320034" y="446915"/>
                </a:lnTo>
                <a:lnTo>
                  <a:pt x="341155" y="484129"/>
                </a:lnTo>
                <a:lnTo>
                  <a:pt x="361689" y="521144"/>
                </a:lnTo>
                <a:lnTo>
                  <a:pt x="381743" y="557975"/>
                </a:lnTo>
                <a:lnTo>
                  <a:pt x="401427" y="594638"/>
                </a:lnTo>
                <a:lnTo>
                  <a:pt x="420847" y="631147"/>
                </a:lnTo>
                <a:lnTo>
                  <a:pt x="440113" y="667519"/>
                </a:lnTo>
                <a:lnTo>
                  <a:pt x="459333" y="703769"/>
                </a:lnTo>
                <a:lnTo>
                  <a:pt x="478614" y="739912"/>
                </a:lnTo>
                <a:lnTo>
                  <a:pt x="498066" y="775963"/>
                </a:lnTo>
                <a:lnTo>
                  <a:pt x="517797" y="811938"/>
                </a:lnTo>
                <a:lnTo>
                  <a:pt x="537914" y="847853"/>
                </a:lnTo>
                <a:lnTo>
                  <a:pt x="558526" y="883723"/>
                </a:lnTo>
                <a:lnTo>
                  <a:pt x="579742" y="919562"/>
                </a:lnTo>
                <a:lnTo>
                  <a:pt x="601669" y="955388"/>
                </a:lnTo>
                <a:lnTo>
                  <a:pt x="624416" y="991214"/>
                </a:lnTo>
                <a:lnTo>
                  <a:pt x="648092" y="1027057"/>
                </a:lnTo>
                <a:lnTo>
                  <a:pt x="672804" y="1062931"/>
                </a:lnTo>
                <a:lnTo>
                  <a:pt x="698660" y="1098853"/>
                </a:lnTo>
                <a:lnTo>
                  <a:pt x="725770" y="1134838"/>
                </a:lnTo>
                <a:lnTo>
                  <a:pt x="754240" y="1170900"/>
                </a:lnTo>
                <a:lnTo>
                  <a:pt x="784181" y="1207056"/>
                </a:lnTo>
                <a:lnTo>
                  <a:pt x="815699" y="1243321"/>
                </a:lnTo>
                <a:lnTo>
                  <a:pt x="848903" y="1279710"/>
                </a:lnTo>
                <a:lnTo>
                  <a:pt x="883901" y="1316239"/>
                </a:lnTo>
                <a:lnTo>
                  <a:pt x="920802" y="1352923"/>
                </a:lnTo>
                <a:lnTo>
                  <a:pt x="959714" y="1389777"/>
                </a:lnTo>
                <a:lnTo>
                  <a:pt x="1000746" y="1426817"/>
                </a:lnTo>
                <a:lnTo>
                  <a:pt x="1044004" y="1464058"/>
                </a:lnTo>
                <a:lnTo>
                  <a:pt x="1089598" y="1501517"/>
                </a:lnTo>
                <a:lnTo>
                  <a:pt x="1141047" y="1541380"/>
                </a:lnTo>
                <a:lnTo>
                  <a:pt x="1192180" y="1578159"/>
                </a:lnTo>
                <a:lnTo>
                  <a:pt x="1242937" y="1611966"/>
                </a:lnTo>
                <a:lnTo>
                  <a:pt x="1293255" y="1642915"/>
                </a:lnTo>
                <a:lnTo>
                  <a:pt x="1343072" y="1671117"/>
                </a:lnTo>
                <a:lnTo>
                  <a:pt x="1392325" y="1696684"/>
                </a:lnTo>
                <a:lnTo>
                  <a:pt x="1440952" y="1719729"/>
                </a:lnTo>
                <a:lnTo>
                  <a:pt x="1488891" y="1740366"/>
                </a:lnTo>
                <a:lnTo>
                  <a:pt x="1536080" y="1758705"/>
                </a:lnTo>
                <a:lnTo>
                  <a:pt x="1582457" y="1774859"/>
                </a:lnTo>
                <a:lnTo>
                  <a:pt x="1627959" y="1788942"/>
                </a:lnTo>
                <a:lnTo>
                  <a:pt x="1672524" y="1801064"/>
                </a:lnTo>
                <a:lnTo>
                  <a:pt x="1716089" y="1811340"/>
                </a:lnTo>
                <a:lnTo>
                  <a:pt x="1758594" y="1819880"/>
                </a:lnTo>
                <a:lnTo>
                  <a:pt x="1799975" y="1826798"/>
                </a:lnTo>
                <a:lnTo>
                  <a:pt x="1840170" y="1832207"/>
                </a:lnTo>
                <a:lnTo>
                  <a:pt x="1879116" y="1836217"/>
                </a:lnTo>
                <a:lnTo>
                  <a:pt x="1953017" y="1840496"/>
                </a:lnTo>
                <a:lnTo>
                  <a:pt x="1987846" y="1840988"/>
                </a:lnTo>
                <a:lnTo>
                  <a:pt x="2117463" y="1833974"/>
                </a:lnTo>
                <a:lnTo>
                  <a:pt x="2175996" y="1824788"/>
                </a:lnTo>
              </a:path>
            </a:pathLst>
          </a:custGeom>
          <a:ln w="19049">
            <a:solidFill>
              <a:srgbClr val="2D3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0" y="3834189"/>
            <a:ext cx="1208405" cy="1309370"/>
          </a:xfrm>
          <a:custGeom>
            <a:avLst/>
            <a:gdLst/>
            <a:ahLst/>
            <a:cxnLst/>
            <a:rect l="l" t="t" r="r" b="b"/>
            <a:pathLst>
              <a:path w="1208405" h="1309370">
                <a:moveTo>
                  <a:pt x="1207889" y="1309300"/>
                </a:moveTo>
                <a:lnTo>
                  <a:pt x="0" y="1309300"/>
                </a:lnTo>
                <a:lnTo>
                  <a:pt x="0" y="0"/>
                </a:lnTo>
                <a:lnTo>
                  <a:pt x="36899" y="13673"/>
                </a:lnTo>
                <a:lnTo>
                  <a:pt x="85427" y="33759"/>
                </a:lnTo>
                <a:lnTo>
                  <a:pt x="134718" y="56385"/>
                </a:lnTo>
                <a:lnTo>
                  <a:pt x="184704" y="81677"/>
                </a:lnTo>
                <a:lnTo>
                  <a:pt x="235313" y="109763"/>
                </a:lnTo>
                <a:lnTo>
                  <a:pt x="286476" y="140769"/>
                </a:lnTo>
                <a:lnTo>
                  <a:pt x="338122" y="174822"/>
                </a:lnTo>
                <a:lnTo>
                  <a:pt x="390181" y="212049"/>
                </a:lnTo>
                <a:lnTo>
                  <a:pt x="442584" y="252577"/>
                </a:lnTo>
                <a:lnTo>
                  <a:pt x="487627" y="289623"/>
                </a:lnTo>
                <a:lnTo>
                  <a:pt x="530308" y="326452"/>
                </a:lnTo>
                <a:lnTo>
                  <a:pt x="570741" y="363078"/>
                </a:lnTo>
                <a:lnTo>
                  <a:pt x="609036" y="399518"/>
                </a:lnTo>
                <a:lnTo>
                  <a:pt x="645307" y="435788"/>
                </a:lnTo>
                <a:lnTo>
                  <a:pt x="679666" y="471905"/>
                </a:lnTo>
                <a:lnTo>
                  <a:pt x="712224" y="507882"/>
                </a:lnTo>
                <a:lnTo>
                  <a:pt x="743095" y="543738"/>
                </a:lnTo>
                <a:lnTo>
                  <a:pt x="772391" y="579487"/>
                </a:lnTo>
                <a:lnTo>
                  <a:pt x="800223" y="615146"/>
                </a:lnTo>
                <a:lnTo>
                  <a:pt x="826705" y="650731"/>
                </a:lnTo>
                <a:lnTo>
                  <a:pt x="851948" y="686257"/>
                </a:lnTo>
                <a:lnTo>
                  <a:pt x="876065" y="721740"/>
                </a:lnTo>
                <a:lnTo>
                  <a:pt x="899168" y="757197"/>
                </a:lnTo>
                <a:lnTo>
                  <a:pt x="921369" y="792644"/>
                </a:lnTo>
                <a:lnTo>
                  <a:pt x="942781" y="828096"/>
                </a:lnTo>
                <a:lnTo>
                  <a:pt x="963516" y="863569"/>
                </a:lnTo>
                <a:lnTo>
                  <a:pt x="983686" y="899079"/>
                </a:lnTo>
                <a:lnTo>
                  <a:pt x="1003404" y="934643"/>
                </a:lnTo>
                <a:lnTo>
                  <a:pt x="1022781" y="970276"/>
                </a:lnTo>
                <a:lnTo>
                  <a:pt x="1041931" y="1005994"/>
                </a:lnTo>
                <a:lnTo>
                  <a:pt x="1099135" y="1113819"/>
                </a:lnTo>
                <a:lnTo>
                  <a:pt x="1118496" y="1150037"/>
                </a:lnTo>
                <a:lnTo>
                  <a:pt x="1138191" y="1186420"/>
                </a:lnTo>
                <a:lnTo>
                  <a:pt x="1158331" y="1222985"/>
                </a:lnTo>
                <a:lnTo>
                  <a:pt x="1179029" y="1259745"/>
                </a:lnTo>
                <a:lnTo>
                  <a:pt x="1200398" y="1296719"/>
                </a:lnTo>
                <a:lnTo>
                  <a:pt x="1207889" y="1309300"/>
                </a:lnTo>
                <a:close/>
              </a:path>
            </a:pathLst>
          </a:custGeom>
          <a:solidFill>
            <a:srgbClr val="8789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0" y="3834189"/>
            <a:ext cx="1208405" cy="1309370"/>
          </a:xfrm>
          <a:custGeom>
            <a:avLst/>
            <a:gdLst/>
            <a:ahLst/>
            <a:cxnLst/>
            <a:rect l="l" t="t" r="r" b="b"/>
            <a:pathLst>
              <a:path w="1208405" h="1309370">
                <a:moveTo>
                  <a:pt x="1207889" y="1309300"/>
                </a:moveTo>
                <a:lnTo>
                  <a:pt x="1179029" y="1259745"/>
                </a:lnTo>
                <a:lnTo>
                  <a:pt x="1158331" y="1222984"/>
                </a:lnTo>
                <a:lnTo>
                  <a:pt x="1138190" y="1186420"/>
                </a:lnTo>
                <a:lnTo>
                  <a:pt x="1118496" y="1150037"/>
                </a:lnTo>
                <a:lnTo>
                  <a:pt x="1099135" y="1113819"/>
                </a:lnTo>
                <a:lnTo>
                  <a:pt x="1079995" y="1077750"/>
                </a:lnTo>
                <a:lnTo>
                  <a:pt x="1060965" y="1041813"/>
                </a:lnTo>
                <a:lnTo>
                  <a:pt x="1041931" y="1005994"/>
                </a:lnTo>
                <a:lnTo>
                  <a:pt x="1022781" y="970276"/>
                </a:lnTo>
                <a:lnTo>
                  <a:pt x="1003404" y="934643"/>
                </a:lnTo>
                <a:lnTo>
                  <a:pt x="983686" y="899079"/>
                </a:lnTo>
                <a:lnTo>
                  <a:pt x="963516" y="863569"/>
                </a:lnTo>
                <a:lnTo>
                  <a:pt x="942781" y="828096"/>
                </a:lnTo>
                <a:lnTo>
                  <a:pt x="921369" y="792644"/>
                </a:lnTo>
                <a:lnTo>
                  <a:pt x="899168" y="757197"/>
                </a:lnTo>
                <a:lnTo>
                  <a:pt x="876065" y="721740"/>
                </a:lnTo>
                <a:lnTo>
                  <a:pt x="851948" y="686257"/>
                </a:lnTo>
                <a:lnTo>
                  <a:pt x="826705" y="650731"/>
                </a:lnTo>
                <a:lnTo>
                  <a:pt x="800223" y="615146"/>
                </a:lnTo>
                <a:lnTo>
                  <a:pt x="772391" y="579487"/>
                </a:lnTo>
                <a:lnTo>
                  <a:pt x="743095" y="543738"/>
                </a:lnTo>
                <a:lnTo>
                  <a:pt x="712224" y="507882"/>
                </a:lnTo>
                <a:lnTo>
                  <a:pt x="679666" y="471904"/>
                </a:lnTo>
                <a:lnTo>
                  <a:pt x="645307" y="435788"/>
                </a:lnTo>
                <a:lnTo>
                  <a:pt x="609036" y="399518"/>
                </a:lnTo>
                <a:lnTo>
                  <a:pt x="570741" y="363078"/>
                </a:lnTo>
                <a:lnTo>
                  <a:pt x="530308" y="326452"/>
                </a:lnTo>
                <a:lnTo>
                  <a:pt x="487627" y="289623"/>
                </a:lnTo>
                <a:lnTo>
                  <a:pt x="442584" y="252577"/>
                </a:lnTo>
                <a:lnTo>
                  <a:pt x="390181" y="212049"/>
                </a:lnTo>
                <a:lnTo>
                  <a:pt x="338122" y="174822"/>
                </a:lnTo>
                <a:lnTo>
                  <a:pt x="286476" y="140769"/>
                </a:lnTo>
                <a:lnTo>
                  <a:pt x="235313" y="109763"/>
                </a:lnTo>
                <a:lnTo>
                  <a:pt x="184704" y="81677"/>
                </a:lnTo>
                <a:lnTo>
                  <a:pt x="134718" y="56385"/>
                </a:lnTo>
                <a:lnTo>
                  <a:pt x="85427" y="33759"/>
                </a:lnTo>
                <a:lnTo>
                  <a:pt x="36899" y="13673"/>
                </a:lnTo>
                <a:lnTo>
                  <a:pt x="0" y="0"/>
                </a:lnTo>
              </a:path>
            </a:pathLst>
          </a:custGeom>
          <a:ln w="19049">
            <a:solidFill>
              <a:srgbClr val="2D3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0" y="4045566"/>
            <a:ext cx="4027241" cy="10979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7597660" y="0"/>
            <a:ext cx="1546860" cy="893444"/>
          </a:xfrm>
          <a:custGeom>
            <a:avLst/>
            <a:gdLst/>
            <a:ahLst/>
            <a:cxnLst/>
            <a:rect l="l" t="t" r="r" b="b"/>
            <a:pathLst>
              <a:path w="1546859" h="893444">
                <a:moveTo>
                  <a:pt x="1504396" y="892928"/>
                </a:moveTo>
                <a:lnTo>
                  <a:pt x="1464030" y="892307"/>
                </a:lnTo>
                <a:lnTo>
                  <a:pt x="1422483" y="890381"/>
                </a:lnTo>
                <a:lnTo>
                  <a:pt x="1379789" y="887050"/>
                </a:lnTo>
                <a:lnTo>
                  <a:pt x="1335980" y="882215"/>
                </a:lnTo>
                <a:lnTo>
                  <a:pt x="1291088" y="875780"/>
                </a:lnTo>
                <a:lnTo>
                  <a:pt x="1245148" y="867645"/>
                </a:lnTo>
                <a:lnTo>
                  <a:pt x="1198190" y="857713"/>
                </a:lnTo>
                <a:lnTo>
                  <a:pt x="1150249" y="845885"/>
                </a:lnTo>
                <a:lnTo>
                  <a:pt x="1101357" y="832062"/>
                </a:lnTo>
                <a:lnTo>
                  <a:pt x="1051547" y="816147"/>
                </a:lnTo>
                <a:lnTo>
                  <a:pt x="1000852" y="798040"/>
                </a:lnTo>
                <a:lnTo>
                  <a:pt x="949304" y="777645"/>
                </a:lnTo>
                <a:lnTo>
                  <a:pt x="896936" y="754862"/>
                </a:lnTo>
                <a:lnTo>
                  <a:pt x="843781" y="729593"/>
                </a:lnTo>
                <a:lnTo>
                  <a:pt x="789873" y="701741"/>
                </a:lnTo>
                <a:lnTo>
                  <a:pt x="738249" y="673201"/>
                </a:lnTo>
                <a:lnTo>
                  <a:pt x="688960" y="644450"/>
                </a:lnTo>
                <a:lnTo>
                  <a:pt x="641896" y="615491"/>
                </a:lnTo>
                <a:lnTo>
                  <a:pt x="596949" y="586329"/>
                </a:lnTo>
                <a:lnTo>
                  <a:pt x="554009" y="556969"/>
                </a:lnTo>
                <a:lnTo>
                  <a:pt x="512967" y="527415"/>
                </a:lnTo>
                <a:lnTo>
                  <a:pt x="473714" y="497672"/>
                </a:lnTo>
                <a:lnTo>
                  <a:pt x="436140" y="467744"/>
                </a:lnTo>
                <a:lnTo>
                  <a:pt x="400137" y="437637"/>
                </a:lnTo>
                <a:lnTo>
                  <a:pt x="365594" y="407353"/>
                </a:lnTo>
                <a:lnTo>
                  <a:pt x="332404" y="376899"/>
                </a:lnTo>
                <a:lnTo>
                  <a:pt x="300456" y="346278"/>
                </a:lnTo>
                <a:lnTo>
                  <a:pt x="269642" y="315495"/>
                </a:lnTo>
                <a:lnTo>
                  <a:pt x="239852" y="284555"/>
                </a:lnTo>
                <a:lnTo>
                  <a:pt x="210978" y="253462"/>
                </a:lnTo>
                <a:lnTo>
                  <a:pt x="182908" y="222221"/>
                </a:lnTo>
                <a:lnTo>
                  <a:pt x="155536" y="190836"/>
                </a:lnTo>
                <a:lnTo>
                  <a:pt x="128751" y="159313"/>
                </a:lnTo>
                <a:lnTo>
                  <a:pt x="102444" y="127654"/>
                </a:lnTo>
                <a:lnTo>
                  <a:pt x="76506" y="95866"/>
                </a:lnTo>
                <a:lnTo>
                  <a:pt x="50828" y="63952"/>
                </a:lnTo>
                <a:lnTo>
                  <a:pt x="0" y="0"/>
                </a:lnTo>
                <a:lnTo>
                  <a:pt x="1546321" y="0"/>
                </a:lnTo>
                <a:lnTo>
                  <a:pt x="1546321" y="889307"/>
                </a:lnTo>
                <a:lnTo>
                  <a:pt x="1504396" y="892928"/>
                </a:lnTo>
                <a:close/>
              </a:path>
            </a:pathLst>
          </a:custGeom>
          <a:solidFill>
            <a:srgbClr val="BCDA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7597660" y="0"/>
            <a:ext cx="1546860" cy="893444"/>
          </a:xfrm>
          <a:custGeom>
            <a:avLst/>
            <a:gdLst/>
            <a:ahLst/>
            <a:cxnLst/>
            <a:rect l="l" t="t" r="r" b="b"/>
            <a:pathLst>
              <a:path w="1546859" h="893444">
                <a:moveTo>
                  <a:pt x="0" y="0"/>
                </a:moveTo>
                <a:lnTo>
                  <a:pt x="25300" y="31917"/>
                </a:lnTo>
                <a:lnTo>
                  <a:pt x="50828" y="63952"/>
                </a:lnTo>
                <a:lnTo>
                  <a:pt x="76506" y="95866"/>
                </a:lnTo>
                <a:lnTo>
                  <a:pt x="102444" y="127654"/>
                </a:lnTo>
                <a:lnTo>
                  <a:pt x="128751" y="159313"/>
                </a:lnTo>
                <a:lnTo>
                  <a:pt x="155536" y="190836"/>
                </a:lnTo>
                <a:lnTo>
                  <a:pt x="182908" y="222221"/>
                </a:lnTo>
                <a:lnTo>
                  <a:pt x="210978" y="253462"/>
                </a:lnTo>
                <a:lnTo>
                  <a:pt x="239852" y="284555"/>
                </a:lnTo>
                <a:lnTo>
                  <a:pt x="269642" y="315495"/>
                </a:lnTo>
                <a:lnTo>
                  <a:pt x="300456" y="346278"/>
                </a:lnTo>
                <a:lnTo>
                  <a:pt x="332404" y="376899"/>
                </a:lnTo>
                <a:lnTo>
                  <a:pt x="365594" y="407353"/>
                </a:lnTo>
                <a:lnTo>
                  <a:pt x="400137" y="437637"/>
                </a:lnTo>
                <a:lnTo>
                  <a:pt x="436140" y="467744"/>
                </a:lnTo>
                <a:lnTo>
                  <a:pt x="473714" y="497672"/>
                </a:lnTo>
                <a:lnTo>
                  <a:pt x="512967" y="527415"/>
                </a:lnTo>
                <a:lnTo>
                  <a:pt x="554009" y="556969"/>
                </a:lnTo>
                <a:lnTo>
                  <a:pt x="596949" y="586329"/>
                </a:lnTo>
                <a:lnTo>
                  <a:pt x="641896" y="615491"/>
                </a:lnTo>
                <a:lnTo>
                  <a:pt x="688959" y="644450"/>
                </a:lnTo>
                <a:lnTo>
                  <a:pt x="738249" y="673201"/>
                </a:lnTo>
                <a:lnTo>
                  <a:pt x="789873" y="701741"/>
                </a:lnTo>
                <a:lnTo>
                  <a:pt x="843781" y="729593"/>
                </a:lnTo>
                <a:lnTo>
                  <a:pt x="896936" y="754862"/>
                </a:lnTo>
                <a:lnTo>
                  <a:pt x="949304" y="777645"/>
                </a:lnTo>
                <a:lnTo>
                  <a:pt x="1000852" y="798040"/>
                </a:lnTo>
                <a:lnTo>
                  <a:pt x="1051547" y="816146"/>
                </a:lnTo>
                <a:lnTo>
                  <a:pt x="1101357" y="832062"/>
                </a:lnTo>
                <a:lnTo>
                  <a:pt x="1150249" y="845885"/>
                </a:lnTo>
                <a:lnTo>
                  <a:pt x="1198190" y="857713"/>
                </a:lnTo>
                <a:lnTo>
                  <a:pt x="1245148" y="867645"/>
                </a:lnTo>
                <a:lnTo>
                  <a:pt x="1291088" y="875780"/>
                </a:lnTo>
                <a:lnTo>
                  <a:pt x="1335980" y="882215"/>
                </a:lnTo>
                <a:lnTo>
                  <a:pt x="1379789" y="887050"/>
                </a:lnTo>
                <a:lnTo>
                  <a:pt x="1422483" y="890381"/>
                </a:lnTo>
                <a:lnTo>
                  <a:pt x="1464030" y="892307"/>
                </a:lnTo>
                <a:lnTo>
                  <a:pt x="1504396" y="892928"/>
                </a:lnTo>
                <a:lnTo>
                  <a:pt x="1546321" y="889307"/>
                </a:lnTo>
              </a:path>
            </a:pathLst>
          </a:custGeom>
          <a:ln w="19049">
            <a:solidFill>
              <a:srgbClr val="2D3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6111717" y="0"/>
            <a:ext cx="1492250" cy="715645"/>
          </a:xfrm>
          <a:custGeom>
            <a:avLst/>
            <a:gdLst/>
            <a:ahLst/>
            <a:cxnLst/>
            <a:rect l="l" t="t" r="r" b="b"/>
            <a:pathLst>
              <a:path w="1492250" h="715645">
                <a:moveTo>
                  <a:pt x="746118" y="715576"/>
                </a:moveTo>
                <a:lnTo>
                  <a:pt x="698856" y="714107"/>
                </a:lnTo>
                <a:lnTo>
                  <a:pt x="652377" y="709757"/>
                </a:lnTo>
                <a:lnTo>
                  <a:pt x="606768" y="702616"/>
                </a:lnTo>
                <a:lnTo>
                  <a:pt x="562117" y="692769"/>
                </a:lnTo>
                <a:lnTo>
                  <a:pt x="518512" y="680304"/>
                </a:lnTo>
                <a:lnTo>
                  <a:pt x="476040" y="665308"/>
                </a:lnTo>
                <a:lnTo>
                  <a:pt x="434787" y="647869"/>
                </a:lnTo>
                <a:lnTo>
                  <a:pt x="394842" y="628074"/>
                </a:lnTo>
                <a:lnTo>
                  <a:pt x="356292" y="606011"/>
                </a:lnTo>
                <a:lnTo>
                  <a:pt x="319224" y="581766"/>
                </a:lnTo>
                <a:lnTo>
                  <a:pt x="283726" y="555427"/>
                </a:lnTo>
                <a:lnTo>
                  <a:pt x="249885" y="527082"/>
                </a:lnTo>
                <a:lnTo>
                  <a:pt x="217788" y="496818"/>
                </a:lnTo>
                <a:lnTo>
                  <a:pt x="187523" y="464722"/>
                </a:lnTo>
                <a:lnTo>
                  <a:pt x="159177" y="430881"/>
                </a:lnTo>
                <a:lnTo>
                  <a:pt x="132837" y="395384"/>
                </a:lnTo>
                <a:lnTo>
                  <a:pt x="108591" y="358316"/>
                </a:lnTo>
                <a:lnTo>
                  <a:pt x="86527" y="319766"/>
                </a:lnTo>
                <a:lnTo>
                  <a:pt x="66731" y="279821"/>
                </a:lnTo>
                <a:lnTo>
                  <a:pt x="49291" y="238568"/>
                </a:lnTo>
                <a:lnTo>
                  <a:pt x="34294" y="196095"/>
                </a:lnTo>
                <a:lnTo>
                  <a:pt x="21829" y="152489"/>
                </a:lnTo>
                <a:lnTo>
                  <a:pt x="11981" y="107837"/>
                </a:lnTo>
                <a:lnTo>
                  <a:pt x="4838" y="62227"/>
                </a:lnTo>
                <a:lnTo>
                  <a:pt x="489" y="15745"/>
                </a:lnTo>
                <a:lnTo>
                  <a:pt x="0" y="0"/>
                </a:lnTo>
                <a:lnTo>
                  <a:pt x="1491887" y="0"/>
                </a:lnTo>
                <a:lnTo>
                  <a:pt x="1487048" y="62227"/>
                </a:lnTo>
                <a:lnTo>
                  <a:pt x="1479906" y="107837"/>
                </a:lnTo>
                <a:lnTo>
                  <a:pt x="1470059" y="152489"/>
                </a:lnTo>
                <a:lnTo>
                  <a:pt x="1457595" y="196095"/>
                </a:lnTo>
                <a:lnTo>
                  <a:pt x="1442600" y="238568"/>
                </a:lnTo>
                <a:lnTo>
                  <a:pt x="1425162" y="279821"/>
                </a:lnTo>
                <a:lnTo>
                  <a:pt x="1405370" y="319766"/>
                </a:lnTo>
                <a:lnTo>
                  <a:pt x="1383310" y="358316"/>
                </a:lnTo>
                <a:lnTo>
                  <a:pt x="1359069" y="395384"/>
                </a:lnTo>
                <a:lnTo>
                  <a:pt x="1332736" y="430881"/>
                </a:lnTo>
                <a:lnTo>
                  <a:pt x="1304398" y="464722"/>
                </a:lnTo>
                <a:lnTo>
                  <a:pt x="1274142" y="496818"/>
                </a:lnTo>
                <a:lnTo>
                  <a:pt x="1242056" y="527082"/>
                </a:lnTo>
                <a:lnTo>
                  <a:pt x="1208227" y="555427"/>
                </a:lnTo>
                <a:lnTo>
                  <a:pt x="1172744" y="581766"/>
                </a:lnTo>
                <a:lnTo>
                  <a:pt x="1135692" y="606011"/>
                </a:lnTo>
                <a:lnTo>
                  <a:pt x="1097160" y="628074"/>
                </a:lnTo>
                <a:lnTo>
                  <a:pt x="1057236" y="647869"/>
                </a:lnTo>
                <a:lnTo>
                  <a:pt x="1016006" y="665308"/>
                </a:lnTo>
                <a:lnTo>
                  <a:pt x="973559" y="680304"/>
                </a:lnTo>
                <a:lnTo>
                  <a:pt x="929981" y="692769"/>
                </a:lnTo>
                <a:lnTo>
                  <a:pt x="885361" y="702616"/>
                </a:lnTo>
                <a:lnTo>
                  <a:pt x="839785" y="709757"/>
                </a:lnTo>
                <a:lnTo>
                  <a:pt x="793342" y="714107"/>
                </a:lnTo>
                <a:lnTo>
                  <a:pt x="746118" y="715576"/>
                </a:lnTo>
                <a:close/>
              </a:path>
            </a:pathLst>
          </a:custGeom>
          <a:solidFill>
            <a:srgbClr val="87B3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6111717" y="0"/>
            <a:ext cx="1492250" cy="715645"/>
          </a:xfrm>
          <a:custGeom>
            <a:avLst/>
            <a:gdLst/>
            <a:ahLst/>
            <a:cxnLst/>
            <a:rect l="l" t="t" r="r" b="b"/>
            <a:pathLst>
              <a:path w="1492250" h="715645">
                <a:moveTo>
                  <a:pt x="0" y="0"/>
                </a:moveTo>
                <a:lnTo>
                  <a:pt x="4838" y="62227"/>
                </a:lnTo>
                <a:lnTo>
                  <a:pt x="11981" y="107837"/>
                </a:lnTo>
                <a:lnTo>
                  <a:pt x="21829" y="152489"/>
                </a:lnTo>
                <a:lnTo>
                  <a:pt x="34294" y="196095"/>
                </a:lnTo>
                <a:lnTo>
                  <a:pt x="49291" y="238568"/>
                </a:lnTo>
                <a:lnTo>
                  <a:pt x="66731" y="279821"/>
                </a:lnTo>
                <a:lnTo>
                  <a:pt x="86527" y="319766"/>
                </a:lnTo>
                <a:lnTo>
                  <a:pt x="108591" y="358316"/>
                </a:lnTo>
                <a:lnTo>
                  <a:pt x="132837" y="395384"/>
                </a:lnTo>
                <a:lnTo>
                  <a:pt x="159177" y="430881"/>
                </a:lnTo>
                <a:lnTo>
                  <a:pt x="187523" y="464722"/>
                </a:lnTo>
                <a:lnTo>
                  <a:pt x="217788" y="496818"/>
                </a:lnTo>
                <a:lnTo>
                  <a:pt x="249885" y="527082"/>
                </a:lnTo>
                <a:lnTo>
                  <a:pt x="283726" y="555427"/>
                </a:lnTo>
                <a:lnTo>
                  <a:pt x="319224" y="581766"/>
                </a:lnTo>
                <a:lnTo>
                  <a:pt x="356292" y="606011"/>
                </a:lnTo>
                <a:lnTo>
                  <a:pt x="394842" y="628074"/>
                </a:lnTo>
                <a:lnTo>
                  <a:pt x="434787" y="647869"/>
                </a:lnTo>
                <a:lnTo>
                  <a:pt x="476040" y="665308"/>
                </a:lnTo>
                <a:lnTo>
                  <a:pt x="518512" y="680303"/>
                </a:lnTo>
                <a:lnTo>
                  <a:pt x="562117" y="692769"/>
                </a:lnTo>
                <a:lnTo>
                  <a:pt x="606768" y="702616"/>
                </a:lnTo>
                <a:lnTo>
                  <a:pt x="652377" y="709757"/>
                </a:lnTo>
                <a:lnTo>
                  <a:pt x="698856" y="714107"/>
                </a:lnTo>
                <a:lnTo>
                  <a:pt x="746118" y="715576"/>
                </a:lnTo>
                <a:lnTo>
                  <a:pt x="793342" y="714107"/>
                </a:lnTo>
                <a:lnTo>
                  <a:pt x="839785" y="709757"/>
                </a:lnTo>
                <a:lnTo>
                  <a:pt x="885361" y="702616"/>
                </a:lnTo>
                <a:lnTo>
                  <a:pt x="929981" y="692769"/>
                </a:lnTo>
                <a:lnTo>
                  <a:pt x="973559" y="680303"/>
                </a:lnTo>
                <a:lnTo>
                  <a:pt x="1016006" y="665308"/>
                </a:lnTo>
                <a:lnTo>
                  <a:pt x="1057236" y="647869"/>
                </a:lnTo>
                <a:lnTo>
                  <a:pt x="1097160" y="628074"/>
                </a:lnTo>
                <a:lnTo>
                  <a:pt x="1135692" y="606011"/>
                </a:lnTo>
                <a:lnTo>
                  <a:pt x="1172744" y="581766"/>
                </a:lnTo>
                <a:lnTo>
                  <a:pt x="1208227" y="555427"/>
                </a:lnTo>
                <a:lnTo>
                  <a:pt x="1242056" y="527082"/>
                </a:lnTo>
                <a:lnTo>
                  <a:pt x="1274142" y="496818"/>
                </a:lnTo>
                <a:lnTo>
                  <a:pt x="1304398" y="464722"/>
                </a:lnTo>
                <a:lnTo>
                  <a:pt x="1332736" y="430881"/>
                </a:lnTo>
                <a:lnTo>
                  <a:pt x="1359069" y="395384"/>
                </a:lnTo>
                <a:lnTo>
                  <a:pt x="1383310" y="358316"/>
                </a:lnTo>
                <a:lnTo>
                  <a:pt x="1405370" y="319766"/>
                </a:lnTo>
                <a:lnTo>
                  <a:pt x="1425162" y="279821"/>
                </a:lnTo>
                <a:lnTo>
                  <a:pt x="1442600" y="238568"/>
                </a:lnTo>
                <a:lnTo>
                  <a:pt x="1457595" y="196095"/>
                </a:lnTo>
                <a:lnTo>
                  <a:pt x="1470059" y="152489"/>
                </a:lnTo>
                <a:lnTo>
                  <a:pt x="1479906" y="107837"/>
                </a:lnTo>
                <a:lnTo>
                  <a:pt x="1487048" y="62227"/>
                </a:lnTo>
                <a:lnTo>
                  <a:pt x="1491397" y="15745"/>
                </a:lnTo>
                <a:lnTo>
                  <a:pt x="1491887" y="0"/>
                </a:lnTo>
              </a:path>
            </a:pathLst>
          </a:custGeom>
          <a:ln w="19049">
            <a:solidFill>
              <a:srgbClr val="2D3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265049" y="303149"/>
            <a:ext cx="5586730" cy="787400"/>
          </a:xfrm>
          <a:custGeom>
            <a:avLst/>
            <a:gdLst/>
            <a:ahLst/>
            <a:cxnLst/>
            <a:rect l="l" t="t" r="r" b="b"/>
            <a:pathLst>
              <a:path w="5586730" h="787400">
                <a:moveTo>
                  <a:pt x="0" y="0"/>
                </a:moveTo>
                <a:lnTo>
                  <a:pt x="5586288" y="0"/>
                </a:lnTo>
                <a:lnTo>
                  <a:pt x="5586288" y="787198"/>
                </a:lnTo>
                <a:lnTo>
                  <a:pt x="0" y="7871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2D3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1" i="0">
                <a:solidFill>
                  <a:srgbClr val="2D3F3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81" y="5143489"/>
                </a:moveTo>
                <a:lnTo>
                  <a:pt x="0" y="5143489"/>
                </a:lnTo>
                <a:lnTo>
                  <a:pt x="0" y="0"/>
                </a:lnTo>
                <a:lnTo>
                  <a:pt x="9143981" y="0"/>
                </a:lnTo>
                <a:lnTo>
                  <a:pt x="9143981" y="5143489"/>
                </a:lnTo>
                <a:close/>
              </a:path>
            </a:pathLst>
          </a:custGeom>
          <a:solidFill>
            <a:srgbClr val="EDF7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65049" y="303149"/>
            <a:ext cx="8614410" cy="4537710"/>
          </a:xfrm>
          <a:custGeom>
            <a:avLst/>
            <a:gdLst/>
            <a:ahLst/>
            <a:cxnLst/>
            <a:rect l="l" t="t" r="r" b="b"/>
            <a:pathLst>
              <a:path w="8614410" h="4537710">
                <a:moveTo>
                  <a:pt x="0" y="0"/>
                </a:moveTo>
                <a:lnTo>
                  <a:pt x="8613882" y="0"/>
                </a:lnTo>
                <a:lnTo>
                  <a:pt x="8613882" y="4537190"/>
                </a:lnTo>
                <a:lnTo>
                  <a:pt x="0" y="4537190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2D3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1" i="0">
                <a:solidFill>
                  <a:srgbClr val="2D3F3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2000250" y="1648275"/>
            <a:ext cx="5143500" cy="1890300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7924197" y="-37600"/>
            <a:ext cx="2071631" cy="2071631"/>
          </a:xfrm>
          <a:custGeom>
            <a:avLst/>
            <a:gdLst/>
            <a:ahLst/>
            <a:cxnLst/>
            <a:rect l="l" t="t" r="r" b="b"/>
            <a:pathLst>
              <a:path w="48995" h="48995" extrusionOk="0">
                <a:moveTo>
                  <a:pt x="24503" y="0"/>
                </a:moveTo>
                <a:cubicBezTo>
                  <a:pt x="10966" y="0"/>
                  <a:pt x="0" y="10966"/>
                  <a:pt x="0" y="24491"/>
                </a:cubicBezTo>
                <a:cubicBezTo>
                  <a:pt x="0" y="38029"/>
                  <a:pt x="10966" y="48994"/>
                  <a:pt x="24503" y="48994"/>
                </a:cubicBezTo>
                <a:cubicBezTo>
                  <a:pt x="38029" y="48994"/>
                  <a:pt x="48995" y="38029"/>
                  <a:pt x="48995" y="24491"/>
                </a:cubicBezTo>
                <a:cubicBezTo>
                  <a:pt x="48995" y="10966"/>
                  <a:pt x="38029" y="0"/>
                  <a:pt x="24503" y="0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8"/>
          <p:cNvSpPr/>
          <p:nvPr/>
        </p:nvSpPr>
        <p:spPr>
          <a:xfrm>
            <a:off x="-442825" y="-780450"/>
            <a:ext cx="4202735" cy="1924673"/>
          </a:xfrm>
          <a:custGeom>
            <a:avLst/>
            <a:gdLst/>
            <a:ahLst/>
            <a:cxnLst/>
            <a:rect l="l" t="t" r="r" b="b"/>
            <a:pathLst>
              <a:path w="123874" h="56729" extrusionOk="0">
                <a:moveTo>
                  <a:pt x="1" y="1"/>
                </a:moveTo>
                <a:lnTo>
                  <a:pt x="3656" y="32790"/>
                </a:lnTo>
                <a:cubicBezTo>
                  <a:pt x="3656" y="32790"/>
                  <a:pt x="7596" y="31184"/>
                  <a:pt x="14347" y="31184"/>
                </a:cubicBezTo>
                <a:cubicBezTo>
                  <a:pt x="23267" y="31184"/>
                  <a:pt x="37093" y="33988"/>
                  <a:pt x="53222" y="47006"/>
                </a:cubicBezTo>
                <a:cubicBezTo>
                  <a:pt x="61859" y="53978"/>
                  <a:pt x="70316" y="56728"/>
                  <a:pt x="78120" y="56728"/>
                </a:cubicBezTo>
                <a:cubicBezTo>
                  <a:pt x="91456" y="56728"/>
                  <a:pt x="102885" y="48697"/>
                  <a:pt x="110050" y="39970"/>
                </a:cubicBezTo>
                <a:cubicBezTo>
                  <a:pt x="123873" y="23087"/>
                  <a:pt x="115289" y="8490"/>
                  <a:pt x="115289" y="8490"/>
                </a:cubicBezTo>
                <a:lnTo>
                  <a:pt x="115289" y="1"/>
                </a:ln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3" name="Google Shape;63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873300" y="3295674"/>
            <a:ext cx="2357675" cy="248177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8"/>
          <p:cNvSpPr/>
          <p:nvPr/>
        </p:nvSpPr>
        <p:spPr>
          <a:xfrm rot="-5400000">
            <a:off x="6763126" y="1858333"/>
            <a:ext cx="3335564" cy="3355992"/>
          </a:xfrm>
          <a:custGeom>
            <a:avLst/>
            <a:gdLst/>
            <a:ahLst/>
            <a:cxnLst/>
            <a:rect l="l" t="t" r="r" b="b"/>
            <a:pathLst>
              <a:path w="102216" h="102842" extrusionOk="0">
                <a:moveTo>
                  <a:pt x="9244" y="0"/>
                </a:moveTo>
                <a:cubicBezTo>
                  <a:pt x="3571" y="0"/>
                  <a:pt x="0" y="1329"/>
                  <a:pt x="0" y="1329"/>
                </a:cubicBezTo>
                <a:lnTo>
                  <a:pt x="1143" y="102842"/>
                </a:lnTo>
                <a:lnTo>
                  <a:pt x="102215" y="102842"/>
                </a:lnTo>
                <a:lnTo>
                  <a:pt x="102215" y="70159"/>
                </a:lnTo>
                <a:cubicBezTo>
                  <a:pt x="102215" y="70159"/>
                  <a:pt x="100375" y="70876"/>
                  <a:pt x="97156" y="70876"/>
                </a:cubicBezTo>
                <a:cubicBezTo>
                  <a:pt x="91683" y="70876"/>
                  <a:pt x="82223" y="68803"/>
                  <a:pt x="71045" y="57610"/>
                </a:cubicBezTo>
                <a:cubicBezTo>
                  <a:pt x="53281" y="39846"/>
                  <a:pt x="55721" y="26011"/>
                  <a:pt x="35874" y="10068"/>
                </a:cubicBezTo>
                <a:cubicBezTo>
                  <a:pt x="25675" y="1874"/>
                  <a:pt x="15979" y="0"/>
                  <a:pt x="9244" y="0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7431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265050" y="303150"/>
            <a:ext cx="6166200" cy="787200"/>
          </a:xfrm>
          <a:prstGeom prst="rect">
            <a:avLst/>
          </a:prstGeom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1475" tIns="91425" rIns="91425" bIns="457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pic>
        <p:nvPicPr>
          <p:cNvPr id="33" name="Google Shape;33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 flipH="1">
            <a:off x="7104525" y="-3020025"/>
            <a:ext cx="27813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/>
          <p:nvPr/>
        </p:nvSpPr>
        <p:spPr>
          <a:xfrm>
            <a:off x="8239676" y="-180824"/>
            <a:ext cx="1219731" cy="1219731"/>
          </a:xfrm>
          <a:custGeom>
            <a:avLst/>
            <a:gdLst/>
            <a:ahLst/>
            <a:cxnLst/>
            <a:rect l="l" t="t" r="r" b="b"/>
            <a:pathLst>
              <a:path w="48995" h="48995" extrusionOk="0">
                <a:moveTo>
                  <a:pt x="24503" y="0"/>
                </a:moveTo>
                <a:cubicBezTo>
                  <a:pt x="10966" y="0"/>
                  <a:pt x="0" y="10966"/>
                  <a:pt x="0" y="24491"/>
                </a:cubicBezTo>
                <a:cubicBezTo>
                  <a:pt x="0" y="38029"/>
                  <a:pt x="10966" y="48994"/>
                  <a:pt x="24503" y="48994"/>
                </a:cubicBezTo>
                <a:cubicBezTo>
                  <a:pt x="38029" y="48994"/>
                  <a:pt x="48995" y="38029"/>
                  <a:pt x="48995" y="24491"/>
                </a:cubicBezTo>
                <a:cubicBezTo>
                  <a:pt x="48995" y="10966"/>
                  <a:pt x="38029" y="0"/>
                  <a:pt x="24503" y="0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64875" y="4533275"/>
            <a:ext cx="610225" cy="610225"/>
          </a:xfrm>
          <a:custGeom>
            <a:avLst/>
            <a:gdLst/>
            <a:ahLst/>
            <a:cxnLst/>
            <a:rect l="l" t="t" r="r" b="b"/>
            <a:pathLst>
              <a:path w="24409" h="24409" extrusionOk="0">
                <a:moveTo>
                  <a:pt x="12205" y="1"/>
                </a:moveTo>
                <a:cubicBezTo>
                  <a:pt x="5454" y="1"/>
                  <a:pt x="1" y="5466"/>
                  <a:pt x="1" y="12205"/>
                </a:cubicBezTo>
                <a:cubicBezTo>
                  <a:pt x="1" y="18944"/>
                  <a:pt x="5454" y="24409"/>
                  <a:pt x="12205" y="24409"/>
                </a:cubicBezTo>
                <a:cubicBezTo>
                  <a:pt x="18944" y="24409"/>
                  <a:pt x="24409" y="18944"/>
                  <a:pt x="24409" y="12205"/>
                </a:cubicBezTo>
                <a:cubicBezTo>
                  <a:pt x="24409" y="5466"/>
                  <a:pt x="18944" y="1"/>
                  <a:pt x="12205" y="1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8662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p19"/>
          <p:cNvSpPr txBox="1">
            <a:spLocks noGrp="1"/>
          </p:cNvSpPr>
          <p:nvPr>
            <p:ph type="body" idx="1"/>
          </p:nvPr>
        </p:nvSpPr>
        <p:spPr>
          <a:xfrm>
            <a:off x="720000" y="1426050"/>
            <a:ext cx="3718800" cy="274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78" name="Google Shape;1378;p19"/>
          <p:cNvSpPr txBox="1">
            <a:spLocks noGrp="1"/>
          </p:cNvSpPr>
          <p:nvPr>
            <p:ph type="body" idx="2"/>
          </p:nvPr>
        </p:nvSpPr>
        <p:spPr>
          <a:xfrm>
            <a:off x="4705128" y="1426050"/>
            <a:ext cx="3718800" cy="274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latin typeface="Inter"/>
                <a:ea typeface="Inter"/>
                <a:cs typeface="Inter"/>
                <a:sym typeface="Inter"/>
              </a:defRPr>
            </a:lvl1pPr>
            <a:lvl2pPr marL="914400" lvl="1" indent="-3175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79" name="Google Shape;1379;p19"/>
          <p:cNvSpPr/>
          <p:nvPr/>
        </p:nvSpPr>
        <p:spPr>
          <a:xfrm flipH="1">
            <a:off x="6266140" y="-856650"/>
            <a:ext cx="4202735" cy="1924673"/>
          </a:xfrm>
          <a:custGeom>
            <a:avLst/>
            <a:gdLst/>
            <a:ahLst/>
            <a:cxnLst/>
            <a:rect l="l" t="t" r="r" b="b"/>
            <a:pathLst>
              <a:path w="123874" h="56729" extrusionOk="0">
                <a:moveTo>
                  <a:pt x="1" y="1"/>
                </a:moveTo>
                <a:lnTo>
                  <a:pt x="3656" y="32790"/>
                </a:lnTo>
                <a:cubicBezTo>
                  <a:pt x="3656" y="32790"/>
                  <a:pt x="7596" y="31184"/>
                  <a:pt x="14347" y="31184"/>
                </a:cubicBezTo>
                <a:cubicBezTo>
                  <a:pt x="23267" y="31184"/>
                  <a:pt x="37093" y="33988"/>
                  <a:pt x="53222" y="47006"/>
                </a:cubicBezTo>
                <a:cubicBezTo>
                  <a:pt x="61859" y="53978"/>
                  <a:pt x="70316" y="56728"/>
                  <a:pt x="78120" y="56728"/>
                </a:cubicBezTo>
                <a:cubicBezTo>
                  <a:pt x="91456" y="56728"/>
                  <a:pt x="102885" y="48697"/>
                  <a:pt x="110050" y="39970"/>
                </a:cubicBezTo>
                <a:cubicBezTo>
                  <a:pt x="123873" y="23087"/>
                  <a:pt x="115289" y="8490"/>
                  <a:pt x="115289" y="8490"/>
                </a:cubicBezTo>
                <a:lnTo>
                  <a:pt x="115289" y="1"/>
                </a:ln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80" name="Google Shape;1380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4723400" y="-2809587"/>
            <a:ext cx="27813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1" name="Google Shape;1381;p19"/>
          <p:cNvSpPr/>
          <p:nvPr/>
        </p:nvSpPr>
        <p:spPr>
          <a:xfrm>
            <a:off x="142923" y="4251824"/>
            <a:ext cx="352274" cy="352274"/>
          </a:xfrm>
          <a:custGeom>
            <a:avLst/>
            <a:gdLst/>
            <a:ahLst/>
            <a:cxnLst/>
            <a:rect l="l" t="t" r="r" b="b"/>
            <a:pathLst>
              <a:path w="48995" h="48995" extrusionOk="0">
                <a:moveTo>
                  <a:pt x="24503" y="0"/>
                </a:moveTo>
                <a:cubicBezTo>
                  <a:pt x="10966" y="0"/>
                  <a:pt x="0" y="10966"/>
                  <a:pt x="0" y="24491"/>
                </a:cubicBezTo>
                <a:cubicBezTo>
                  <a:pt x="0" y="38029"/>
                  <a:pt x="10966" y="48994"/>
                  <a:pt x="24503" y="48994"/>
                </a:cubicBezTo>
                <a:cubicBezTo>
                  <a:pt x="38029" y="48994"/>
                  <a:pt x="48995" y="38029"/>
                  <a:pt x="48995" y="24491"/>
                </a:cubicBezTo>
                <a:cubicBezTo>
                  <a:pt x="48995" y="10966"/>
                  <a:pt x="38029" y="0"/>
                  <a:pt x="24503" y="0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2" name="Google Shape;1382;p19"/>
          <p:cNvSpPr/>
          <p:nvPr/>
        </p:nvSpPr>
        <p:spPr>
          <a:xfrm>
            <a:off x="64875" y="4533275"/>
            <a:ext cx="610225" cy="610225"/>
          </a:xfrm>
          <a:custGeom>
            <a:avLst/>
            <a:gdLst/>
            <a:ahLst/>
            <a:cxnLst/>
            <a:rect l="l" t="t" r="r" b="b"/>
            <a:pathLst>
              <a:path w="24409" h="24409" extrusionOk="0">
                <a:moveTo>
                  <a:pt x="12205" y="1"/>
                </a:moveTo>
                <a:cubicBezTo>
                  <a:pt x="5454" y="1"/>
                  <a:pt x="1" y="5466"/>
                  <a:pt x="1" y="12205"/>
                </a:cubicBezTo>
                <a:cubicBezTo>
                  <a:pt x="1" y="18944"/>
                  <a:pt x="5454" y="24409"/>
                  <a:pt x="12205" y="24409"/>
                </a:cubicBezTo>
                <a:cubicBezTo>
                  <a:pt x="18944" y="24409"/>
                  <a:pt x="24409" y="18944"/>
                  <a:pt x="24409" y="12205"/>
                </a:cubicBezTo>
                <a:cubicBezTo>
                  <a:pt x="24409" y="5466"/>
                  <a:pt x="18944" y="1"/>
                  <a:pt x="12205" y="1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3" name="Google Shape;1383;p19"/>
          <p:cNvSpPr/>
          <p:nvPr/>
        </p:nvSpPr>
        <p:spPr>
          <a:xfrm rot="-9945166" flipH="1">
            <a:off x="6552520" y="3301595"/>
            <a:ext cx="3450781" cy="3471574"/>
          </a:xfrm>
          <a:custGeom>
            <a:avLst/>
            <a:gdLst/>
            <a:ahLst/>
            <a:cxnLst/>
            <a:rect l="l" t="t" r="r" b="b"/>
            <a:pathLst>
              <a:path w="102228" h="102844" extrusionOk="0">
                <a:moveTo>
                  <a:pt x="0" y="1"/>
                </a:moveTo>
                <a:lnTo>
                  <a:pt x="0" y="32683"/>
                </a:lnTo>
                <a:cubicBezTo>
                  <a:pt x="0" y="32683"/>
                  <a:pt x="1840" y="31967"/>
                  <a:pt x="5060" y="31967"/>
                </a:cubicBezTo>
                <a:cubicBezTo>
                  <a:pt x="10534" y="31967"/>
                  <a:pt x="19997" y="34039"/>
                  <a:pt x="31183" y="45233"/>
                </a:cubicBezTo>
                <a:cubicBezTo>
                  <a:pt x="48935" y="62997"/>
                  <a:pt x="46494" y="76832"/>
                  <a:pt x="66366" y="92786"/>
                </a:cubicBezTo>
                <a:cubicBezTo>
                  <a:pt x="76554" y="100971"/>
                  <a:pt x="86244" y="102843"/>
                  <a:pt x="92977" y="102843"/>
                </a:cubicBezTo>
                <a:cubicBezTo>
                  <a:pt x="98653" y="102843"/>
                  <a:pt x="102227" y="101513"/>
                  <a:pt x="102227" y="101513"/>
                </a:cubicBezTo>
                <a:lnTo>
                  <a:pt x="101072" y="1"/>
                </a:ln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4" name="Google Shape;1384;p19"/>
          <p:cNvSpPr/>
          <p:nvPr/>
        </p:nvSpPr>
        <p:spPr>
          <a:xfrm flipH="1">
            <a:off x="7751125" y="4424750"/>
            <a:ext cx="610225" cy="610225"/>
          </a:xfrm>
          <a:custGeom>
            <a:avLst/>
            <a:gdLst/>
            <a:ahLst/>
            <a:cxnLst/>
            <a:rect l="l" t="t" r="r" b="b"/>
            <a:pathLst>
              <a:path w="24409" h="24409" extrusionOk="0">
                <a:moveTo>
                  <a:pt x="12205" y="1"/>
                </a:moveTo>
                <a:cubicBezTo>
                  <a:pt x="5454" y="1"/>
                  <a:pt x="1" y="5466"/>
                  <a:pt x="1" y="12205"/>
                </a:cubicBezTo>
                <a:cubicBezTo>
                  <a:pt x="1" y="18944"/>
                  <a:pt x="5454" y="24409"/>
                  <a:pt x="12205" y="24409"/>
                </a:cubicBezTo>
                <a:cubicBezTo>
                  <a:pt x="18944" y="24409"/>
                  <a:pt x="24409" y="18944"/>
                  <a:pt x="24409" y="12205"/>
                </a:cubicBezTo>
                <a:cubicBezTo>
                  <a:pt x="24409" y="5466"/>
                  <a:pt x="18944" y="1"/>
                  <a:pt x="12205" y="1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5" name="Google Shape;1385;p19"/>
          <p:cNvSpPr txBox="1">
            <a:spLocks noGrp="1"/>
          </p:cNvSpPr>
          <p:nvPr>
            <p:ph type="title"/>
          </p:nvPr>
        </p:nvSpPr>
        <p:spPr>
          <a:xfrm>
            <a:off x="265050" y="303150"/>
            <a:ext cx="3064800" cy="787200"/>
          </a:xfrm>
          <a:prstGeom prst="rect">
            <a:avLst/>
          </a:prstGeom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1475" tIns="91425" rIns="91425" bIns="457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64116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276050" y="1169600"/>
            <a:ext cx="5327100" cy="841800"/>
          </a:xfrm>
          <a:prstGeom prst="rect">
            <a:avLst/>
          </a:prstGeom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13200" y="2011400"/>
            <a:ext cx="4890000" cy="131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9"/>
          <p:cNvSpPr/>
          <p:nvPr/>
        </p:nvSpPr>
        <p:spPr>
          <a:xfrm>
            <a:off x="8239676" y="-180824"/>
            <a:ext cx="1219731" cy="1219731"/>
          </a:xfrm>
          <a:custGeom>
            <a:avLst/>
            <a:gdLst/>
            <a:ahLst/>
            <a:cxnLst/>
            <a:rect l="l" t="t" r="r" b="b"/>
            <a:pathLst>
              <a:path w="48995" h="48995" extrusionOk="0">
                <a:moveTo>
                  <a:pt x="24503" y="0"/>
                </a:moveTo>
                <a:cubicBezTo>
                  <a:pt x="10966" y="0"/>
                  <a:pt x="0" y="10966"/>
                  <a:pt x="0" y="24491"/>
                </a:cubicBezTo>
                <a:cubicBezTo>
                  <a:pt x="0" y="38029"/>
                  <a:pt x="10966" y="48994"/>
                  <a:pt x="24503" y="48994"/>
                </a:cubicBezTo>
                <a:cubicBezTo>
                  <a:pt x="38029" y="48994"/>
                  <a:pt x="48995" y="38029"/>
                  <a:pt x="48995" y="24491"/>
                </a:cubicBezTo>
                <a:cubicBezTo>
                  <a:pt x="48995" y="10966"/>
                  <a:pt x="38029" y="0"/>
                  <a:pt x="24503" y="0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9"/>
          <p:cNvSpPr/>
          <p:nvPr/>
        </p:nvSpPr>
        <p:spPr>
          <a:xfrm rot="9945166">
            <a:off x="53813" y="3301595"/>
            <a:ext cx="3450781" cy="3471574"/>
          </a:xfrm>
          <a:custGeom>
            <a:avLst/>
            <a:gdLst/>
            <a:ahLst/>
            <a:cxnLst/>
            <a:rect l="l" t="t" r="r" b="b"/>
            <a:pathLst>
              <a:path w="102228" h="102844" extrusionOk="0">
                <a:moveTo>
                  <a:pt x="0" y="1"/>
                </a:moveTo>
                <a:lnTo>
                  <a:pt x="0" y="32683"/>
                </a:lnTo>
                <a:cubicBezTo>
                  <a:pt x="0" y="32683"/>
                  <a:pt x="1840" y="31967"/>
                  <a:pt x="5060" y="31967"/>
                </a:cubicBezTo>
                <a:cubicBezTo>
                  <a:pt x="10534" y="31967"/>
                  <a:pt x="19997" y="34039"/>
                  <a:pt x="31183" y="45233"/>
                </a:cubicBezTo>
                <a:cubicBezTo>
                  <a:pt x="48935" y="62997"/>
                  <a:pt x="46494" y="76832"/>
                  <a:pt x="66366" y="92786"/>
                </a:cubicBezTo>
                <a:cubicBezTo>
                  <a:pt x="76554" y="100971"/>
                  <a:pt x="86244" y="102843"/>
                  <a:pt x="92977" y="102843"/>
                </a:cubicBezTo>
                <a:cubicBezTo>
                  <a:pt x="98653" y="102843"/>
                  <a:pt x="102227" y="101513"/>
                  <a:pt x="102227" y="101513"/>
                </a:cubicBezTo>
                <a:lnTo>
                  <a:pt x="101072" y="1"/>
                </a:ln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0" name="Google Shape;70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 flipH="1">
            <a:off x="6590900" y="-2571500"/>
            <a:ext cx="27813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9"/>
          <p:cNvSpPr/>
          <p:nvPr/>
        </p:nvSpPr>
        <p:spPr>
          <a:xfrm rot="9945166">
            <a:off x="-72150" y="4240184"/>
            <a:ext cx="4015852" cy="3484064"/>
          </a:xfrm>
          <a:custGeom>
            <a:avLst/>
            <a:gdLst/>
            <a:ahLst/>
            <a:cxnLst/>
            <a:rect l="l" t="t" r="r" b="b"/>
            <a:pathLst>
              <a:path w="118968" h="103214" extrusionOk="0">
                <a:moveTo>
                  <a:pt x="99358" y="1"/>
                </a:moveTo>
                <a:lnTo>
                  <a:pt x="0" y="18360"/>
                </a:lnTo>
                <a:lnTo>
                  <a:pt x="5942" y="50519"/>
                </a:lnTo>
                <a:cubicBezTo>
                  <a:pt x="5942" y="50519"/>
                  <a:pt x="9198" y="48503"/>
                  <a:pt x="15190" y="48503"/>
                </a:cubicBezTo>
                <a:cubicBezTo>
                  <a:pt x="20819" y="48503"/>
                  <a:pt x="28862" y="50283"/>
                  <a:pt x="38886" y="57187"/>
                </a:cubicBezTo>
                <a:cubicBezTo>
                  <a:pt x="59567" y="71426"/>
                  <a:pt x="59686" y="85476"/>
                  <a:pt x="82118" y="97549"/>
                </a:cubicBezTo>
                <a:cubicBezTo>
                  <a:pt x="90158" y="101871"/>
                  <a:pt x="97396" y="103213"/>
                  <a:pt x="103286" y="103213"/>
                </a:cubicBezTo>
                <a:cubicBezTo>
                  <a:pt x="112938" y="103213"/>
                  <a:pt x="118968" y="99608"/>
                  <a:pt x="118968" y="99608"/>
                </a:cubicBezTo>
                <a:lnTo>
                  <a:pt x="99358" y="1"/>
                </a:ln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4536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p16"/>
          <p:cNvSpPr/>
          <p:nvPr/>
        </p:nvSpPr>
        <p:spPr>
          <a:xfrm flipH="1">
            <a:off x="94040" y="4563028"/>
            <a:ext cx="718757" cy="718757"/>
          </a:xfrm>
          <a:custGeom>
            <a:avLst/>
            <a:gdLst/>
            <a:ahLst/>
            <a:cxnLst/>
            <a:rect l="l" t="t" r="r" b="b"/>
            <a:pathLst>
              <a:path w="48995" h="48995" extrusionOk="0">
                <a:moveTo>
                  <a:pt x="24503" y="0"/>
                </a:moveTo>
                <a:cubicBezTo>
                  <a:pt x="10966" y="0"/>
                  <a:pt x="0" y="10966"/>
                  <a:pt x="0" y="24491"/>
                </a:cubicBezTo>
                <a:cubicBezTo>
                  <a:pt x="0" y="38029"/>
                  <a:pt x="10966" y="48994"/>
                  <a:pt x="24503" y="48994"/>
                </a:cubicBezTo>
                <a:cubicBezTo>
                  <a:pt x="38029" y="48994"/>
                  <a:pt x="48995" y="38029"/>
                  <a:pt x="48995" y="24491"/>
                </a:cubicBezTo>
                <a:cubicBezTo>
                  <a:pt x="48995" y="10966"/>
                  <a:pt x="38029" y="0"/>
                  <a:pt x="24503" y="0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57" name="Google Shape;1357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4320713" y="-2788550"/>
            <a:ext cx="27813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8" name="Google Shape;1358;p16"/>
          <p:cNvSpPr/>
          <p:nvPr/>
        </p:nvSpPr>
        <p:spPr>
          <a:xfrm flipH="1">
            <a:off x="8567628" y="128349"/>
            <a:ext cx="352274" cy="352274"/>
          </a:xfrm>
          <a:custGeom>
            <a:avLst/>
            <a:gdLst/>
            <a:ahLst/>
            <a:cxnLst/>
            <a:rect l="l" t="t" r="r" b="b"/>
            <a:pathLst>
              <a:path w="48995" h="48995" extrusionOk="0">
                <a:moveTo>
                  <a:pt x="24503" y="0"/>
                </a:moveTo>
                <a:cubicBezTo>
                  <a:pt x="10966" y="0"/>
                  <a:pt x="0" y="10966"/>
                  <a:pt x="0" y="24491"/>
                </a:cubicBezTo>
                <a:cubicBezTo>
                  <a:pt x="0" y="38029"/>
                  <a:pt x="10966" y="48994"/>
                  <a:pt x="24503" y="48994"/>
                </a:cubicBezTo>
                <a:cubicBezTo>
                  <a:pt x="38029" y="48994"/>
                  <a:pt x="48995" y="38029"/>
                  <a:pt x="48995" y="24491"/>
                </a:cubicBezTo>
                <a:cubicBezTo>
                  <a:pt x="48995" y="10966"/>
                  <a:pt x="38029" y="0"/>
                  <a:pt x="24503" y="0"/>
                </a:cubicBez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9" name="Google Shape;1359;p16"/>
          <p:cNvSpPr/>
          <p:nvPr/>
        </p:nvSpPr>
        <p:spPr>
          <a:xfrm flipH="1">
            <a:off x="139829" y="4355622"/>
            <a:ext cx="352274" cy="352274"/>
          </a:xfrm>
          <a:custGeom>
            <a:avLst/>
            <a:gdLst/>
            <a:ahLst/>
            <a:cxnLst/>
            <a:rect l="l" t="t" r="r" b="b"/>
            <a:pathLst>
              <a:path w="48995" h="48995" extrusionOk="0">
                <a:moveTo>
                  <a:pt x="24503" y="0"/>
                </a:moveTo>
                <a:cubicBezTo>
                  <a:pt x="10966" y="0"/>
                  <a:pt x="0" y="10966"/>
                  <a:pt x="0" y="24491"/>
                </a:cubicBezTo>
                <a:cubicBezTo>
                  <a:pt x="0" y="38029"/>
                  <a:pt x="10966" y="48994"/>
                  <a:pt x="24503" y="48994"/>
                </a:cubicBezTo>
                <a:cubicBezTo>
                  <a:pt x="38029" y="48994"/>
                  <a:pt x="48995" y="38029"/>
                  <a:pt x="48995" y="24491"/>
                </a:cubicBezTo>
                <a:cubicBezTo>
                  <a:pt x="48995" y="10966"/>
                  <a:pt x="38029" y="0"/>
                  <a:pt x="24503" y="0"/>
                </a:cubicBez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0" name="Google Shape;1360;p16"/>
          <p:cNvSpPr/>
          <p:nvPr/>
        </p:nvSpPr>
        <p:spPr>
          <a:xfrm rot="-9945166" flipH="1">
            <a:off x="6552520" y="3301595"/>
            <a:ext cx="3450781" cy="3471574"/>
          </a:xfrm>
          <a:custGeom>
            <a:avLst/>
            <a:gdLst/>
            <a:ahLst/>
            <a:cxnLst/>
            <a:rect l="l" t="t" r="r" b="b"/>
            <a:pathLst>
              <a:path w="102228" h="102844" extrusionOk="0">
                <a:moveTo>
                  <a:pt x="0" y="1"/>
                </a:moveTo>
                <a:lnTo>
                  <a:pt x="0" y="32683"/>
                </a:lnTo>
                <a:cubicBezTo>
                  <a:pt x="0" y="32683"/>
                  <a:pt x="1840" y="31967"/>
                  <a:pt x="5060" y="31967"/>
                </a:cubicBezTo>
                <a:cubicBezTo>
                  <a:pt x="10534" y="31967"/>
                  <a:pt x="19997" y="34039"/>
                  <a:pt x="31183" y="45233"/>
                </a:cubicBezTo>
                <a:cubicBezTo>
                  <a:pt x="48935" y="62997"/>
                  <a:pt x="46494" y="76832"/>
                  <a:pt x="66366" y="92786"/>
                </a:cubicBezTo>
                <a:cubicBezTo>
                  <a:pt x="76554" y="100971"/>
                  <a:pt x="86244" y="102843"/>
                  <a:pt x="92977" y="102843"/>
                </a:cubicBezTo>
                <a:cubicBezTo>
                  <a:pt x="98653" y="102843"/>
                  <a:pt x="102227" y="101513"/>
                  <a:pt x="102227" y="101513"/>
                </a:cubicBezTo>
                <a:lnTo>
                  <a:pt x="101072" y="1"/>
                </a:ln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1" name="Google Shape;1361;p16"/>
          <p:cNvSpPr/>
          <p:nvPr/>
        </p:nvSpPr>
        <p:spPr>
          <a:xfrm flipH="1">
            <a:off x="7751125" y="4424750"/>
            <a:ext cx="610225" cy="610225"/>
          </a:xfrm>
          <a:custGeom>
            <a:avLst/>
            <a:gdLst/>
            <a:ahLst/>
            <a:cxnLst/>
            <a:rect l="l" t="t" r="r" b="b"/>
            <a:pathLst>
              <a:path w="24409" h="24409" extrusionOk="0">
                <a:moveTo>
                  <a:pt x="12205" y="1"/>
                </a:moveTo>
                <a:cubicBezTo>
                  <a:pt x="5454" y="1"/>
                  <a:pt x="1" y="5466"/>
                  <a:pt x="1" y="12205"/>
                </a:cubicBezTo>
                <a:cubicBezTo>
                  <a:pt x="1" y="18944"/>
                  <a:pt x="5454" y="24409"/>
                  <a:pt x="12205" y="24409"/>
                </a:cubicBezTo>
                <a:cubicBezTo>
                  <a:pt x="18944" y="24409"/>
                  <a:pt x="24409" y="18944"/>
                  <a:pt x="24409" y="12205"/>
                </a:cubicBezTo>
                <a:cubicBezTo>
                  <a:pt x="24409" y="5466"/>
                  <a:pt x="18944" y="1"/>
                  <a:pt x="12205" y="1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2" name="Google Shape;1362;p16"/>
          <p:cNvSpPr txBox="1">
            <a:spLocks noGrp="1"/>
          </p:cNvSpPr>
          <p:nvPr>
            <p:ph type="title"/>
          </p:nvPr>
        </p:nvSpPr>
        <p:spPr>
          <a:xfrm>
            <a:off x="265050" y="303150"/>
            <a:ext cx="5586300" cy="787200"/>
          </a:xfrm>
          <a:prstGeom prst="rect">
            <a:avLst/>
          </a:prstGeom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1475" tIns="91425" rIns="91425" bIns="457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86229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p29"/>
          <p:cNvSpPr/>
          <p:nvPr/>
        </p:nvSpPr>
        <p:spPr>
          <a:xfrm flipH="1">
            <a:off x="-499732" y="1354726"/>
            <a:ext cx="1219731" cy="1219731"/>
          </a:xfrm>
          <a:custGeom>
            <a:avLst/>
            <a:gdLst/>
            <a:ahLst/>
            <a:cxnLst/>
            <a:rect l="l" t="t" r="r" b="b"/>
            <a:pathLst>
              <a:path w="48995" h="48995" extrusionOk="0">
                <a:moveTo>
                  <a:pt x="24503" y="0"/>
                </a:moveTo>
                <a:cubicBezTo>
                  <a:pt x="10966" y="0"/>
                  <a:pt x="0" y="10966"/>
                  <a:pt x="0" y="24491"/>
                </a:cubicBezTo>
                <a:cubicBezTo>
                  <a:pt x="0" y="38029"/>
                  <a:pt x="10966" y="48994"/>
                  <a:pt x="24503" y="48994"/>
                </a:cubicBezTo>
                <a:cubicBezTo>
                  <a:pt x="38029" y="48994"/>
                  <a:pt x="48995" y="38029"/>
                  <a:pt x="48995" y="24491"/>
                </a:cubicBezTo>
                <a:cubicBezTo>
                  <a:pt x="48995" y="10966"/>
                  <a:pt x="38029" y="0"/>
                  <a:pt x="24503" y="0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9" name="Google Shape;1489;p29"/>
          <p:cNvSpPr/>
          <p:nvPr/>
        </p:nvSpPr>
        <p:spPr>
          <a:xfrm rot="-9945166" flipH="1">
            <a:off x="6552520" y="3301595"/>
            <a:ext cx="3450781" cy="3471574"/>
          </a:xfrm>
          <a:custGeom>
            <a:avLst/>
            <a:gdLst/>
            <a:ahLst/>
            <a:cxnLst/>
            <a:rect l="l" t="t" r="r" b="b"/>
            <a:pathLst>
              <a:path w="102228" h="102844" extrusionOk="0">
                <a:moveTo>
                  <a:pt x="0" y="1"/>
                </a:moveTo>
                <a:lnTo>
                  <a:pt x="0" y="32683"/>
                </a:lnTo>
                <a:cubicBezTo>
                  <a:pt x="0" y="32683"/>
                  <a:pt x="1840" y="31967"/>
                  <a:pt x="5060" y="31967"/>
                </a:cubicBezTo>
                <a:cubicBezTo>
                  <a:pt x="10534" y="31967"/>
                  <a:pt x="19997" y="34039"/>
                  <a:pt x="31183" y="45233"/>
                </a:cubicBezTo>
                <a:cubicBezTo>
                  <a:pt x="48935" y="62997"/>
                  <a:pt x="46494" y="76832"/>
                  <a:pt x="66366" y="92786"/>
                </a:cubicBezTo>
                <a:cubicBezTo>
                  <a:pt x="76554" y="100971"/>
                  <a:pt x="86244" y="102843"/>
                  <a:pt x="92977" y="102843"/>
                </a:cubicBezTo>
                <a:cubicBezTo>
                  <a:pt x="98653" y="102843"/>
                  <a:pt x="102227" y="101513"/>
                  <a:pt x="102227" y="101513"/>
                </a:cubicBezTo>
                <a:lnTo>
                  <a:pt x="101072" y="1"/>
                </a:ln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90" name="Google Shape;1490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4320713" y="-2788550"/>
            <a:ext cx="27813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1" name="Google Shape;1491;p29"/>
          <p:cNvSpPr/>
          <p:nvPr/>
        </p:nvSpPr>
        <p:spPr>
          <a:xfrm flipH="1">
            <a:off x="8567628" y="128349"/>
            <a:ext cx="352274" cy="352274"/>
          </a:xfrm>
          <a:custGeom>
            <a:avLst/>
            <a:gdLst/>
            <a:ahLst/>
            <a:cxnLst/>
            <a:rect l="l" t="t" r="r" b="b"/>
            <a:pathLst>
              <a:path w="48995" h="48995" extrusionOk="0">
                <a:moveTo>
                  <a:pt x="24503" y="0"/>
                </a:moveTo>
                <a:cubicBezTo>
                  <a:pt x="10966" y="0"/>
                  <a:pt x="0" y="10966"/>
                  <a:pt x="0" y="24491"/>
                </a:cubicBezTo>
                <a:cubicBezTo>
                  <a:pt x="0" y="38029"/>
                  <a:pt x="10966" y="48994"/>
                  <a:pt x="24503" y="48994"/>
                </a:cubicBezTo>
                <a:cubicBezTo>
                  <a:pt x="38029" y="48994"/>
                  <a:pt x="48995" y="38029"/>
                  <a:pt x="48995" y="24491"/>
                </a:cubicBezTo>
                <a:cubicBezTo>
                  <a:pt x="48995" y="10966"/>
                  <a:pt x="38029" y="0"/>
                  <a:pt x="24503" y="0"/>
                </a:cubicBez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2" name="Google Shape;1492;p29"/>
          <p:cNvSpPr/>
          <p:nvPr/>
        </p:nvSpPr>
        <p:spPr>
          <a:xfrm flipH="1">
            <a:off x="7751125" y="4424750"/>
            <a:ext cx="610225" cy="610225"/>
          </a:xfrm>
          <a:custGeom>
            <a:avLst/>
            <a:gdLst/>
            <a:ahLst/>
            <a:cxnLst/>
            <a:rect l="l" t="t" r="r" b="b"/>
            <a:pathLst>
              <a:path w="24409" h="24409" extrusionOk="0">
                <a:moveTo>
                  <a:pt x="12205" y="1"/>
                </a:moveTo>
                <a:cubicBezTo>
                  <a:pt x="5454" y="1"/>
                  <a:pt x="1" y="5466"/>
                  <a:pt x="1" y="12205"/>
                </a:cubicBezTo>
                <a:cubicBezTo>
                  <a:pt x="1" y="18944"/>
                  <a:pt x="5454" y="24409"/>
                  <a:pt x="12205" y="24409"/>
                </a:cubicBezTo>
                <a:cubicBezTo>
                  <a:pt x="18944" y="24409"/>
                  <a:pt x="24409" y="18944"/>
                  <a:pt x="24409" y="12205"/>
                </a:cubicBezTo>
                <a:cubicBezTo>
                  <a:pt x="24409" y="5466"/>
                  <a:pt x="18944" y="1"/>
                  <a:pt x="12205" y="1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8051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81" y="5143489"/>
                </a:moveTo>
                <a:lnTo>
                  <a:pt x="0" y="5143489"/>
                </a:lnTo>
                <a:lnTo>
                  <a:pt x="0" y="0"/>
                </a:lnTo>
                <a:lnTo>
                  <a:pt x="9143981" y="0"/>
                </a:lnTo>
                <a:lnTo>
                  <a:pt x="9143981" y="5143489"/>
                </a:lnTo>
                <a:close/>
              </a:path>
            </a:pathLst>
          </a:custGeom>
          <a:solidFill>
            <a:srgbClr val="EDF7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65049" y="303149"/>
            <a:ext cx="8614410" cy="4537710"/>
          </a:xfrm>
          <a:custGeom>
            <a:avLst/>
            <a:gdLst/>
            <a:ahLst/>
            <a:cxnLst/>
            <a:rect l="l" t="t" r="r" b="b"/>
            <a:pathLst>
              <a:path w="8614410" h="4537710">
                <a:moveTo>
                  <a:pt x="0" y="0"/>
                </a:moveTo>
                <a:lnTo>
                  <a:pt x="8613882" y="0"/>
                </a:lnTo>
                <a:lnTo>
                  <a:pt x="8613882" y="4537190"/>
                </a:lnTo>
                <a:lnTo>
                  <a:pt x="0" y="4537190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2D3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5923413" y="0"/>
            <a:ext cx="3220568" cy="94237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239658" y="0"/>
            <a:ext cx="904875" cy="1039494"/>
          </a:xfrm>
          <a:custGeom>
            <a:avLst/>
            <a:gdLst/>
            <a:ahLst/>
            <a:cxnLst/>
            <a:rect l="l" t="t" r="r" b="b"/>
            <a:pathLst>
              <a:path w="904875" h="1039494">
                <a:moveTo>
                  <a:pt x="609998" y="1038880"/>
                </a:moveTo>
                <a:lnTo>
                  <a:pt x="562313" y="1037046"/>
                </a:lnTo>
                <a:lnTo>
                  <a:pt x="515635" y="1031633"/>
                </a:lnTo>
                <a:lnTo>
                  <a:pt x="470098" y="1022776"/>
                </a:lnTo>
                <a:lnTo>
                  <a:pt x="425838" y="1010612"/>
                </a:lnTo>
                <a:lnTo>
                  <a:pt x="382990" y="995276"/>
                </a:lnTo>
                <a:lnTo>
                  <a:pt x="341690" y="976902"/>
                </a:lnTo>
                <a:lnTo>
                  <a:pt x="302073" y="955626"/>
                </a:lnTo>
                <a:lnTo>
                  <a:pt x="264275" y="931584"/>
                </a:lnTo>
                <a:lnTo>
                  <a:pt x="228431" y="904911"/>
                </a:lnTo>
                <a:lnTo>
                  <a:pt x="194676" y="875742"/>
                </a:lnTo>
                <a:lnTo>
                  <a:pt x="163146" y="844213"/>
                </a:lnTo>
                <a:lnTo>
                  <a:pt x="133976" y="810459"/>
                </a:lnTo>
                <a:lnTo>
                  <a:pt x="107302" y="774615"/>
                </a:lnTo>
                <a:lnTo>
                  <a:pt x="83259" y="736817"/>
                </a:lnTo>
                <a:lnTo>
                  <a:pt x="61982" y="697200"/>
                </a:lnTo>
                <a:lnTo>
                  <a:pt x="43607" y="655899"/>
                </a:lnTo>
                <a:lnTo>
                  <a:pt x="28269" y="613050"/>
                </a:lnTo>
                <a:lnTo>
                  <a:pt x="16104" y="568788"/>
                </a:lnTo>
                <a:lnTo>
                  <a:pt x="7248" y="523249"/>
                </a:lnTo>
                <a:lnTo>
                  <a:pt x="1834" y="476567"/>
                </a:lnTo>
                <a:lnTo>
                  <a:pt x="0" y="428879"/>
                </a:lnTo>
                <a:lnTo>
                  <a:pt x="1834" y="381234"/>
                </a:lnTo>
                <a:lnTo>
                  <a:pt x="7248" y="334592"/>
                </a:lnTo>
                <a:lnTo>
                  <a:pt x="16104" y="289087"/>
                </a:lnTo>
                <a:lnTo>
                  <a:pt x="28269" y="244857"/>
                </a:lnTo>
                <a:lnTo>
                  <a:pt x="43607" y="202035"/>
                </a:lnTo>
                <a:lnTo>
                  <a:pt x="61982" y="160758"/>
                </a:lnTo>
                <a:lnTo>
                  <a:pt x="83259" y="121161"/>
                </a:lnTo>
                <a:lnTo>
                  <a:pt x="107302" y="83381"/>
                </a:lnTo>
                <a:lnTo>
                  <a:pt x="133976" y="47552"/>
                </a:lnTo>
                <a:lnTo>
                  <a:pt x="163146" y="13809"/>
                </a:lnTo>
                <a:lnTo>
                  <a:pt x="904322" y="0"/>
                </a:lnTo>
                <a:lnTo>
                  <a:pt x="904322" y="962830"/>
                </a:lnTo>
                <a:lnTo>
                  <a:pt x="836853" y="995276"/>
                </a:lnTo>
                <a:lnTo>
                  <a:pt x="794030" y="1010612"/>
                </a:lnTo>
                <a:lnTo>
                  <a:pt x="749797" y="1022776"/>
                </a:lnTo>
                <a:lnTo>
                  <a:pt x="704290" y="1031633"/>
                </a:lnTo>
                <a:lnTo>
                  <a:pt x="657646" y="1037046"/>
                </a:lnTo>
                <a:lnTo>
                  <a:pt x="609998" y="1038880"/>
                </a:lnTo>
                <a:close/>
              </a:path>
            </a:pathLst>
          </a:custGeom>
          <a:solidFill>
            <a:srgbClr val="8789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239658" y="0"/>
            <a:ext cx="904875" cy="1039494"/>
          </a:xfrm>
          <a:custGeom>
            <a:avLst/>
            <a:gdLst/>
            <a:ahLst/>
            <a:cxnLst/>
            <a:rect l="l" t="t" r="r" b="b"/>
            <a:pathLst>
              <a:path w="904875" h="1039494">
                <a:moveTo>
                  <a:pt x="176960" y="0"/>
                </a:moveTo>
                <a:lnTo>
                  <a:pt x="133976" y="47552"/>
                </a:lnTo>
                <a:lnTo>
                  <a:pt x="107302" y="83381"/>
                </a:lnTo>
                <a:lnTo>
                  <a:pt x="83259" y="121161"/>
                </a:lnTo>
                <a:lnTo>
                  <a:pt x="61982" y="160758"/>
                </a:lnTo>
                <a:lnTo>
                  <a:pt x="43607" y="202035"/>
                </a:lnTo>
                <a:lnTo>
                  <a:pt x="28269" y="244857"/>
                </a:lnTo>
                <a:lnTo>
                  <a:pt x="16104" y="289087"/>
                </a:lnTo>
                <a:lnTo>
                  <a:pt x="7248" y="334592"/>
                </a:lnTo>
                <a:lnTo>
                  <a:pt x="1834" y="381234"/>
                </a:lnTo>
                <a:lnTo>
                  <a:pt x="0" y="428879"/>
                </a:lnTo>
                <a:lnTo>
                  <a:pt x="1834" y="476567"/>
                </a:lnTo>
                <a:lnTo>
                  <a:pt x="7248" y="523249"/>
                </a:lnTo>
                <a:lnTo>
                  <a:pt x="16104" y="568788"/>
                </a:lnTo>
                <a:lnTo>
                  <a:pt x="28269" y="613050"/>
                </a:lnTo>
                <a:lnTo>
                  <a:pt x="43607" y="655899"/>
                </a:lnTo>
                <a:lnTo>
                  <a:pt x="61982" y="697200"/>
                </a:lnTo>
                <a:lnTo>
                  <a:pt x="83259" y="736817"/>
                </a:lnTo>
                <a:lnTo>
                  <a:pt x="107302" y="774615"/>
                </a:lnTo>
                <a:lnTo>
                  <a:pt x="133976" y="810459"/>
                </a:lnTo>
                <a:lnTo>
                  <a:pt x="163146" y="844213"/>
                </a:lnTo>
                <a:lnTo>
                  <a:pt x="194676" y="875742"/>
                </a:lnTo>
                <a:lnTo>
                  <a:pt x="228431" y="904911"/>
                </a:lnTo>
                <a:lnTo>
                  <a:pt x="264275" y="931584"/>
                </a:lnTo>
                <a:lnTo>
                  <a:pt x="302073" y="955626"/>
                </a:lnTo>
                <a:lnTo>
                  <a:pt x="341690" y="976902"/>
                </a:lnTo>
                <a:lnTo>
                  <a:pt x="382990" y="995276"/>
                </a:lnTo>
                <a:lnTo>
                  <a:pt x="425838" y="1010612"/>
                </a:lnTo>
                <a:lnTo>
                  <a:pt x="470098" y="1022776"/>
                </a:lnTo>
                <a:lnTo>
                  <a:pt x="515635" y="1031633"/>
                </a:lnTo>
                <a:lnTo>
                  <a:pt x="562313" y="1037046"/>
                </a:lnTo>
                <a:lnTo>
                  <a:pt x="609998" y="1038880"/>
                </a:lnTo>
                <a:lnTo>
                  <a:pt x="657646" y="1037046"/>
                </a:lnTo>
                <a:lnTo>
                  <a:pt x="704290" y="1031633"/>
                </a:lnTo>
                <a:lnTo>
                  <a:pt x="749797" y="1022776"/>
                </a:lnTo>
                <a:lnTo>
                  <a:pt x="794030" y="1010612"/>
                </a:lnTo>
                <a:lnTo>
                  <a:pt x="836853" y="995276"/>
                </a:lnTo>
                <a:lnTo>
                  <a:pt x="878132" y="976902"/>
                </a:lnTo>
                <a:lnTo>
                  <a:pt x="904322" y="962830"/>
                </a:lnTo>
              </a:path>
            </a:pathLst>
          </a:custGeom>
          <a:ln w="19049">
            <a:solidFill>
              <a:srgbClr val="2D3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64899" y="4533290"/>
            <a:ext cx="610235" cy="610235"/>
          </a:xfrm>
          <a:custGeom>
            <a:avLst/>
            <a:gdLst/>
            <a:ahLst/>
            <a:cxnLst/>
            <a:rect l="l" t="t" r="r" b="b"/>
            <a:pathLst>
              <a:path w="610235" h="610235">
                <a:moveTo>
                  <a:pt x="305099" y="610198"/>
                </a:moveTo>
                <a:lnTo>
                  <a:pt x="255544" y="606204"/>
                </a:lnTo>
                <a:lnTo>
                  <a:pt x="208559" y="594642"/>
                </a:lnTo>
                <a:lnTo>
                  <a:pt x="164768" y="576139"/>
                </a:lnTo>
                <a:lnTo>
                  <a:pt x="124793" y="551324"/>
                </a:lnTo>
                <a:lnTo>
                  <a:pt x="89259" y="520827"/>
                </a:lnTo>
                <a:lnTo>
                  <a:pt x="58787" y="485275"/>
                </a:lnTo>
                <a:lnTo>
                  <a:pt x="34003" y="445298"/>
                </a:lnTo>
                <a:lnTo>
                  <a:pt x="15527" y="401523"/>
                </a:lnTo>
                <a:lnTo>
                  <a:pt x="3985" y="354581"/>
                </a:lnTo>
                <a:lnTo>
                  <a:pt x="0" y="305099"/>
                </a:lnTo>
                <a:lnTo>
                  <a:pt x="3985" y="255617"/>
                </a:lnTo>
                <a:lnTo>
                  <a:pt x="15527" y="208674"/>
                </a:lnTo>
                <a:lnTo>
                  <a:pt x="34003" y="164900"/>
                </a:lnTo>
                <a:lnTo>
                  <a:pt x="58787" y="124923"/>
                </a:lnTo>
                <a:lnTo>
                  <a:pt x="89259" y="89371"/>
                </a:lnTo>
                <a:lnTo>
                  <a:pt x="124793" y="58874"/>
                </a:lnTo>
                <a:lnTo>
                  <a:pt x="164768" y="34059"/>
                </a:lnTo>
                <a:lnTo>
                  <a:pt x="208559" y="15556"/>
                </a:lnTo>
                <a:lnTo>
                  <a:pt x="255544" y="3993"/>
                </a:lnTo>
                <a:lnTo>
                  <a:pt x="305099" y="0"/>
                </a:lnTo>
                <a:lnTo>
                  <a:pt x="354581" y="3993"/>
                </a:lnTo>
                <a:lnTo>
                  <a:pt x="401523" y="15556"/>
                </a:lnTo>
                <a:lnTo>
                  <a:pt x="445298" y="34059"/>
                </a:lnTo>
                <a:lnTo>
                  <a:pt x="485275" y="58874"/>
                </a:lnTo>
                <a:lnTo>
                  <a:pt x="520827" y="89371"/>
                </a:lnTo>
                <a:lnTo>
                  <a:pt x="551324" y="124923"/>
                </a:lnTo>
                <a:lnTo>
                  <a:pt x="576139" y="164900"/>
                </a:lnTo>
                <a:lnTo>
                  <a:pt x="594642" y="208674"/>
                </a:lnTo>
                <a:lnTo>
                  <a:pt x="606204" y="255617"/>
                </a:lnTo>
                <a:lnTo>
                  <a:pt x="610198" y="305099"/>
                </a:lnTo>
                <a:lnTo>
                  <a:pt x="606204" y="354581"/>
                </a:lnTo>
                <a:lnTo>
                  <a:pt x="594642" y="401523"/>
                </a:lnTo>
                <a:lnTo>
                  <a:pt x="576139" y="445298"/>
                </a:lnTo>
                <a:lnTo>
                  <a:pt x="551324" y="485275"/>
                </a:lnTo>
                <a:lnTo>
                  <a:pt x="520827" y="520827"/>
                </a:lnTo>
                <a:lnTo>
                  <a:pt x="485275" y="551324"/>
                </a:lnTo>
                <a:lnTo>
                  <a:pt x="445298" y="576139"/>
                </a:lnTo>
                <a:lnTo>
                  <a:pt x="401523" y="594642"/>
                </a:lnTo>
                <a:lnTo>
                  <a:pt x="354581" y="606204"/>
                </a:lnTo>
                <a:lnTo>
                  <a:pt x="305099" y="610198"/>
                </a:lnTo>
                <a:close/>
              </a:path>
            </a:pathLst>
          </a:custGeom>
          <a:solidFill>
            <a:srgbClr val="BCDA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64899" y="4533290"/>
            <a:ext cx="610235" cy="610235"/>
          </a:xfrm>
          <a:custGeom>
            <a:avLst/>
            <a:gdLst/>
            <a:ahLst/>
            <a:cxnLst/>
            <a:rect l="l" t="t" r="r" b="b"/>
            <a:pathLst>
              <a:path w="610235" h="610235">
                <a:moveTo>
                  <a:pt x="305099" y="0"/>
                </a:moveTo>
                <a:lnTo>
                  <a:pt x="255544" y="3993"/>
                </a:lnTo>
                <a:lnTo>
                  <a:pt x="208559" y="15556"/>
                </a:lnTo>
                <a:lnTo>
                  <a:pt x="164768" y="34059"/>
                </a:lnTo>
                <a:lnTo>
                  <a:pt x="124793" y="58874"/>
                </a:lnTo>
                <a:lnTo>
                  <a:pt x="89259" y="89371"/>
                </a:lnTo>
                <a:lnTo>
                  <a:pt x="58787" y="124923"/>
                </a:lnTo>
                <a:lnTo>
                  <a:pt x="34003" y="164900"/>
                </a:lnTo>
                <a:lnTo>
                  <a:pt x="15527" y="208674"/>
                </a:lnTo>
                <a:lnTo>
                  <a:pt x="3985" y="255617"/>
                </a:lnTo>
                <a:lnTo>
                  <a:pt x="0" y="305099"/>
                </a:lnTo>
                <a:lnTo>
                  <a:pt x="3985" y="354581"/>
                </a:lnTo>
                <a:lnTo>
                  <a:pt x="15527" y="401523"/>
                </a:lnTo>
                <a:lnTo>
                  <a:pt x="34003" y="445298"/>
                </a:lnTo>
                <a:lnTo>
                  <a:pt x="58787" y="485275"/>
                </a:lnTo>
                <a:lnTo>
                  <a:pt x="89259" y="520827"/>
                </a:lnTo>
                <a:lnTo>
                  <a:pt x="124793" y="551324"/>
                </a:lnTo>
                <a:lnTo>
                  <a:pt x="164768" y="576139"/>
                </a:lnTo>
                <a:lnTo>
                  <a:pt x="208559" y="594642"/>
                </a:lnTo>
                <a:lnTo>
                  <a:pt x="255544" y="606204"/>
                </a:lnTo>
                <a:lnTo>
                  <a:pt x="305099" y="610198"/>
                </a:lnTo>
                <a:lnTo>
                  <a:pt x="354581" y="606204"/>
                </a:lnTo>
                <a:lnTo>
                  <a:pt x="401523" y="594642"/>
                </a:lnTo>
                <a:lnTo>
                  <a:pt x="445298" y="576139"/>
                </a:lnTo>
                <a:lnTo>
                  <a:pt x="485275" y="551324"/>
                </a:lnTo>
                <a:lnTo>
                  <a:pt x="520827" y="520827"/>
                </a:lnTo>
                <a:lnTo>
                  <a:pt x="551324" y="485275"/>
                </a:lnTo>
                <a:lnTo>
                  <a:pt x="576139" y="445298"/>
                </a:lnTo>
                <a:lnTo>
                  <a:pt x="594642" y="401523"/>
                </a:lnTo>
                <a:lnTo>
                  <a:pt x="606204" y="354581"/>
                </a:lnTo>
                <a:lnTo>
                  <a:pt x="610198" y="305099"/>
                </a:lnTo>
                <a:lnTo>
                  <a:pt x="606204" y="255617"/>
                </a:lnTo>
                <a:lnTo>
                  <a:pt x="594642" y="208674"/>
                </a:lnTo>
                <a:lnTo>
                  <a:pt x="576139" y="164900"/>
                </a:lnTo>
                <a:lnTo>
                  <a:pt x="551324" y="124923"/>
                </a:lnTo>
                <a:lnTo>
                  <a:pt x="520827" y="89371"/>
                </a:lnTo>
                <a:lnTo>
                  <a:pt x="485275" y="58874"/>
                </a:lnTo>
                <a:lnTo>
                  <a:pt x="445298" y="34059"/>
                </a:lnTo>
                <a:lnTo>
                  <a:pt x="401523" y="15556"/>
                </a:lnTo>
                <a:lnTo>
                  <a:pt x="354581" y="3993"/>
                </a:lnTo>
                <a:lnTo>
                  <a:pt x="305099" y="0"/>
                </a:lnTo>
                <a:close/>
              </a:path>
            </a:pathLst>
          </a:custGeom>
          <a:ln w="19049">
            <a:solidFill>
              <a:srgbClr val="2D3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00245" y="1648271"/>
            <a:ext cx="5143508" cy="1890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0" b="1" i="0">
                <a:solidFill>
                  <a:srgbClr val="2D3F3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1173" y="1190705"/>
            <a:ext cx="8341652" cy="1854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economipedia.com/definiciones/variable-aleatoria.html" TargetMode="External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economipedia.com/definiciones/funcion-matematica.html" TargetMode="External"/><Relationship Id="rId5" Type="http://schemas.openxmlformats.org/officeDocument/2006/relationships/hyperlink" Target="https://economipedia.com/definiciones/desviacion-tipica.html" TargetMode="External"/><Relationship Id="rId4" Type="http://schemas.openxmlformats.org/officeDocument/2006/relationships/hyperlink" Target="https://economipedia.com/definiciones/media.html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81" y="5143489"/>
                </a:moveTo>
                <a:lnTo>
                  <a:pt x="0" y="5143489"/>
                </a:lnTo>
                <a:lnTo>
                  <a:pt x="0" y="0"/>
                </a:lnTo>
                <a:lnTo>
                  <a:pt x="9143981" y="0"/>
                </a:lnTo>
                <a:lnTo>
                  <a:pt x="9143981" y="5143489"/>
                </a:lnTo>
                <a:close/>
              </a:path>
            </a:pathLst>
          </a:custGeom>
          <a:solidFill>
            <a:srgbClr val="EDF7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65049" y="303149"/>
            <a:ext cx="8614410" cy="4537710"/>
          </a:xfrm>
          <a:custGeom>
            <a:avLst/>
            <a:gdLst/>
            <a:ahLst/>
            <a:cxnLst/>
            <a:rect l="l" t="t" r="r" b="b"/>
            <a:pathLst>
              <a:path w="8614410" h="4537710">
                <a:moveTo>
                  <a:pt x="0" y="0"/>
                </a:moveTo>
                <a:lnTo>
                  <a:pt x="8613882" y="0"/>
                </a:lnTo>
                <a:lnTo>
                  <a:pt x="8613882" y="4537190"/>
                </a:lnTo>
                <a:lnTo>
                  <a:pt x="0" y="4537190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2D3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6102192" y="0"/>
            <a:ext cx="1511300" cy="734695"/>
            <a:chOff x="6102192" y="0"/>
            <a:chExt cx="1511300" cy="734695"/>
          </a:xfrm>
        </p:grpSpPr>
        <p:sp>
          <p:nvSpPr>
            <p:cNvPr id="5" name="object 5"/>
            <p:cNvSpPr/>
            <p:nvPr/>
          </p:nvSpPr>
          <p:spPr>
            <a:xfrm>
              <a:off x="6111717" y="0"/>
              <a:ext cx="1492250" cy="715645"/>
            </a:xfrm>
            <a:custGeom>
              <a:avLst/>
              <a:gdLst/>
              <a:ahLst/>
              <a:cxnLst/>
              <a:rect l="l" t="t" r="r" b="b"/>
              <a:pathLst>
                <a:path w="1492250" h="715645">
                  <a:moveTo>
                    <a:pt x="746118" y="715576"/>
                  </a:moveTo>
                  <a:lnTo>
                    <a:pt x="698856" y="714107"/>
                  </a:lnTo>
                  <a:lnTo>
                    <a:pt x="652377" y="709757"/>
                  </a:lnTo>
                  <a:lnTo>
                    <a:pt x="606768" y="702616"/>
                  </a:lnTo>
                  <a:lnTo>
                    <a:pt x="562117" y="692769"/>
                  </a:lnTo>
                  <a:lnTo>
                    <a:pt x="518512" y="680304"/>
                  </a:lnTo>
                  <a:lnTo>
                    <a:pt x="476040" y="665308"/>
                  </a:lnTo>
                  <a:lnTo>
                    <a:pt x="434787" y="647869"/>
                  </a:lnTo>
                  <a:lnTo>
                    <a:pt x="394842" y="628074"/>
                  </a:lnTo>
                  <a:lnTo>
                    <a:pt x="356292" y="606011"/>
                  </a:lnTo>
                  <a:lnTo>
                    <a:pt x="319224" y="581766"/>
                  </a:lnTo>
                  <a:lnTo>
                    <a:pt x="283726" y="555427"/>
                  </a:lnTo>
                  <a:lnTo>
                    <a:pt x="249885" y="527082"/>
                  </a:lnTo>
                  <a:lnTo>
                    <a:pt x="217788" y="496818"/>
                  </a:lnTo>
                  <a:lnTo>
                    <a:pt x="187523" y="464722"/>
                  </a:lnTo>
                  <a:lnTo>
                    <a:pt x="159177" y="430881"/>
                  </a:lnTo>
                  <a:lnTo>
                    <a:pt x="132837" y="395384"/>
                  </a:lnTo>
                  <a:lnTo>
                    <a:pt x="108591" y="358316"/>
                  </a:lnTo>
                  <a:lnTo>
                    <a:pt x="86527" y="319766"/>
                  </a:lnTo>
                  <a:lnTo>
                    <a:pt x="66731" y="279821"/>
                  </a:lnTo>
                  <a:lnTo>
                    <a:pt x="49291" y="238568"/>
                  </a:lnTo>
                  <a:lnTo>
                    <a:pt x="34294" y="196095"/>
                  </a:lnTo>
                  <a:lnTo>
                    <a:pt x="21829" y="152489"/>
                  </a:lnTo>
                  <a:lnTo>
                    <a:pt x="11981" y="107837"/>
                  </a:lnTo>
                  <a:lnTo>
                    <a:pt x="4838" y="62227"/>
                  </a:lnTo>
                  <a:lnTo>
                    <a:pt x="489" y="15745"/>
                  </a:lnTo>
                  <a:lnTo>
                    <a:pt x="0" y="0"/>
                  </a:lnTo>
                  <a:lnTo>
                    <a:pt x="1491887" y="0"/>
                  </a:lnTo>
                  <a:lnTo>
                    <a:pt x="1487048" y="62227"/>
                  </a:lnTo>
                  <a:lnTo>
                    <a:pt x="1479906" y="107837"/>
                  </a:lnTo>
                  <a:lnTo>
                    <a:pt x="1470059" y="152489"/>
                  </a:lnTo>
                  <a:lnTo>
                    <a:pt x="1457595" y="196095"/>
                  </a:lnTo>
                  <a:lnTo>
                    <a:pt x="1442600" y="238568"/>
                  </a:lnTo>
                  <a:lnTo>
                    <a:pt x="1425162" y="279821"/>
                  </a:lnTo>
                  <a:lnTo>
                    <a:pt x="1405370" y="319766"/>
                  </a:lnTo>
                  <a:lnTo>
                    <a:pt x="1383310" y="358316"/>
                  </a:lnTo>
                  <a:lnTo>
                    <a:pt x="1359069" y="395384"/>
                  </a:lnTo>
                  <a:lnTo>
                    <a:pt x="1332736" y="430881"/>
                  </a:lnTo>
                  <a:lnTo>
                    <a:pt x="1304398" y="464722"/>
                  </a:lnTo>
                  <a:lnTo>
                    <a:pt x="1274142" y="496818"/>
                  </a:lnTo>
                  <a:lnTo>
                    <a:pt x="1242056" y="527082"/>
                  </a:lnTo>
                  <a:lnTo>
                    <a:pt x="1208227" y="555427"/>
                  </a:lnTo>
                  <a:lnTo>
                    <a:pt x="1172744" y="581766"/>
                  </a:lnTo>
                  <a:lnTo>
                    <a:pt x="1135692" y="606011"/>
                  </a:lnTo>
                  <a:lnTo>
                    <a:pt x="1097160" y="628074"/>
                  </a:lnTo>
                  <a:lnTo>
                    <a:pt x="1057236" y="647869"/>
                  </a:lnTo>
                  <a:lnTo>
                    <a:pt x="1016006" y="665308"/>
                  </a:lnTo>
                  <a:lnTo>
                    <a:pt x="973559" y="680304"/>
                  </a:lnTo>
                  <a:lnTo>
                    <a:pt x="929981" y="692769"/>
                  </a:lnTo>
                  <a:lnTo>
                    <a:pt x="885361" y="702616"/>
                  </a:lnTo>
                  <a:lnTo>
                    <a:pt x="839785" y="709757"/>
                  </a:lnTo>
                  <a:lnTo>
                    <a:pt x="793342" y="714107"/>
                  </a:lnTo>
                  <a:lnTo>
                    <a:pt x="746118" y="715576"/>
                  </a:lnTo>
                  <a:close/>
                </a:path>
              </a:pathLst>
            </a:custGeom>
            <a:solidFill>
              <a:srgbClr val="87B3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111717" y="0"/>
              <a:ext cx="1492250" cy="715645"/>
            </a:xfrm>
            <a:custGeom>
              <a:avLst/>
              <a:gdLst/>
              <a:ahLst/>
              <a:cxnLst/>
              <a:rect l="l" t="t" r="r" b="b"/>
              <a:pathLst>
                <a:path w="1492250" h="715645">
                  <a:moveTo>
                    <a:pt x="0" y="0"/>
                  </a:moveTo>
                  <a:lnTo>
                    <a:pt x="4838" y="62227"/>
                  </a:lnTo>
                  <a:lnTo>
                    <a:pt x="11981" y="107837"/>
                  </a:lnTo>
                  <a:lnTo>
                    <a:pt x="21829" y="152489"/>
                  </a:lnTo>
                  <a:lnTo>
                    <a:pt x="34294" y="196095"/>
                  </a:lnTo>
                  <a:lnTo>
                    <a:pt x="49291" y="238568"/>
                  </a:lnTo>
                  <a:lnTo>
                    <a:pt x="66731" y="279821"/>
                  </a:lnTo>
                  <a:lnTo>
                    <a:pt x="86527" y="319766"/>
                  </a:lnTo>
                  <a:lnTo>
                    <a:pt x="108591" y="358316"/>
                  </a:lnTo>
                  <a:lnTo>
                    <a:pt x="132837" y="395384"/>
                  </a:lnTo>
                  <a:lnTo>
                    <a:pt x="159177" y="430881"/>
                  </a:lnTo>
                  <a:lnTo>
                    <a:pt x="187523" y="464722"/>
                  </a:lnTo>
                  <a:lnTo>
                    <a:pt x="217788" y="496818"/>
                  </a:lnTo>
                  <a:lnTo>
                    <a:pt x="249885" y="527082"/>
                  </a:lnTo>
                  <a:lnTo>
                    <a:pt x="283726" y="555427"/>
                  </a:lnTo>
                  <a:lnTo>
                    <a:pt x="319224" y="581766"/>
                  </a:lnTo>
                  <a:lnTo>
                    <a:pt x="356292" y="606011"/>
                  </a:lnTo>
                  <a:lnTo>
                    <a:pt x="394842" y="628074"/>
                  </a:lnTo>
                  <a:lnTo>
                    <a:pt x="434787" y="647869"/>
                  </a:lnTo>
                  <a:lnTo>
                    <a:pt x="476040" y="665308"/>
                  </a:lnTo>
                  <a:lnTo>
                    <a:pt x="518512" y="680303"/>
                  </a:lnTo>
                  <a:lnTo>
                    <a:pt x="562117" y="692769"/>
                  </a:lnTo>
                  <a:lnTo>
                    <a:pt x="606768" y="702616"/>
                  </a:lnTo>
                  <a:lnTo>
                    <a:pt x="652377" y="709757"/>
                  </a:lnTo>
                  <a:lnTo>
                    <a:pt x="698856" y="714107"/>
                  </a:lnTo>
                  <a:lnTo>
                    <a:pt x="746118" y="715576"/>
                  </a:lnTo>
                  <a:lnTo>
                    <a:pt x="793342" y="714107"/>
                  </a:lnTo>
                  <a:lnTo>
                    <a:pt x="839785" y="709757"/>
                  </a:lnTo>
                  <a:lnTo>
                    <a:pt x="885361" y="702616"/>
                  </a:lnTo>
                  <a:lnTo>
                    <a:pt x="929981" y="692769"/>
                  </a:lnTo>
                  <a:lnTo>
                    <a:pt x="973559" y="680303"/>
                  </a:lnTo>
                  <a:lnTo>
                    <a:pt x="1016006" y="665308"/>
                  </a:lnTo>
                  <a:lnTo>
                    <a:pt x="1057236" y="647869"/>
                  </a:lnTo>
                  <a:lnTo>
                    <a:pt x="1097160" y="628074"/>
                  </a:lnTo>
                  <a:lnTo>
                    <a:pt x="1135692" y="606011"/>
                  </a:lnTo>
                  <a:lnTo>
                    <a:pt x="1172744" y="581766"/>
                  </a:lnTo>
                  <a:lnTo>
                    <a:pt x="1208227" y="555427"/>
                  </a:lnTo>
                  <a:lnTo>
                    <a:pt x="1242056" y="527082"/>
                  </a:lnTo>
                  <a:lnTo>
                    <a:pt x="1274142" y="496818"/>
                  </a:lnTo>
                  <a:lnTo>
                    <a:pt x="1304398" y="464722"/>
                  </a:lnTo>
                  <a:lnTo>
                    <a:pt x="1332736" y="430881"/>
                  </a:lnTo>
                  <a:lnTo>
                    <a:pt x="1359069" y="395384"/>
                  </a:lnTo>
                  <a:lnTo>
                    <a:pt x="1383310" y="358316"/>
                  </a:lnTo>
                  <a:lnTo>
                    <a:pt x="1405370" y="319766"/>
                  </a:lnTo>
                  <a:lnTo>
                    <a:pt x="1425162" y="279821"/>
                  </a:lnTo>
                  <a:lnTo>
                    <a:pt x="1442600" y="238568"/>
                  </a:lnTo>
                  <a:lnTo>
                    <a:pt x="1457595" y="196095"/>
                  </a:lnTo>
                  <a:lnTo>
                    <a:pt x="1470059" y="152489"/>
                  </a:lnTo>
                  <a:lnTo>
                    <a:pt x="1479906" y="107837"/>
                  </a:lnTo>
                  <a:lnTo>
                    <a:pt x="1487048" y="62227"/>
                  </a:lnTo>
                  <a:lnTo>
                    <a:pt x="1491397" y="15745"/>
                  </a:lnTo>
                  <a:lnTo>
                    <a:pt x="1491887" y="0"/>
                  </a:lnTo>
                </a:path>
              </a:pathLst>
            </a:custGeom>
            <a:ln w="19049">
              <a:solidFill>
                <a:srgbClr val="2D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-9524" y="0"/>
            <a:ext cx="3555365" cy="1163320"/>
            <a:chOff x="-9524" y="0"/>
            <a:chExt cx="3555365" cy="1163320"/>
          </a:xfrm>
        </p:grpSpPr>
        <p:sp>
          <p:nvSpPr>
            <p:cNvPr id="8" name="object 8"/>
            <p:cNvSpPr/>
            <p:nvPr/>
          </p:nvSpPr>
          <p:spPr>
            <a:xfrm>
              <a:off x="0" y="0"/>
              <a:ext cx="3536315" cy="1144270"/>
            </a:xfrm>
            <a:custGeom>
              <a:avLst/>
              <a:gdLst/>
              <a:ahLst/>
              <a:cxnLst/>
              <a:rect l="l" t="t" r="r" b="b"/>
              <a:pathLst>
                <a:path w="3536315" h="1144270">
                  <a:moveTo>
                    <a:pt x="0" y="277822"/>
                  </a:moveTo>
                  <a:lnTo>
                    <a:pt x="0" y="0"/>
                  </a:lnTo>
                  <a:lnTo>
                    <a:pt x="3535724" y="0"/>
                  </a:lnTo>
                  <a:lnTo>
                    <a:pt x="3516515" y="167102"/>
                  </a:lnTo>
                  <a:lnTo>
                    <a:pt x="3455520" y="277544"/>
                  </a:lnTo>
                  <a:lnTo>
                    <a:pt x="43932" y="277544"/>
                  </a:lnTo>
                  <a:lnTo>
                    <a:pt x="0" y="277822"/>
                  </a:lnTo>
                  <a:close/>
                </a:path>
                <a:path w="3536315" h="1144270">
                  <a:moveTo>
                    <a:pt x="2207588" y="1144187"/>
                  </a:moveTo>
                  <a:lnTo>
                    <a:pt x="2165600" y="1143405"/>
                  </a:lnTo>
                  <a:lnTo>
                    <a:pt x="2123258" y="1141028"/>
                  </a:lnTo>
                  <a:lnTo>
                    <a:pt x="2080576" y="1137012"/>
                  </a:lnTo>
                  <a:lnTo>
                    <a:pt x="2037568" y="1131316"/>
                  </a:lnTo>
                  <a:lnTo>
                    <a:pt x="1994248" y="1123893"/>
                  </a:lnTo>
                  <a:lnTo>
                    <a:pt x="1950630" y="1114702"/>
                  </a:lnTo>
                  <a:lnTo>
                    <a:pt x="1906728" y="1103697"/>
                  </a:lnTo>
                  <a:lnTo>
                    <a:pt x="1862556" y="1090836"/>
                  </a:lnTo>
                  <a:lnTo>
                    <a:pt x="1818128" y="1076075"/>
                  </a:lnTo>
                  <a:lnTo>
                    <a:pt x="1773458" y="1059370"/>
                  </a:lnTo>
                  <a:lnTo>
                    <a:pt x="1728560" y="1040678"/>
                  </a:lnTo>
                  <a:lnTo>
                    <a:pt x="1683449" y="1019954"/>
                  </a:lnTo>
                  <a:lnTo>
                    <a:pt x="1638138" y="997155"/>
                  </a:lnTo>
                  <a:lnTo>
                    <a:pt x="1592641" y="972238"/>
                  </a:lnTo>
                  <a:lnTo>
                    <a:pt x="1546973" y="945158"/>
                  </a:lnTo>
                  <a:lnTo>
                    <a:pt x="1501146" y="915873"/>
                  </a:lnTo>
                  <a:lnTo>
                    <a:pt x="1455176" y="884337"/>
                  </a:lnTo>
                  <a:lnTo>
                    <a:pt x="1409077" y="850509"/>
                  </a:lnTo>
                  <a:lnTo>
                    <a:pt x="1306536" y="769879"/>
                  </a:lnTo>
                  <a:lnTo>
                    <a:pt x="1250788" y="727826"/>
                  </a:lnTo>
                  <a:lnTo>
                    <a:pt x="1195642" y="688121"/>
                  </a:lnTo>
                  <a:lnTo>
                    <a:pt x="1141119" y="650703"/>
                  </a:lnTo>
                  <a:lnTo>
                    <a:pt x="1087239" y="615510"/>
                  </a:lnTo>
                  <a:lnTo>
                    <a:pt x="1034026" y="582480"/>
                  </a:lnTo>
                  <a:lnTo>
                    <a:pt x="981501" y="551551"/>
                  </a:lnTo>
                  <a:lnTo>
                    <a:pt x="929685" y="522662"/>
                  </a:lnTo>
                  <a:lnTo>
                    <a:pt x="878601" y="495750"/>
                  </a:lnTo>
                  <a:lnTo>
                    <a:pt x="828269" y="470754"/>
                  </a:lnTo>
                  <a:lnTo>
                    <a:pt x="778712" y="447611"/>
                  </a:lnTo>
                  <a:lnTo>
                    <a:pt x="729952" y="426261"/>
                  </a:lnTo>
                  <a:lnTo>
                    <a:pt x="682010" y="406640"/>
                  </a:lnTo>
                  <a:lnTo>
                    <a:pt x="634907" y="388688"/>
                  </a:lnTo>
                  <a:lnTo>
                    <a:pt x="588666" y="372343"/>
                  </a:lnTo>
                  <a:lnTo>
                    <a:pt x="543309" y="357542"/>
                  </a:lnTo>
                  <a:lnTo>
                    <a:pt x="498857" y="344223"/>
                  </a:lnTo>
                  <a:lnTo>
                    <a:pt x="455331" y="332326"/>
                  </a:lnTo>
                  <a:lnTo>
                    <a:pt x="412754" y="321787"/>
                  </a:lnTo>
                  <a:lnTo>
                    <a:pt x="371147" y="312546"/>
                  </a:lnTo>
                  <a:lnTo>
                    <a:pt x="330532" y="304540"/>
                  </a:lnTo>
                  <a:lnTo>
                    <a:pt x="290931" y="297708"/>
                  </a:lnTo>
                  <a:lnTo>
                    <a:pt x="252366" y="291987"/>
                  </a:lnTo>
                  <a:lnTo>
                    <a:pt x="178427" y="283633"/>
                  </a:lnTo>
                  <a:lnTo>
                    <a:pt x="108892" y="278984"/>
                  </a:lnTo>
                  <a:lnTo>
                    <a:pt x="43932" y="277544"/>
                  </a:lnTo>
                  <a:lnTo>
                    <a:pt x="3455520" y="277544"/>
                  </a:lnTo>
                  <a:lnTo>
                    <a:pt x="3290893" y="575631"/>
                  </a:lnTo>
                  <a:lnTo>
                    <a:pt x="3262206" y="609676"/>
                  </a:lnTo>
                  <a:lnTo>
                    <a:pt x="3232262" y="643426"/>
                  </a:lnTo>
                  <a:lnTo>
                    <a:pt x="3201089" y="676796"/>
                  </a:lnTo>
                  <a:lnTo>
                    <a:pt x="3168713" y="709703"/>
                  </a:lnTo>
                  <a:lnTo>
                    <a:pt x="3135163" y="742059"/>
                  </a:lnTo>
                  <a:lnTo>
                    <a:pt x="3100466" y="773782"/>
                  </a:lnTo>
                  <a:lnTo>
                    <a:pt x="3064649" y="804785"/>
                  </a:lnTo>
                  <a:lnTo>
                    <a:pt x="3027738" y="834984"/>
                  </a:lnTo>
                  <a:lnTo>
                    <a:pt x="2989762" y="864293"/>
                  </a:lnTo>
                  <a:lnTo>
                    <a:pt x="2950748" y="892629"/>
                  </a:lnTo>
                  <a:lnTo>
                    <a:pt x="2910723" y="919905"/>
                  </a:lnTo>
                  <a:lnTo>
                    <a:pt x="2869714" y="946038"/>
                  </a:lnTo>
                  <a:lnTo>
                    <a:pt x="2827749" y="970941"/>
                  </a:lnTo>
                  <a:lnTo>
                    <a:pt x="2784855" y="994530"/>
                  </a:lnTo>
                  <a:lnTo>
                    <a:pt x="2741059" y="1016720"/>
                  </a:lnTo>
                  <a:lnTo>
                    <a:pt x="2696388" y="1037427"/>
                  </a:lnTo>
                  <a:lnTo>
                    <a:pt x="2650870" y="1056564"/>
                  </a:lnTo>
                  <a:lnTo>
                    <a:pt x="2604533" y="1074048"/>
                  </a:lnTo>
                  <a:lnTo>
                    <a:pt x="2557402" y="1089793"/>
                  </a:lnTo>
                  <a:lnTo>
                    <a:pt x="2509506" y="1103715"/>
                  </a:lnTo>
                  <a:lnTo>
                    <a:pt x="2460873" y="1115727"/>
                  </a:lnTo>
                  <a:lnTo>
                    <a:pt x="2411528" y="1125746"/>
                  </a:lnTo>
                  <a:lnTo>
                    <a:pt x="2361500" y="1133687"/>
                  </a:lnTo>
                  <a:lnTo>
                    <a:pt x="2310816" y="1139464"/>
                  </a:lnTo>
                  <a:lnTo>
                    <a:pt x="2259502" y="1142992"/>
                  </a:lnTo>
                  <a:lnTo>
                    <a:pt x="2207588" y="1144187"/>
                  </a:lnTo>
                  <a:close/>
                </a:path>
              </a:pathLst>
            </a:custGeom>
            <a:solidFill>
              <a:srgbClr val="87B3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0"/>
              <a:ext cx="3536315" cy="1144270"/>
            </a:xfrm>
            <a:custGeom>
              <a:avLst/>
              <a:gdLst/>
              <a:ahLst/>
              <a:cxnLst/>
              <a:rect l="l" t="t" r="r" b="b"/>
              <a:pathLst>
                <a:path w="3536315" h="1144270">
                  <a:moveTo>
                    <a:pt x="0" y="277822"/>
                  </a:moveTo>
                  <a:lnTo>
                    <a:pt x="43932" y="277544"/>
                  </a:lnTo>
                  <a:lnTo>
                    <a:pt x="108892" y="278984"/>
                  </a:lnTo>
                  <a:lnTo>
                    <a:pt x="178427" y="283633"/>
                  </a:lnTo>
                  <a:lnTo>
                    <a:pt x="252366" y="291987"/>
                  </a:lnTo>
                  <a:lnTo>
                    <a:pt x="290931" y="297708"/>
                  </a:lnTo>
                  <a:lnTo>
                    <a:pt x="330532" y="304540"/>
                  </a:lnTo>
                  <a:lnTo>
                    <a:pt x="371147" y="312546"/>
                  </a:lnTo>
                  <a:lnTo>
                    <a:pt x="412754" y="321787"/>
                  </a:lnTo>
                  <a:lnTo>
                    <a:pt x="455331" y="332326"/>
                  </a:lnTo>
                  <a:lnTo>
                    <a:pt x="498857" y="344223"/>
                  </a:lnTo>
                  <a:lnTo>
                    <a:pt x="543309" y="357542"/>
                  </a:lnTo>
                  <a:lnTo>
                    <a:pt x="588666" y="372343"/>
                  </a:lnTo>
                  <a:lnTo>
                    <a:pt x="634907" y="388688"/>
                  </a:lnTo>
                  <a:lnTo>
                    <a:pt x="682009" y="406640"/>
                  </a:lnTo>
                  <a:lnTo>
                    <a:pt x="729952" y="426261"/>
                  </a:lnTo>
                  <a:lnTo>
                    <a:pt x="778712" y="447611"/>
                  </a:lnTo>
                  <a:lnTo>
                    <a:pt x="828269" y="470754"/>
                  </a:lnTo>
                  <a:lnTo>
                    <a:pt x="878601" y="495750"/>
                  </a:lnTo>
                  <a:lnTo>
                    <a:pt x="929685" y="522662"/>
                  </a:lnTo>
                  <a:lnTo>
                    <a:pt x="981501" y="551551"/>
                  </a:lnTo>
                  <a:lnTo>
                    <a:pt x="1034026" y="582480"/>
                  </a:lnTo>
                  <a:lnTo>
                    <a:pt x="1087239" y="615510"/>
                  </a:lnTo>
                  <a:lnTo>
                    <a:pt x="1141119" y="650703"/>
                  </a:lnTo>
                  <a:lnTo>
                    <a:pt x="1195642" y="688121"/>
                  </a:lnTo>
                  <a:lnTo>
                    <a:pt x="1250788" y="727826"/>
                  </a:lnTo>
                  <a:lnTo>
                    <a:pt x="1306536" y="769879"/>
                  </a:lnTo>
                  <a:lnTo>
                    <a:pt x="1362862" y="814343"/>
                  </a:lnTo>
                  <a:lnTo>
                    <a:pt x="1409077" y="850509"/>
                  </a:lnTo>
                  <a:lnTo>
                    <a:pt x="1455176" y="884337"/>
                  </a:lnTo>
                  <a:lnTo>
                    <a:pt x="1501146" y="915873"/>
                  </a:lnTo>
                  <a:lnTo>
                    <a:pt x="1546972" y="945158"/>
                  </a:lnTo>
                  <a:lnTo>
                    <a:pt x="1592641" y="972238"/>
                  </a:lnTo>
                  <a:lnTo>
                    <a:pt x="1638138" y="997155"/>
                  </a:lnTo>
                  <a:lnTo>
                    <a:pt x="1683449" y="1019954"/>
                  </a:lnTo>
                  <a:lnTo>
                    <a:pt x="1728560" y="1040678"/>
                  </a:lnTo>
                  <a:lnTo>
                    <a:pt x="1773458" y="1059370"/>
                  </a:lnTo>
                  <a:lnTo>
                    <a:pt x="1818128" y="1076075"/>
                  </a:lnTo>
                  <a:lnTo>
                    <a:pt x="1862555" y="1090836"/>
                  </a:lnTo>
                  <a:lnTo>
                    <a:pt x="1906727" y="1103697"/>
                  </a:lnTo>
                  <a:lnTo>
                    <a:pt x="1950629" y="1114702"/>
                  </a:lnTo>
                  <a:lnTo>
                    <a:pt x="1994248" y="1123893"/>
                  </a:lnTo>
                  <a:lnTo>
                    <a:pt x="2037568" y="1131315"/>
                  </a:lnTo>
                  <a:lnTo>
                    <a:pt x="2080576" y="1137012"/>
                  </a:lnTo>
                  <a:lnTo>
                    <a:pt x="2123258" y="1141028"/>
                  </a:lnTo>
                  <a:lnTo>
                    <a:pt x="2165600" y="1143405"/>
                  </a:lnTo>
                  <a:lnTo>
                    <a:pt x="2207588" y="1144187"/>
                  </a:lnTo>
                  <a:lnTo>
                    <a:pt x="2259502" y="1142992"/>
                  </a:lnTo>
                  <a:lnTo>
                    <a:pt x="2310816" y="1139464"/>
                  </a:lnTo>
                  <a:lnTo>
                    <a:pt x="2361500" y="1133687"/>
                  </a:lnTo>
                  <a:lnTo>
                    <a:pt x="2411528" y="1125746"/>
                  </a:lnTo>
                  <a:lnTo>
                    <a:pt x="2460873" y="1115727"/>
                  </a:lnTo>
                  <a:lnTo>
                    <a:pt x="2509506" y="1103715"/>
                  </a:lnTo>
                  <a:lnTo>
                    <a:pt x="2557402" y="1089793"/>
                  </a:lnTo>
                  <a:lnTo>
                    <a:pt x="2604533" y="1074048"/>
                  </a:lnTo>
                  <a:lnTo>
                    <a:pt x="2650870" y="1056564"/>
                  </a:lnTo>
                  <a:lnTo>
                    <a:pt x="2696388" y="1037427"/>
                  </a:lnTo>
                  <a:lnTo>
                    <a:pt x="2741059" y="1016720"/>
                  </a:lnTo>
                  <a:lnTo>
                    <a:pt x="2784855" y="994530"/>
                  </a:lnTo>
                  <a:lnTo>
                    <a:pt x="2827749" y="970941"/>
                  </a:lnTo>
                  <a:lnTo>
                    <a:pt x="2869714" y="946038"/>
                  </a:lnTo>
                  <a:lnTo>
                    <a:pt x="2910723" y="919905"/>
                  </a:lnTo>
                  <a:lnTo>
                    <a:pt x="2950748" y="892629"/>
                  </a:lnTo>
                  <a:lnTo>
                    <a:pt x="2989762" y="864293"/>
                  </a:lnTo>
                  <a:lnTo>
                    <a:pt x="3027738" y="834984"/>
                  </a:lnTo>
                  <a:lnTo>
                    <a:pt x="3064648" y="804785"/>
                  </a:lnTo>
                  <a:lnTo>
                    <a:pt x="3100466" y="773782"/>
                  </a:lnTo>
                  <a:lnTo>
                    <a:pt x="3135163" y="742059"/>
                  </a:lnTo>
                  <a:lnTo>
                    <a:pt x="3168713" y="709702"/>
                  </a:lnTo>
                  <a:lnTo>
                    <a:pt x="3201088" y="676796"/>
                  </a:lnTo>
                  <a:lnTo>
                    <a:pt x="3232262" y="643426"/>
                  </a:lnTo>
                  <a:lnTo>
                    <a:pt x="3262206" y="609676"/>
                  </a:lnTo>
                  <a:lnTo>
                    <a:pt x="3290893" y="575631"/>
                  </a:lnTo>
                  <a:lnTo>
                    <a:pt x="3516515" y="167102"/>
                  </a:lnTo>
                  <a:lnTo>
                    <a:pt x="3535724" y="0"/>
                  </a:lnTo>
                </a:path>
              </a:pathLst>
            </a:custGeom>
            <a:ln w="19049">
              <a:solidFill>
                <a:srgbClr val="2D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6958459" y="0"/>
            <a:ext cx="2195195" cy="1860550"/>
            <a:chOff x="6958459" y="0"/>
            <a:chExt cx="2195195" cy="1860550"/>
          </a:xfrm>
        </p:grpSpPr>
        <p:sp>
          <p:nvSpPr>
            <p:cNvPr id="11" name="object 11"/>
            <p:cNvSpPr/>
            <p:nvPr/>
          </p:nvSpPr>
          <p:spPr>
            <a:xfrm>
              <a:off x="6967984" y="0"/>
              <a:ext cx="2176145" cy="1841500"/>
            </a:xfrm>
            <a:custGeom>
              <a:avLst/>
              <a:gdLst/>
              <a:ahLst/>
              <a:cxnLst/>
              <a:rect l="l" t="t" r="r" b="b"/>
              <a:pathLst>
                <a:path w="2176145" h="1841500">
                  <a:moveTo>
                    <a:pt x="1987847" y="1840988"/>
                  </a:moveTo>
                  <a:lnTo>
                    <a:pt x="1916753" y="1838943"/>
                  </a:lnTo>
                  <a:lnTo>
                    <a:pt x="1840170" y="1832207"/>
                  </a:lnTo>
                  <a:lnTo>
                    <a:pt x="1799975" y="1826798"/>
                  </a:lnTo>
                  <a:lnTo>
                    <a:pt x="1758594" y="1819880"/>
                  </a:lnTo>
                  <a:lnTo>
                    <a:pt x="1716089" y="1811340"/>
                  </a:lnTo>
                  <a:lnTo>
                    <a:pt x="1672524" y="1801064"/>
                  </a:lnTo>
                  <a:lnTo>
                    <a:pt x="1627959" y="1788942"/>
                  </a:lnTo>
                  <a:lnTo>
                    <a:pt x="1582457" y="1774859"/>
                  </a:lnTo>
                  <a:lnTo>
                    <a:pt x="1536080" y="1758705"/>
                  </a:lnTo>
                  <a:lnTo>
                    <a:pt x="1488891" y="1740366"/>
                  </a:lnTo>
                  <a:lnTo>
                    <a:pt x="1440952" y="1719730"/>
                  </a:lnTo>
                  <a:lnTo>
                    <a:pt x="1392325" y="1696684"/>
                  </a:lnTo>
                  <a:lnTo>
                    <a:pt x="1343072" y="1671117"/>
                  </a:lnTo>
                  <a:lnTo>
                    <a:pt x="1293255" y="1642915"/>
                  </a:lnTo>
                  <a:lnTo>
                    <a:pt x="1242937" y="1611967"/>
                  </a:lnTo>
                  <a:lnTo>
                    <a:pt x="1192180" y="1578159"/>
                  </a:lnTo>
                  <a:lnTo>
                    <a:pt x="1141047" y="1541380"/>
                  </a:lnTo>
                  <a:lnTo>
                    <a:pt x="1089598" y="1501517"/>
                  </a:lnTo>
                  <a:lnTo>
                    <a:pt x="1044004" y="1464058"/>
                  </a:lnTo>
                  <a:lnTo>
                    <a:pt x="1000746" y="1426817"/>
                  </a:lnTo>
                  <a:lnTo>
                    <a:pt x="959714" y="1389777"/>
                  </a:lnTo>
                  <a:lnTo>
                    <a:pt x="920803" y="1352923"/>
                  </a:lnTo>
                  <a:lnTo>
                    <a:pt x="883901" y="1316239"/>
                  </a:lnTo>
                  <a:lnTo>
                    <a:pt x="848903" y="1279710"/>
                  </a:lnTo>
                  <a:lnTo>
                    <a:pt x="815699" y="1243321"/>
                  </a:lnTo>
                  <a:lnTo>
                    <a:pt x="784181" y="1207056"/>
                  </a:lnTo>
                  <a:lnTo>
                    <a:pt x="754240" y="1170900"/>
                  </a:lnTo>
                  <a:lnTo>
                    <a:pt x="725770" y="1134838"/>
                  </a:lnTo>
                  <a:lnTo>
                    <a:pt x="698660" y="1098853"/>
                  </a:lnTo>
                  <a:lnTo>
                    <a:pt x="672804" y="1062931"/>
                  </a:lnTo>
                  <a:lnTo>
                    <a:pt x="648092" y="1027057"/>
                  </a:lnTo>
                  <a:lnTo>
                    <a:pt x="624416" y="991214"/>
                  </a:lnTo>
                  <a:lnTo>
                    <a:pt x="601669" y="955388"/>
                  </a:lnTo>
                  <a:lnTo>
                    <a:pt x="579742" y="919562"/>
                  </a:lnTo>
                  <a:lnTo>
                    <a:pt x="558526" y="883723"/>
                  </a:lnTo>
                  <a:lnTo>
                    <a:pt x="537914" y="847853"/>
                  </a:lnTo>
                  <a:lnTo>
                    <a:pt x="517797" y="811938"/>
                  </a:lnTo>
                  <a:lnTo>
                    <a:pt x="498066" y="775963"/>
                  </a:lnTo>
                  <a:lnTo>
                    <a:pt x="478614" y="739912"/>
                  </a:lnTo>
                  <a:lnTo>
                    <a:pt x="459333" y="703769"/>
                  </a:lnTo>
                  <a:lnTo>
                    <a:pt x="401427" y="594638"/>
                  </a:lnTo>
                  <a:lnTo>
                    <a:pt x="381743" y="557975"/>
                  </a:lnTo>
                  <a:lnTo>
                    <a:pt x="361689" y="521144"/>
                  </a:lnTo>
                  <a:lnTo>
                    <a:pt x="341155" y="484129"/>
                  </a:lnTo>
                  <a:lnTo>
                    <a:pt x="320034" y="446915"/>
                  </a:lnTo>
                  <a:lnTo>
                    <a:pt x="298216" y="409486"/>
                  </a:lnTo>
                  <a:lnTo>
                    <a:pt x="275595" y="371827"/>
                  </a:lnTo>
                  <a:lnTo>
                    <a:pt x="252061" y="333923"/>
                  </a:lnTo>
                  <a:lnTo>
                    <a:pt x="227506" y="295758"/>
                  </a:lnTo>
                  <a:lnTo>
                    <a:pt x="201823" y="257316"/>
                  </a:lnTo>
                  <a:lnTo>
                    <a:pt x="174902" y="218583"/>
                  </a:lnTo>
                  <a:lnTo>
                    <a:pt x="146635" y="179543"/>
                  </a:lnTo>
                  <a:lnTo>
                    <a:pt x="116915" y="140180"/>
                  </a:lnTo>
                  <a:lnTo>
                    <a:pt x="85633" y="100479"/>
                  </a:lnTo>
                  <a:lnTo>
                    <a:pt x="52680" y="60425"/>
                  </a:lnTo>
                  <a:lnTo>
                    <a:pt x="17949" y="20002"/>
                  </a:lnTo>
                  <a:lnTo>
                    <a:pt x="0" y="0"/>
                  </a:lnTo>
                  <a:lnTo>
                    <a:pt x="2175996" y="0"/>
                  </a:lnTo>
                  <a:lnTo>
                    <a:pt x="2175996" y="1824788"/>
                  </a:lnTo>
                  <a:lnTo>
                    <a:pt x="2117463" y="1833974"/>
                  </a:lnTo>
                  <a:lnTo>
                    <a:pt x="1987847" y="1840988"/>
                  </a:lnTo>
                  <a:close/>
                </a:path>
              </a:pathLst>
            </a:custGeom>
            <a:solidFill>
              <a:srgbClr val="8789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67984" y="0"/>
              <a:ext cx="2176145" cy="1841500"/>
            </a:xfrm>
            <a:custGeom>
              <a:avLst/>
              <a:gdLst/>
              <a:ahLst/>
              <a:cxnLst/>
              <a:rect l="l" t="t" r="r" b="b"/>
              <a:pathLst>
                <a:path w="2176145" h="1841500">
                  <a:moveTo>
                    <a:pt x="0" y="0"/>
                  </a:moveTo>
                  <a:lnTo>
                    <a:pt x="52680" y="60425"/>
                  </a:lnTo>
                  <a:lnTo>
                    <a:pt x="85633" y="100479"/>
                  </a:lnTo>
                  <a:lnTo>
                    <a:pt x="116915" y="140180"/>
                  </a:lnTo>
                  <a:lnTo>
                    <a:pt x="146635" y="179543"/>
                  </a:lnTo>
                  <a:lnTo>
                    <a:pt x="174902" y="218583"/>
                  </a:lnTo>
                  <a:lnTo>
                    <a:pt x="201823" y="257316"/>
                  </a:lnTo>
                  <a:lnTo>
                    <a:pt x="227506" y="295758"/>
                  </a:lnTo>
                  <a:lnTo>
                    <a:pt x="252061" y="333923"/>
                  </a:lnTo>
                  <a:lnTo>
                    <a:pt x="275595" y="371827"/>
                  </a:lnTo>
                  <a:lnTo>
                    <a:pt x="298216" y="409486"/>
                  </a:lnTo>
                  <a:lnTo>
                    <a:pt x="320034" y="446915"/>
                  </a:lnTo>
                  <a:lnTo>
                    <a:pt x="341155" y="484129"/>
                  </a:lnTo>
                  <a:lnTo>
                    <a:pt x="361689" y="521144"/>
                  </a:lnTo>
                  <a:lnTo>
                    <a:pt x="381743" y="557975"/>
                  </a:lnTo>
                  <a:lnTo>
                    <a:pt x="401427" y="594638"/>
                  </a:lnTo>
                  <a:lnTo>
                    <a:pt x="420847" y="631147"/>
                  </a:lnTo>
                  <a:lnTo>
                    <a:pt x="440113" y="667519"/>
                  </a:lnTo>
                  <a:lnTo>
                    <a:pt x="459333" y="703769"/>
                  </a:lnTo>
                  <a:lnTo>
                    <a:pt x="478614" y="739912"/>
                  </a:lnTo>
                  <a:lnTo>
                    <a:pt x="498066" y="775963"/>
                  </a:lnTo>
                  <a:lnTo>
                    <a:pt x="517797" y="811938"/>
                  </a:lnTo>
                  <a:lnTo>
                    <a:pt x="537914" y="847853"/>
                  </a:lnTo>
                  <a:lnTo>
                    <a:pt x="558526" y="883723"/>
                  </a:lnTo>
                  <a:lnTo>
                    <a:pt x="579742" y="919562"/>
                  </a:lnTo>
                  <a:lnTo>
                    <a:pt x="601669" y="955388"/>
                  </a:lnTo>
                  <a:lnTo>
                    <a:pt x="624416" y="991214"/>
                  </a:lnTo>
                  <a:lnTo>
                    <a:pt x="648092" y="1027057"/>
                  </a:lnTo>
                  <a:lnTo>
                    <a:pt x="672804" y="1062931"/>
                  </a:lnTo>
                  <a:lnTo>
                    <a:pt x="698660" y="1098853"/>
                  </a:lnTo>
                  <a:lnTo>
                    <a:pt x="725770" y="1134838"/>
                  </a:lnTo>
                  <a:lnTo>
                    <a:pt x="754240" y="1170900"/>
                  </a:lnTo>
                  <a:lnTo>
                    <a:pt x="784181" y="1207056"/>
                  </a:lnTo>
                  <a:lnTo>
                    <a:pt x="815699" y="1243321"/>
                  </a:lnTo>
                  <a:lnTo>
                    <a:pt x="848903" y="1279710"/>
                  </a:lnTo>
                  <a:lnTo>
                    <a:pt x="883901" y="1316239"/>
                  </a:lnTo>
                  <a:lnTo>
                    <a:pt x="920802" y="1352923"/>
                  </a:lnTo>
                  <a:lnTo>
                    <a:pt x="959714" y="1389777"/>
                  </a:lnTo>
                  <a:lnTo>
                    <a:pt x="1000746" y="1426817"/>
                  </a:lnTo>
                  <a:lnTo>
                    <a:pt x="1044004" y="1464058"/>
                  </a:lnTo>
                  <a:lnTo>
                    <a:pt x="1089598" y="1501517"/>
                  </a:lnTo>
                  <a:lnTo>
                    <a:pt x="1141047" y="1541380"/>
                  </a:lnTo>
                  <a:lnTo>
                    <a:pt x="1192180" y="1578159"/>
                  </a:lnTo>
                  <a:lnTo>
                    <a:pt x="1242937" y="1611966"/>
                  </a:lnTo>
                  <a:lnTo>
                    <a:pt x="1293255" y="1642915"/>
                  </a:lnTo>
                  <a:lnTo>
                    <a:pt x="1343072" y="1671117"/>
                  </a:lnTo>
                  <a:lnTo>
                    <a:pt x="1392325" y="1696684"/>
                  </a:lnTo>
                  <a:lnTo>
                    <a:pt x="1440952" y="1719729"/>
                  </a:lnTo>
                  <a:lnTo>
                    <a:pt x="1488891" y="1740366"/>
                  </a:lnTo>
                  <a:lnTo>
                    <a:pt x="1536080" y="1758705"/>
                  </a:lnTo>
                  <a:lnTo>
                    <a:pt x="1582457" y="1774859"/>
                  </a:lnTo>
                  <a:lnTo>
                    <a:pt x="1627959" y="1788942"/>
                  </a:lnTo>
                  <a:lnTo>
                    <a:pt x="1672524" y="1801064"/>
                  </a:lnTo>
                  <a:lnTo>
                    <a:pt x="1716089" y="1811340"/>
                  </a:lnTo>
                  <a:lnTo>
                    <a:pt x="1758594" y="1819880"/>
                  </a:lnTo>
                  <a:lnTo>
                    <a:pt x="1799975" y="1826798"/>
                  </a:lnTo>
                  <a:lnTo>
                    <a:pt x="1840170" y="1832207"/>
                  </a:lnTo>
                  <a:lnTo>
                    <a:pt x="1879116" y="1836217"/>
                  </a:lnTo>
                  <a:lnTo>
                    <a:pt x="1953017" y="1840496"/>
                  </a:lnTo>
                  <a:lnTo>
                    <a:pt x="1987846" y="1840988"/>
                  </a:lnTo>
                  <a:lnTo>
                    <a:pt x="2117463" y="1833974"/>
                  </a:lnTo>
                  <a:lnTo>
                    <a:pt x="2175996" y="1824788"/>
                  </a:lnTo>
                </a:path>
              </a:pathLst>
            </a:custGeom>
            <a:ln w="19049">
              <a:solidFill>
                <a:srgbClr val="2D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597659" y="0"/>
              <a:ext cx="1546860" cy="893444"/>
            </a:xfrm>
            <a:custGeom>
              <a:avLst/>
              <a:gdLst/>
              <a:ahLst/>
              <a:cxnLst/>
              <a:rect l="l" t="t" r="r" b="b"/>
              <a:pathLst>
                <a:path w="1546859" h="893444">
                  <a:moveTo>
                    <a:pt x="1504396" y="892928"/>
                  </a:moveTo>
                  <a:lnTo>
                    <a:pt x="1464030" y="892307"/>
                  </a:lnTo>
                  <a:lnTo>
                    <a:pt x="1422483" y="890381"/>
                  </a:lnTo>
                  <a:lnTo>
                    <a:pt x="1379789" y="887050"/>
                  </a:lnTo>
                  <a:lnTo>
                    <a:pt x="1335980" y="882215"/>
                  </a:lnTo>
                  <a:lnTo>
                    <a:pt x="1291088" y="875780"/>
                  </a:lnTo>
                  <a:lnTo>
                    <a:pt x="1245148" y="867645"/>
                  </a:lnTo>
                  <a:lnTo>
                    <a:pt x="1198190" y="857713"/>
                  </a:lnTo>
                  <a:lnTo>
                    <a:pt x="1150249" y="845885"/>
                  </a:lnTo>
                  <a:lnTo>
                    <a:pt x="1101357" y="832062"/>
                  </a:lnTo>
                  <a:lnTo>
                    <a:pt x="1051547" y="816147"/>
                  </a:lnTo>
                  <a:lnTo>
                    <a:pt x="1000852" y="798040"/>
                  </a:lnTo>
                  <a:lnTo>
                    <a:pt x="949304" y="777645"/>
                  </a:lnTo>
                  <a:lnTo>
                    <a:pt x="896936" y="754862"/>
                  </a:lnTo>
                  <a:lnTo>
                    <a:pt x="843781" y="729593"/>
                  </a:lnTo>
                  <a:lnTo>
                    <a:pt x="789873" y="701741"/>
                  </a:lnTo>
                  <a:lnTo>
                    <a:pt x="738249" y="673201"/>
                  </a:lnTo>
                  <a:lnTo>
                    <a:pt x="688960" y="644450"/>
                  </a:lnTo>
                  <a:lnTo>
                    <a:pt x="641896" y="615491"/>
                  </a:lnTo>
                  <a:lnTo>
                    <a:pt x="596949" y="586329"/>
                  </a:lnTo>
                  <a:lnTo>
                    <a:pt x="554009" y="556969"/>
                  </a:lnTo>
                  <a:lnTo>
                    <a:pt x="512967" y="527415"/>
                  </a:lnTo>
                  <a:lnTo>
                    <a:pt x="473714" y="497672"/>
                  </a:lnTo>
                  <a:lnTo>
                    <a:pt x="436140" y="467744"/>
                  </a:lnTo>
                  <a:lnTo>
                    <a:pt x="400137" y="437637"/>
                  </a:lnTo>
                  <a:lnTo>
                    <a:pt x="365594" y="407353"/>
                  </a:lnTo>
                  <a:lnTo>
                    <a:pt x="332404" y="376899"/>
                  </a:lnTo>
                  <a:lnTo>
                    <a:pt x="300456" y="346278"/>
                  </a:lnTo>
                  <a:lnTo>
                    <a:pt x="269642" y="315495"/>
                  </a:lnTo>
                  <a:lnTo>
                    <a:pt x="239852" y="284555"/>
                  </a:lnTo>
                  <a:lnTo>
                    <a:pt x="210978" y="253462"/>
                  </a:lnTo>
                  <a:lnTo>
                    <a:pt x="182908" y="222221"/>
                  </a:lnTo>
                  <a:lnTo>
                    <a:pt x="155536" y="190836"/>
                  </a:lnTo>
                  <a:lnTo>
                    <a:pt x="128751" y="159313"/>
                  </a:lnTo>
                  <a:lnTo>
                    <a:pt x="102444" y="127654"/>
                  </a:lnTo>
                  <a:lnTo>
                    <a:pt x="76506" y="95866"/>
                  </a:lnTo>
                  <a:lnTo>
                    <a:pt x="50828" y="63952"/>
                  </a:lnTo>
                  <a:lnTo>
                    <a:pt x="0" y="0"/>
                  </a:lnTo>
                  <a:lnTo>
                    <a:pt x="1546321" y="0"/>
                  </a:lnTo>
                  <a:lnTo>
                    <a:pt x="1546321" y="889307"/>
                  </a:lnTo>
                  <a:lnTo>
                    <a:pt x="1504396" y="892928"/>
                  </a:lnTo>
                  <a:close/>
                </a:path>
              </a:pathLst>
            </a:custGeom>
            <a:solidFill>
              <a:srgbClr val="BCDA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597659" y="0"/>
              <a:ext cx="1546860" cy="893444"/>
            </a:xfrm>
            <a:custGeom>
              <a:avLst/>
              <a:gdLst/>
              <a:ahLst/>
              <a:cxnLst/>
              <a:rect l="l" t="t" r="r" b="b"/>
              <a:pathLst>
                <a:path w="1546859" h="893444">
                  <a:moveTo>
                    <a:pt x="0" y="0"/>
                  </a:moveTo>
                  <a:lnTo>
                    <a:pt x="25300" y="31917"/>
                  </a:lnTo>
                  <a:lnTo>
                    <a:pt x="50828" y="63952"/>
                  </a:lnTo>
                  <a:lnTo>
                    <a:pt x="76506" y="95866"/>
                  </a:lnTo>
                  <a:lnTo>
                    <a:pt x="102444" y="127654"/>
                  </a:lnTo>
                  <a:lnTo>
                    <a:pt x="128751" y="159313"/>
                  </a:lnTo>
                  <a:lnTo>
                    <a:pt x="155536" y="190836"/>
                  </a:lnTo>
                  <a:lnTo>
                    <a:pt x="182908" y="222221"/>
                  </a:lnTo>
                  <a:lnTo>
                    <a:pt x="210978" y="253462"/>
                  </a:lnTo>
                  <a:lnTo>
                    <a:pt x="239852" y="284555"/>
                  </a:lnTo>
                  <a:lnTo>
                    <a:pt x="269642" y="315495"/>
                  </a:lnTo>
                  <a:lnTo>
                    <a:pt x="300456" y="346278"/>
                  </a:lnTo>
                  <a:lnTo>
                    <a:pt x="332404" y="376899"/>
                  </a:lnTo>
                  <a:lnTo>
                    <a:pt x="365594" y="407353"/>
                  </a:lnTo>
                  <a:lnTo>
                    <a:pt x="400137" y="437637"/>
                  </a:lnTo>
                  <a:lnTo>
                    <a:pt x="436140" y="467744"/>
                  </a:lnTo>
                  <a:lnTo>
                    <a:pt x="473714" y="497672"/>
                  </a:lnTo>
                  <a:lnTo>
                    <a:pt x="512967" y="527415"/>
                  </a:lnTo>
                  <a:lnTo>
                    <a:pt x="554009" y="556969"/>
                  </a:lnTo>
                  <a:lnTo>
                    <a:pt x="596949" y="586329"/>
                  </a:lnTo>
                  <a:lnTo>
                    <a:pt x="641896" y="615491"/>
                  </a:lnTo>
                  <a:lnTo>
                    <a:pt x="688959" y="644450"/>
                  </a:lnTo>
                  <a:lnTo>
                    <a:pt x="738249" y="673201"/>
                  </a:lnTo>
                  <a:lnTo>
                    <a:pt x="789873" y="701741"/>
                  </a:lnTo>
                  <a:lnTo>
                    <a:pt x="843781" y="729593"/>
                  </a:lnTo>
                  <a:lnTo>
                    <a:pt x="896936" y="754862"/>
                  </a:lnTo>
                  <a:lnTo>
                    <a:pt x="949304" y="777645"/>
                  </a:lnTo>
                  <a:lnTo>
                    <a:pt x="1000852" y="798040"/>
                  </a:lnTo>
                  <a:lnTo>
                    <a:pt x="1051547" y="816146"/>
                  </a:lnTo>
                  <a:lnTo>
                    <a:pt x="1101357" y="832062"/>
                  </a:lnTo>
                  <a:lnTo>
                    <a:pt x="1150249" y="845885"/>
                  </a:lnTo>
                  <a:lnTo>
                    <a:pt x="1198190" y="857713"/>
                  </a:lnTo>
                  <a:lnTo>
                    <a:pt x="1245148" y="867645"/>
                  </a:lnTo>
                  <a:lnTo>
                    <a:pt x="1291088" y="875780"/>
                  </a:lnTo>
                  <a:lnTo>
                    <a:pt x="1335980" y="882215"/>
                  </a:lnTo>
                  <a:lnTo>
                    <a:pt x="1379789" y="887050"/>
                  </a:lnTo>
                  <a:lnTo>
                    <a:pt x="1422483" y="890381"/>
                  </a:lnTo>
                  <a:lnTo>
                    <a:pt x="1464030" y="892307"/>
                  </a:lnTo>
                  <a:lnTo>
                    <a:pt x="1504396" y="892928"/>
                  </a:lnTo>
                  <a:lnTo>
                    <a:pt x="1546321" y="889307"/>
                  </a:lnTo>
                </a:path>
              </a:pathLst>
            </a:custGeom>
            <a:ln w="19049">
              <a:solidFill>
                <a:srgbClr val="2D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-9524" y="3112093"/>
            <a:ext cx="4572635" cy="2041525"/>
            <a:chOff x="-9524" y="3112093"/>
            <a:chExt cx="4572635" cy="2041525"/>
          </a:xfrm>
        </p:grpSpPr>
        <p:sp>
          <p:nvSpPr>
            <p:cNvPr id="16" name="object 16"/>
            <p:cNvSpPr/>
            <p:nvPr/>
          </p:nvSpPr>
          <p:spPr>
            <a:xfrm>
              <a:off x="0" y="3121618"/>
              <a:ext cx="2282190" cy="2022475"/>
            </a:xfrm>
            <a:custGeom>
              <a:avLst/>
              <a:gdLst/>
              <a:ahLst/>
              <a:cxnLst/>
              <a:rect l="l" t="t" r="r" b="b"/>
              <a:pathLst>
                <a:path w="2282190" h="2022475">
                  <a:moveTo>
                    <a:pt x="2281993" y="2021870"/>
                  </a:moveTo>
                  <a:lnTo>
                    <a:pt x="0" y="2021870"/>
                  </a:lnTo>
                  <a:lnTo>
                    <a:pt x="0" y="5893"/>
                  </a:lnTo>
                  <a:lnTo>
                    <a:pt x="108906" y="0"/>
                  </a:lnTo>
                  <a:lnTo>
                    <a:pt x="144399" y="529"/>
                  </a:lnTo>
                  <a:lnTo>
                    <a:pt x="219922" y="5144"/>
                  </a:lnTo>
                  <a:lnTo>
                    <a:pt x="259812" y="9484"/>
                  </a:lnTo>
                  <a:lnTo>
                    <a:pt x="301028" y="15348"/>
                  </a:lnTo>
                  <a:lnTo>
                    <a:pt x="343498" y="22863"/>
                  </a:lnTo>
                  <a:lnTo>
                    <a:pt x="387154" y="32156"/>
                  </a:lnTo>
                  <a:lnTo>
                    <a:pt x="431924" y="43354"/>
                  </a:lnTo>
                  <a:lnTo>
                    <a:pt x="477739" y="56583"/>
                  </a:lnTo>
                  <a:lnTo>
                    <a:pt x="524528" y="71971"/>
                  </a:lnTo>
                  <a:lnTo>
                    <a:pt x="572222" y="89645"/>
                  </a:lnTo>
                  <a:lnTo>
                    <a:pt x="620750" y="109731"/>
                  </a:lnTo>
                  <a:lnTo>
                    <a:pt x="670042" y="132357"/>
                  </a:lnTo>
                  <a:lnTo>
                    <a:pt x="720028" y="157649"/>
                  </a:lnTo>
                  <a:lnTo>
                    <a:pt x="770637" y="185735"/>
                  </a:lnTo>
                  <a:lnTo>
                    <a:pt x="821800" y="216741"/>
                  </a:lnTo>
                  <a:lnTo>
                    <a:pt x="873446" y="250794"/>
                  </a:lnTo>
                  <a:lnTo>
                    <a:pt x="925505" y="288021"/>
                  </a:lnTo>
                  <a:lnTo>
                    <a:pt x="977908" y="328549"/>
                  </a:lnTo>
                  <a:lnTo>
                    <a:pt x="1022951" y="365595"/>
                  </a:lnTo>
                  <a:lnTo>
                    <a:pt x="1065632" y="402424"/>
                  </a:lnTo>
                  <a:lnTo>
                    <a:pt x="1106064" y="439050"/>
                  </a:lnTo>
                  <a:lnTo>
                    <a:pt x="1144360" y="475490"/>
                  </a:lnTo>
                  <a:lnTo>
                    <a:pt x="1180631" y="511760"/>
                  </a:lnTo>
                  <a:lnTo>
                    <a:pt x="1214990" y="547876"/>
                  </a:lnTo>
                  <a:lnTo>
                    <a:pt x="1247548" y="583854"/>
                  </a:lnTo>
                  <a:lnTo>
                    <a:pt x="1278419" y="619710"/>
                  </a:lnTo>
                  <a:lnTo>
                    <a:pt x="1307715" y="655459"/>
                  </a:lnTo>
                  <a:lnTo>
                    <a:pt x="1335547" y="691118"/>
                  </a:lnTo>
                  <a:lnTo>
                    <a:pt x="1362029" y="726702"/>
                  </a:lnTo>
                  <a:lnTo>
                    <a:pt x="1387272" y="762228"/>
                  </a:lnTo>
                  <a:lnTo>
                    <a:pt x="1411389" y="797712"/>
                  </a:lnTo>
                  <a:lnTo>
                    <a:pt x="1434492" y="833169"/>
                  </a:lnTo>
                  <a:lnTo>
                    <a:pt x="1456693" y="868616"/>
                  </a:lnTo>
                  <a:lnTo>
                    <a:pt x="1478105" y="904068"/>
                  </a:lnTo>
                  <a:lnTo>
                    <a:pt x="1498840" y="939541"/>
                  </a:lnTo>
                  <a:lnTo>
                    <a:pt x="1519010" y="975051"/>
                  </a:lnTo>
                  <a:lnTo>
                    <a:pt x="1538728" y="1010615"/>
                  </a:lnTo>
                  <a:lnTo>
                    <a:pt x="1558105" y="1046248"/>
                  </a:lnTo>
                  <a:lnTo>
                    <a:pt x="1577255" y="1081966"/>
                  </a:lnTo>
                  <a:lnTo>
                    <a:pt x="1634459" y="1189791"/>
                  </a:lnTo>
                  <a:lnTo>
                    <a:pt x="1653820" y="1226009"/>
                  </a:lnTo>
                  <a:lnTo>
                    <a:pt x="1673514" y="1262392"/>
                  </a:lnTo>
                  <a:lnTo>
                    <a:pt x="1693655" y="1298956"/>
                  </a:lnTo>
                  <a:lnTo>
                    <a:pt x="1714353" y="1335717"/>
                  </a:lnTo>
                  <a:lnTo>
                    <a:pt x="1735722" y="1372691"/>
                  </a:lnTo>
                  <a:lnTo>
                    <a:pt x="1757874" y="1409893"/>
                  </a:lnTo>
                  <a:lnTo>
                    <a:pt x="1780921" y="1447340"/>
                  </a:lnTo>
                  <a:lnTo>
                    <a:pt x="1804975" y="1485048"/>
                  </a:lnTo>
                  <a:lnTo>
                    <a:pt x="1830148" y="1523032"/>
                  </a:lnTo>
                  <a:lnTo>
                    <a:pt x="1856554" y="1561309"/>
                  </a:lnTo>
                  <a:lnTo>
                    <a:pt x="1884304" y="1599895"/>
                  </a:lnTo>
                  <a:lnTo>
                    <a:pt x="1913510" y="1638805"/>
                  </a:lnTo>
                  <a:lnTo>
                    <a:pt x="1944285" y="1678055"/>
                  </a:lnTo>
                  <a:lnTo>
                    <a:pt x="1976741" y="1717661"/>
                  </a:lnTo>
                  <a:lnTo>
                    <a:pt x="2010991" y="1757640"/>
                  </a:lnTo>
                  <a:lnTo>
                    <a:pt x="2047146" y="1798008"/>
                  </a:lnTo>
                  <a:lnTo>
                    <a:pt x="2085319" y="1838779"/>
                  </a:lnTo>
                  <a:lnTo>
                    <a:pt x="2125623" y="1879971"/>
                  </a:lnTo>
                  <a:lnTo>
                    <a:pt x="2179908" y="1932555"/>
                  </a:lnTo>
                  <a:lnTo>
                    <a:pt x="2233296" y="1980848"/>
                  </a:lnTo>
                  <a:lnTo>
                    <a:pt x="2281993" y="2021870"/>
                  </a:lnTo>
                  <a:close/>
                </a:path>
              </a:pathLst>
            </a:custGeom>
            <a:solidFill>
              <a:srgbClr val="8789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3121618"/>
              <a:ext cx="109220" cy="6350"/>
            </a:xfrm>
            <a:custGeom>
              <a:avLst/>
              <a:gdLst/>
              <a:ahLst/>
              <a:cxnLst/>
              <a:rect l="l" t="t" r="r" b="b"/>
              <a:pathLst>
                <a:path w="109220" h="6350">
                  <a:moveTo>
                    <a:pt x="-9524" y="2946"/>
                  </a:moveTo>
                  <a:lnTo>
                    <a:pt x="118431" y="2946"/>
                  </a:lnTo>
                </a:path>
              </a:pathLst>
            </a:custGeom>
            <a:ln w="24943">
              <a:solidFill>
                <a:srgbClr val="2D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8906" y="3121618"/>
              <a:ext cx="2173605" cy="2022475"/>
            </a:xfrm>
            <a:custGeom>
              <a:avLst/>
              <a:gdLst/>
              <a:ahLst/>
              <a:cxnLst/>
              <a:rect l="l" t="t" r="r" b="b"/>
              <a:pathLst>
                <a:path w="2173605" h="2022475">
                  <a:moveTo>
                    <a:pt x="2173087" y="2021870"/>
                  </a:moveTo>
                  <a:lnTo>
                    <a:pt x="2124390" y="1980847"/>
                  </a:lnTo>
                  <a:lnTo>
                    <a:pt x="2071002" y="1932555"/>
                  </a:lnTo>
                  <a:lnTo>
                    <a:pt x="2016717" y="1879971"/>
                  </a:lnTo>
                  <a:lnTo>
                    <a:pt x="1976413" y="1838779"/>
                  </a:lnTo>
                  <a:lnTo>
                    <a:pt x="1938240" y="1798008"/>
                  </a:lnTo>
                  <a:lnTo>
                    <a:pt x="1902085" y="1757640"/>
                  </a:lnTo>
                  <a:lnTo>
                    <a:pt x="1867835" y="1717661"/>
                  </a:lnTo>
                  <a:lnTo>
                    <a:pt x="1835379" y="1678055"/>
                  </a:lnTo>
                  <a:lnTo>
                    <a:pt x="1804604" y="1638805"/>
                  </a:lnTo>
                  <a:lnTo>
                    <a:pt x="1775398" y="1599895"/>
                  </a:lnTo>
                  <a:lnTo>
                    <a:pt x="1747648" y="1561309"/>
                  </a:lnTo>
                  <a:lnTo>
                    <a:pt x="1721242" y="1523032"/>
                  </a:lnTo>
                  <a:lnTo>
                    <a:pt x="1696069" y="1485048"/>
                  </a:lnTo>
                  <a:lnTo>
                    <a:pt x="1672015" y="1447340"/>
                  </a:lnTo>
                  <a:lnTo>
                    <a:pt x="1648968" y="1409893"/>
                  </a:lnTo>
                  <a:lnTo>
                    <a:pt x="1626816" y="1372691"/>
                  </a:lnTo>
                  <a:lnTo>
                    <a:pt x="1605447" y="1335717"/>
                  </a:lnTo>
                  <a:lnTo>
                    <a:pt x="1584749" y="1298956"/>
                  </a:lnTo>
                  <a:lnTo>
                    <a:pt x="1564608" y="1262392"/>
                  </a:lnTo>
                  <a:lnTo>
                    <a:pt x="1544914" y="1226009"/>
                  </a:lnTo>
                  <a:lnTo>
                    <a:pt x="1525553" y="1189791"/>
                  </a:lnTo>
                  <a:lnTo>
                    <a:pt x="1506413" y="1153722"/>
                  </a:lnTo>
                  <a:lnTo>
                    <a:pt x="1487383" y="1117785"/>
                  </a:lnTo>
                  <a:lnTo>
                    <a:pt x="1468349" y="1081966"/>
                  </a:lnTo>
                  <a:lnTo>
                    <a:pt x="1449199" y="1046248"/>
                  </a:lnTo>
                  <a:lnTo>
                    <a:pt x="1429822" y="1010615"/>
                  </a:lnTo>
                  <a:lnTo>
                    <a:pt x="1410104" y="975051"/>
                  </a:lnTo>
                  <a:lnTo>
                    <a:pt x="1389934" y="939541"/>
                  </a:lnTo>
                  <a:lnTo>
                    <a:pt x="1369199" y="904068"/>
                  </a:lnTo>
                  <a:lnTo>
                    <a:pt x="1347787" y="868616"/>
                  </a:lnTo>
                  <a:lnTo>
                    <a:pt x="1325586" y="833169"/>
                  </a:lnTo>
                  <a:lnTo>
                    <a:pt x="1302483" y="797712"/>
                  </a:lnTo>
                  <a:lnTo>
                    <a:pt x="1278366" y="762228"/>
                  </a:lnTo>
                  <a:lnTo>
                    <a:pt x="1253123" y="726702"/>
                  </a:lnTo>
                  <a:lnTo>
                    <a:pt x="1226641" y="691118"/>
                  </a:lnTo>
                  <a:lnTo>
                    <a:pt x="1198809" y="655459"/>
                  </a:lnTo>
                  <a:lnTo>
                    <a:pt x="1169513" y="619710"/>
                  </a:lnTo>
                  <a:lnTo>
                    <a:pt x="1138642" y="583854"/>
                  </a:lnTo>
                  <a:lnTo>
                    <a:pt x="1106084" y="547876"/>
                  </a:lnTo>
                  <a:lnTo>
                    <a:pt x="1071725" y="511760"/>
                  </a:lnTo>
                  <a:lnTo>
                    <a:pt x="1035454" y="475490"/>
                  </a:lnTo>
                  <a:lnTo>
                    <a:pt x="997158" y="439050"/>
                  </a:lnTo>
                  <a:lnTo>
                    <a:pt x="956726" y="402424"/>
                  </a:lnTo>
                  <a:lnTo>
                    <a:pt x="914044" y="365595"/>
                  </a:lnTo>
                  <a:lnTo>
                    <a:pt x="869001" y="328549"/>
                  </a:lnTo>
                  <a:lnTo>
                    <a:pt x="816599" y="288021"/>
                  </a:lnTo>
                  <a:lnTo>
                    <a:pt x="764540" y="250794"/>
                  </a:lnTo>
                  <a:lnTo>
                    <a:pt x="712894" y="216741"/>
                  </a:lnTo>
                  <a:lnTo>
                    <a:pt x="661731" y="185735"/>
                  </a:lnTo>
                  <a:lnTo>
                    <a:pt x="611121" y="157649"/>
                  </a:lnTo>
                  <a:lnTo>
                    <a:pt x="561136" y="132357"/>
                  </a:lnTo>
                  <a:lnTo>
                    <a:pt x="511844" y="109731"/>
                  </a:lnTo>
                  <a:lnTo>
                    <a:pt x="463316" y="89645"/>
                  </a:lnTo>
                  <a:lnTo>
                    <a:pt x="415622" y="71971"/>
                  </a:lnTo>
                  <a:lnTo>
                    <a:pt x="368833" y="56583"/>
                  </a:lnTo>
                  <a:lnTo>
                    <a:pt x="323018" y="43354"/>
                  </a:lnTo>
                  <a:lnTo>
                    <a:pt x="278248" y="32156"/>
                  </a:lnTo>
                  <a:lnTo>
                    <a:pt x="234592" y="22863"/>
                  </a:lnTo>
                  <a:lnTo>
                    <a:pt x="192122" y="15348"/>
                  </a:lnTo>
                  <a:lnTo>
                    <a:pt x="150906" y="9484"/>
                  </a:lnTo>
                  <a:lnTo>
                    <a:pt x="111016" y="5144"/>
                  </a:lnTo>
                  <a:lnTo>
                    <a:pt x="72522" y="2201"/>
                  </a:lnTo>
                  <a:lnTo>
                    <a:pt x="35493" y="529"/>
                  </a:lnTo>
                  <a:lnTo>
                    <a:pt x="0" y="0"/>
                  </a:lnTo>
                </a:path>
              </a:pathLst>
            </a:custGeom>
            <a:ln w="19049">
              <a:solidFill>
                <a:srgbClr val="2D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0" y="3408968"/>
              <a:ext cx="4562565" cy="173452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/>
          <p:nvPr/>
        </p:nvSpPr>
        <p:spPr>
          <a:xfrm>
            <a:off x="0" y="0"/>
            <a:ext cx="1613146" cy="16338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1" name="object 21"/>
          <p:cNvGrpSpPr/>
          <p:nvPr/>
        </p:nvGrpSpPr>
        <p:grpSpPr>
          <a:xfrm>
            <a:off x="852748" y="3313918"/>
            <a:ext cx="629285" cy="629285"/>
            <a:chOff x="852748" y="3313918"/>
            <a:chExt cx="629285" cy="629285"/>
          </a:xfrm>
        </p:grpSpPr>
        <p:sp>
          <p:nvSpPr>
            <p:cNvPr id="22" name="object 22"/>
            <p:cNvSpPr/>
            <p:nvPr/>
          </p:nvSpPr>
          <p:spPr>
            <a:xfrm>
              <a:off x="862273" y="3323443"/>
              <a:ext cx="610235" cy="610235"/>
            </a:xfrm>
            <a:custGeom>
              <a:avLst/>
              <a:gdLst/>
              <a:ahLst/>
              <a:cxnLst/>
              <a:rect l="l" t="t" r="r" b="b"/>
              <a:pathLst>
                <a:path w="610235" h="610235">
                  <a:moveTo>
                    <a:pt x="305099" y="610198"/>
                  </a:moveTo>
                  <a:lnTo>
                    <a:pt x="255544" y="606204"/>
                  </a:lnTo>
                  <a:lnTo>
                    <a:pt x="208559" y="594642"/>
                  </a:lnTo>
                  <a:lnTo>
                    <a:pt x="164768" y="576139"/>
                  </a:lnTo>
                  <a:lnTo>
                    <a:pt x="124793" y="551324"/>
                  </a:lnTo>
                  <a:lnTo>
                    <a:pt x="89259" y="520827"/>
                  </a:lnTo>
                  <a:lnTo>
                    <a:pt x="58787" y="485275"/>
                  </a:lnTo>
                  <a:lnTo>
                    <a:pt x="34003" y="445298"/>
                  </a:lnTo>
                  <a:lnTo>
                    <a:pt x="15527" y="401523"/>
                  </a:lnTo>
                  <a:lnTo>
                    <a:pt x="3985" y="354581"/>
                  </a:lnTo>
                  <a:lnTo>
                    <a:pt x="0" y="305099"/>
                  </a:lnTo>
                  <a:lnTo>
                    <a:pt x="3985" y="255617"/>
                  </a:lnTo>
                  <a:lnTo>
                    <a:pt x="15527" y="208674"/>
                  </a:lnTo>
                  <a:lnTo>
                    <a:pt x="34003" y="164900"/>
                  </a:lnTo>
                  <a:lnTo>
                    <a:pt x="58787" y="124923"/>
                  </a:lnTo>
                  <a:lnTo>
                    <a:pt x="89259" y="89371"/>
                  </a:lnTo>
                  <a:lnTo>
                    <a:pt x="124793" y="58874"/>
                  </a:lnTo>
                  <a:lnTo>
                    <a:pt x="164768" y="34059"/>
                  </a:lnTo>
                  <a:lnTo>
                    <a:pt x="208559" y="15556"/>
                  </a:lnTo>
                  <a:lnTo>
                    <a:pt x="255544" y="3993"/>
                  </a:lnTo>
                  <a:lnTo>
                    <a:pt x="305099" y="0"/>
                  </a:lnTo>
                  <a:lnTo>
                    <a:pt x="354581" y="3993"/>
                  </a:lnTo>
                  <a:lnTo>
                    <a:pt x="401523" y="15556"/>
                  </a:lnTo>
                  <a:lnTo>
                    <a:pt x="445298" y="34059"/>
                  </a:lnTo>
                  <a:lnTo>
                    <a:pt x="485275" y="58874"/>
                  </a:lnTo>
                  <a:lnTo>
                    <a:pt x="520827" y="89371"/>
                  </a:lnTo>
                  <a:lnTo>
                    <a:pt x="551324" y="124923"/>
                  </a:lnTo>
                  <a:lnTo>
                    <a:pt x="576139" y="164900"/>
                  </a:lnTo>
                  <a:lnTo>
                    <a:pt x="594642" y="208674"/>
                  </a:lnTo>
                  <a:lnTo>
                    <a:pt x="606204" y="255617"/>
                  </a:lnTo>
                  <a:lnTo>
                    <a:pt x="610198" y="305099"/>
                  </a:lnTo>
                  <a:lnTo>
                    <a:pt x="606204" y="354581"/>
                  </a:lnTo>
                  <a:lnTo>
                    <a:pt x="594642" y="401523"/>
                  </a:lnTo>
                  <a:lnTo>
                    <a:pt x="576139" y="445298"/>
                  </a:lnTo>
                  <a:lnTo>
                    <a:pt x="551324" y="485275"/>
                  </a:lnTo>
                  <a:lnTo>
                    <a:pt x="520827" y="520827"/>
                  </a:lnTo>
                  <a:lnTo>
                    <a:pt x="485275" y="551324"/>
                  </a:lnTo>
                  <a:lnTo>
                    <a:pt x="445298" y="576139"/>
                  </a:lnTo>
                  <a:lnTo>
                    <a:pt x="401523" y="594642"/>
                  </a:lnTo>
                  <a:lnTo>
                    <a:pt x="354581" y="606204"/>
                  </a:lnTo>
                  <a:lnTo>
                    <a:pt x="305099" y="610198"/>
                  </a:lnTo>
                  <a:close/>
                </a:path>
              </a:pathLst>
            </a:custGeom>
            <a:solidFill>
              <a:srgbClr val="BCDA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62273" y="3323443"/>
              <a:ext cx="610235" cy="610235"/>
            </a:xfrm>
            <a:custGeom>
              <a:avLst/>
              <a:gdLst/>
              <a:ahLst/>
              <a:cxnLst/>
              <a:rect l="l" t="t" r="r" b="b"/>
              <a:pathLst>
                <a:path w="610235" h="610235">
                  <a:moveTo>
                    <a:pt x="305099" y="0"/>
                  </a:moveTo>
                  <a:lnTo>
                    <a:pt x="255544" y="3993"/>
                  </a:lnTo>
                  <a:lnTo>
                    <a:pt x="208559" y="15556"/>
                  </a:lnTo>
                  <a:lnTo>
                    <a:pt x="164768" y="34059"/>
                  </a:lnTo>
                  <a:lnTo>
                    <a:pt x="124793" y="58874"/>
                  </a:lnTo>
                  <a:lnTo>
                    <a:pt x="89259" y="89371"/>
                  </a:lnTo>
                  <a:lnTo>
                    <a:pt x="58787" y="124923"/>
                  </a:lnTo>
                  <a:lnTo>
                    <a:pt x="34003" y="164900"/>
                  </a:lnTo>
                  <a:lnTo>
                    <a:pt x="15527" y="208674"/>
                  </a:lnTo>
                  <a:lnTo>
                    <a:pt x="3985" y="255617"/>
                  </a:lnTo>
                  <a:lnTo>
                    <a:pt x="0" y="305099"/>
                  </a:lnTo>
                  <a:lnTo>
                    <a:pt x="3985" y="354581"/>
                  </a:lnTo>
                  <a:lnTo>
                    <a:pt x="15527" y="401523"/>
                  </a:lnTo>
                  <a:lnTo>
                    <a:pt x="34003" y="445298"/>
                  </a:lnTo>
                  <a:lnTo>
                    <a:pt x="58787" y="485275"/>
                  </a:lnTo>
                  <a:lnTo>
                    <a:pt x="89259" y="520827"/>
                  </a:lnTo>
                  <a:lnTo>
                    <a:pt x="124793" y="551324"/>
                  </a:lnTo>
                  <a:lnTo>
                    <a:pt x="164768" y="576139"/>
                  </a:lnTo>
                  <a:lnTo>
                    <a:pt x="208559" y="594642"/>
                  </a:lnTo>
                  <a:lnTo>
                    <a:pt x="255544" y="606204"/>
                  </a:lnTo>
                  <a:lnTo>
                    <a:pt x="305099" y="610198"/>
                  </a:lnTo>
                  <a:lnTo>
                    <a:pt x="354581" y="606204"/>
                  </a:lnTo>
                  <a:lnTo>
                    <a:pt x="401523" y="594642"/>
                  </a:lnTo>
                  <a:lnTo>
                    <a:pt x="445298" y="576139"/>
                  </a:lnTo>
                  <a:lnTo>
                    <a:pt x="485275" y="551324"/>
                  </a:lnTo>
                  <a:lnTo>
                    <a:pt x="520827" y="520827"/>
                  </a:lnTo>
                  <a:lnTo>
                    <a:pt x="551324" y="485275"/>
                  </a:lnTo>
                  <a:lnTo>
                    <a:pt x="576139" y="445298"/>
                  </a:lnTo>
                  <a:lnTo>
                    <a:pt x="594642" y="401523"/>
                  </a:lnTo>
                  <a:lnTo>
                    <a:pt x="606204" y="354581"/>
                  </a:lnTo>
                  <a:lnTo>
                    <a:pt x="610198" y="305099"/>
                  </a:lnTo>
                  <a:lnTo>
                    <a:pt x="606204" y="255617"/>
                  </a:lnTo>
                  <a:lnTo>
                    <a:pt x="594642" y="208674"/>
                  </a:lnTo>
                  <a:lnTo>
                    <a:pt x="576139" y="164900"/>
                  </a:lnTo>
                  <a:lnTo>
                    <a:pt x="551324" y="124923"/>
                  </a:lnTo>
                  <a:lnTo>
                    <a:pt x="520827" y="89371"/>
                  </a:lnTo>
                  <a:lnTo>
                    <a:pt x="485275" y="58874"/>
                  </a:lnTo>
                  <a:lnTo>
                    <a:pt x="445298" y="34059"/>
                  </a:lnTo>
                  <a:lnTo>
                    <a:pt x="401523" y="15556"/>
                  </a:lnTo>
                  <a:lnTo>
                    <a:pt x="354581" y="3993"/>
                  </a:lnTo>
                  <a:lnTo>
                    <a:pt x="305099" y="0"/>
                  </a:lnTo>
                  <a:close/>
                </a:path>
              </a:pathLst>
            </a:custGeom>
            <a:ln w="19049">
              <a:solidFill>
                <a:srgbClr val="2D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xfrm>
            <a:off x="1407822" y="1556196"/>
            <a:ext cx="6515734" cy="1712595"/>
          </a:xfrm>
          <a:prstGeom prst="rect">
            <a:avLst/>
          </a:prstGeom>
          <a:solidFill>
            <a:srgbClr val="EDF7EF"/>
          </a:solidFill>
          <a:ln w="19049">
            <a:solidFill>
              <a:srgbClr val="2D3F3F"/>
            </a:solidFill>
          </a:ln>
        </p:spPr>
        <p:txBody>
          <a:bodyPr vert="horz" wrap="square" lIns="0" tIns="286385" rIns="0" bIns="0" rtlCol="0">
            <a:spAutoFit/>
          </a:bodyPr>
          <a:lstStyle/>
          <a:p>
            <a:pPr marL="227965" marR="330835">
              <a:lnSpc>
                <a:spcPts val="5020"/>
              </a:lnSpc>
              <a:spcBef>
                <a:spcPts val="2255"/>
              </a:spcBef>
            </a:pPr>
            <a:r>
              <a:rPr sz="5200" spc="-40" dirty="0"/>
              <a:t>DISTRIBUCIONES  </a:t>
            </a:r>
            <a:r>
              <a:rPr sz="5200" spc="-135" dirty="0"/>
              <a:t>DE</a:t>
            </a:r>
            <a:r>
              <a:rPr sz="5200" spc="-290" dirty="0"/>
              <a:t> </a:t>
            </a:r>
            <a:r>
              <a:rPr sz="5200" spc="-105" dirty="0"/>
              <a:t>PROBABILIDAD</a:t>
            </a:r>
            <a:endParaRPr sz="5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1923" y="479325"/>
            <a:ext cx="373887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RECOMMENDATIONS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977988" y="2366525"/>
            <a:ext cx="1704339" cy="126365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17500" indent="-305435">
              <a:lnSpc>
                <a:spcPct val="100000"/>
              </a:lnSpc>
              <a:spcBef>
                <a:spcPts val="370"/>
              </a:spcBef>
              <a:buClr>
                <a:srgbClr val="87897C"/>
              </a:buClr>
              <a:buSzPct val="71428"/>
              <a:buChar char="●"/>
              <a:tabLst>
                <a:tab pos="317500" algn="l"/>
                <a:tab pos="318135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-Uniforme</a:t>
            </a:r>
            <a:endParaRPr sz="1400">
              <a:latin typeface="Arial"/>
              <a:cs typeface="Arial"/>
            </a:endParaRPr>
          </a:p>
          <a:p>
            <a:pPr marL="317500" indent="-305435">
              <a:lnSpc>
                <a:spcPct val="100000"/>
              </a:lnSpc>
              <a:spcBef>
                <a:spcPts val="270"/>
              </a:spcBef>
              <a:buClr>
                <a:srgbClr val="87897C"/>
              </a:buClr>
              <a:buSzPct val="71428"/>
              <a:buChar char="●"/>
              <a:tabLst>
                <a:tab pos="317500" algn="l"/>
                <a:tab pos="318135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-Gamma</a:t>
            </a:r>
            <a:endParaRPr sz="1400">
              <a:latin typeface="Arial"/>
              <a:cs typeface="Arial"/>
            </a:endParaRPr>
          </a:p>
          <a:p>
            <a:pPr marL="317500" indent="-305435">
              <a:lnSpc>
                <a:spcPct val="100000"/>
              </a:lnSpc>
              <a:spcBef>
                <a:spcPts val="270"/>
              </a:spcBef>
              <a:buClr>
                <a:srgbClr val="87897C"/>
              </a:buClr>
              <a:buSzPct val="71428"/>
              <a:buChar char="●"/>
              <a:tabLst>
                <a:tab pos="317500" algn="l"/>
                <a:tab pos="318135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-Exponencial</a:t>
            </a:r>
            <a:endParaRPr sz="1400">
              <a:latin typeface="Arial"/>
              <a:cs typeface="Arial"/>
            </a:endParaRPr>
          </a:p>
          <a:p>
            <a:pPr marL="317500" indent="-305435">
              <a:lnSpc>
                <a:spcPct val="100000"/>
              </a:lnSpc>
              <a:spcBef>
                <a:spcPts val="270"/>
              </a:spcBef>
              <a:buClr>
                <a:srgbClr val="87897C"/>
              </a:buClr>
              <a:buSzPct val="71428"/>
              <a:buChar char="●"/>
              <a:tabLst>
                <a:tab pos="317500" algn="l"/>
                <a:tab pos="318135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sz="1400" b="1" spc="-5" dirty="0">
                <a:solidFill>
                  <a:srgbClr val="595959"/>
                </a:solidFill>
                <a:latin typeface="Arial"/>
                <a:cs typeface="Arial"/>
              </a:rPr>
              <a:t>Normal</a:t>
            </a:r>
            <a:endParaRPr sz="1400">
              <a:latin typeface="Arial"/>
              <a:cs typeface="Arial"/>
            </a:endParaRPr>
          </a:p>
          <a:p>
            <a:pPr marL="317500" indent="-305435">
              <a:lnSpc>
                <a:spcPct val="100000"/>
              </a:lnSpc>
              <a:spcBef>
                <a:spcPts val="270"/>
              </a:spcBef>
              <a:buClr>
                <a:srgbClr val="87897C"/>
              </a:buClr>
              <a:buSzPct val="71428"/>
              <a:buChar char="●"/>
              <a:tabLst>
                <a:tab pos="317500" algn="l"/>
                <a:tab pos="318135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-Normal</a:t>
            </a:r>
            <a:r>
              <a:rPr sz="14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estándar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3023" y="1476965"/>
            <a:ext cx="2118995" cy="1953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15" dirty="0">
                <a:solidFill>
                  <a:srgbClr val="2D3F3F"/>
                </a:solidFill>
                <a:latin typeface="Arial"/>
                <a:cs typeface="Arial"/>
              </a:rPr>
              <a:t>Distribución</a:t>
            </a:r>
            <a:r>
              <a:rPr sz="1600" b="1" spc="-145" dirty="0">
                <a:solidFill>
                  <a:srgbClr val="2D3F3F"/>
                </a:solidFill>
                <a:latin typeface="Arial"/>
                <a:cs typeface="Arial"/>
              </a:rPr>
              <a:t> </a:t>
            </a:r>
            <a:r>
              <a:rPr sz="1600" b="1" spc="25" dirty="0">
                <a:solidFill>
                  <a:srgbClr val="2D3F3F"/>
                </a:solidFill>
                <a:latin typeface="Arial"/>
                <a:cs typeface="Arial"/>
              </a:rPr>
              <a:t>Discreta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900">
              <a:latin typeface="Arial"/>
              <a:cs typeface="Arial"/>
            </a:endParaRPr>
          </a:p>
          <a:p>
            <a:pPr marL="469900" indent="-305435">
              <a:lnSpc>
                <a:spcPct val="100000"/>
              </a:lnSpc>
              <a:spcBef>
                <a:spcPts val="1595"/>
              </a:spcBef>
              <a:buClr>
                <a:srgbClr val="87897C"/>
              </a:buClr>
              <a:buSzPct val="71428"/>
              <a:buChar char="●"/>
              <a:tabLst>
                <a:tab pos="469265" algn="l"/>
                <a:tab pos="4699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Prueba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Bernoulli</a:t>
            </a:r>
            <a:endParaRPr sz="1400">
              <a:latin typeface="Arial"/>
              <a:cs typeface="Arial"/>
            </a:endParaRPr>
          </a:p>
          <a:p>
            <a:pPr marL="469900" indent="-305435">
              <a:lnSpc>
                <a:spcPct val="100000"/>
              </a:lnSpc>
              <a:spcBef>
                <a:spcPts val="270"/>
              </a:spcBef>
              <a:buClr>
                <a:srgbClr val="87897C"/>
              </a:buClr>
              <a:buSzPct val="71428"/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400" b="1" spc="-5" dirty="0">
                <a:solidFill>
                  <a:srgbClr val="595959"/>
                </a:solidFill>
                <a:latin typeface="Arial"/>
                <a:cs typeface="Arial"/>
              </a:rPr>
              <a:t>Binomial</a:t>
            </a:r>
            <a:endParaRPr sz="1400">
              <a:latin typeface="Arial"/>
              <a:cs typeface="Arial"/>
            </a:endParaRPr>
          </a:p>
          <a:p>
            <a:pPr marL="469900" indent="-305435">
              <a:lnSpc>
                <a:spcPct val="100000"/>
              </a:lnSpc>
              <a:spcBef>
                <a:spcPts val="270"/>
              </a:spcBef>
              <a:buClr>
                <a:srgbClr val="87897C"/>
              </a:buClr>
              <a:buSzPct val="71428"/>
              <a:buChar char="●"/>
              <a:tabLst>
                <a:tab pos="469265" algn="l"/>
                <a:tab pos="4699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Poisson</a:t>
            </a:r>
            <a:endParaRPr sz="1400">
              <a:latin typeface="Arial"/>
              <a:cs typeface="Arial"/>
            </a:endParaRPr>
          </a:p>
          <a:p>
            <a:pPr marL="469900" indent="-305435">
              <a:lnSpc>
                <a:spcPct val="100000"/>
              </a:lnSpc>
              <a:spcBef>
                <a:spcPts val="270"/>
              </a:spcBef>
              <a:buClr>
                <a:srgbClr val="87897C"/>
              </a:buClr>
              <a:buSzPct val="71428"/>
              <a:buChar char="●"/>
              <a:tabLst>
                <a:tab pos="469265" algn="l"/>
                <a:tab pos="4699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Geométrica</a:t>
            </a:r>
            <a:endParaRPr sz="1400">
              <a:latin typeface="Arial"/>
              <a:cs typeface="Arial"/>
            </a:endParaRPr>
          </a:p>
          <a:p>
            <a:pPr marL="469900" indent="-305435">
              <a:lnSpc>
                <a:spcPct val="100000"/>
              </a:lnSpc>
              <a:spcBef>
                <a:spcPts val="270"/>
              </a:spcBef>
              <a:buClr>
                <a:srgbClr val="87897C"/>
              </a:buClr>
              <a:buSzPct val="71428"/>
              <a:buChar char="●"/>
              <a:tabLst>
                <a:tab pos="469265" algn="l"/>
                <a:tab pos="4699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Hipergeométrica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26066" y="1476965"/>
            <a:ext cx="219519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15" dirty="0">
                <a:solidFill>
                  <a:srgbClr val="2D3F3F"/>
                </a:solidFill>
                <a:latin typeface="Arial"/>
                <a:cs typeface="Arial"/>
              </a:rPr>
              <a:t>Distribución</a:t>
            </a:r>
            <a:r>
              <a:rPr sz="1600" b="1" spc="-130" dirty="0">
                <a:solidFill>
                  <a:srgbClr val="2D3F3F"/>
                </a:solidFill>
                <a:latin typeface="Arial"/>
                <a:cs typeface="Arial"/>
              </a:rPr>
              <a:t> </a:t>
            </a:r>
            <a:r>
              <a:rPr sz="1600" b="1" spc="20" dirty="0">
                <a:solidFill>
                  <a:srgbClr val="2D3F3F"/>
                </a:solidFill>
                <a:latin typeface="Arial"/>
                <a:cs typeface="Arial"/>
              </a:rPr>
              <a:t>Continua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81" y="5143489"/>
                </a:moveTo>
                <a:lnTo>
                  <a:pt x="0" y="5143489"/>
                </a:lnTo>
                <a:lnTo>
                  <a:pt x="0" y="0"/>
                </a:lnTo>
                <a:lnTo>
                  <a:pt x="9143981" y="0"/>
                </a:lnTo>
                <a:lnTo>
                  <a:pt x="9143981" y="5143489"/>
                </a:lnTo>
                <a:close/>
              </a:path>
            </a:pathLst>
          </a:custGeom>
          <a:solidFill>
            <a:srgbClr val="EDF7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65049" y="303149"/>
            <a:ext cx="8614410" cy="4537710"/>
          </a:xfrm>
          <a:custGeom>
            <a:avLst/>
            <a:gdLst/>
            <a:ahLst/>
            <a:cxnLst/>
            <a:rect l="l" t="t" r="r" b="b"/>
            <a:pathLst>
              <a:path w="8614410" h="4537710">
                <a:moveTo>
                  <a:pt x="0" y="0"/>
                </a:moveTo>
                <a:lnTo>
                  <a:pt x="8613882" y="0"/>
                </a:lnTo>
                <a:lnTo>
                  <a:pt x="8613882" y="4537190"/>
                </a:lnTo>
                <a:lnTo>
                  <a:pt x="0" y="4537190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2D3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8230133" y="0"/>
            <a:ext cx="923925" cy="1058545"/>
            <a:chOff x="8230133" y="0"/>
            <a:chExt cx="923925" cy="1058545"/>
          </a:xfrm>
        </p:grpSpPr>
        <p:sp>
          <p:nvSpPr>
            <p:cNvPr id="5" name="object 5"/>
            <p:cNvSpPr/>
            <p:nvPr/>
          </p:nvSpPr>
          <p:spPr>
            <a:xfrm>
              <a:off x="8239658" y="0"/>
              <a:ext cx="904875" cy="1039494"/>
            </a:xfrm>
            <a:custGeom>
              <a:avLst/>
              <a:gdLst/>
              <a:ahLst/>
              <a:cxnLst/>
              <a:rect l="l" t="t" r="r" b="b"/>
              <a:pathLst>
                <a:path w="904875" h="1039494">
                  <a:moveTo>
                    <a:pt x="609998" y="1038880"/>
                  </a:moveTo>
                  <a:lnTo>
                    <a:pt x="562313" y="1037046"/>
                  </a:lnTo>
                  <a:lnTo>
                    <a:pt x="515635" y="1031633"/>
                  </a:lnTo>
                  <a:lnTo>
                    <a:pt x="470098" y="1022776"/>
                  </a:lnTo>
                  <a:lnTo>
                    <a:pt x="425838" y="1010612"/>
                  </a:lnTo>
                  <a:lnTo>
                    <a:pt x="382990" y="995276"/>
                  </a:lnTo>
                  <a:lnTo>
                    <a:pt x="341690" y="976902"/>
                  </a:lnTo>
                  <a:lnTo>
                    <a:pt x="302073" y="955626"/>
                  </a:lnTo>
                  <a:lnTo>
                    <a:pt x="264275" y="931584"/>
                  </a:lnTo>
                  <a:lnTo>
                    <a:pt x="228431" y="904911"/>
                  </a:lnTo>
                  <a:lnTo>
                    <a:pt x="194676" y="875742"/>
                  </a:lnTo>
                  <a:lnTo>
                    <a:pt x="163146" y="844213"/>
                  </a:lnTo>
                  <a:lnTo>
                    <a:pt x="133976" y="810459"/>
                  </a:lnTo>
                  <a:lnTo>
                    <a:pt x="107302" y="774615"/>
                  </a:lnTo>
                  <a:lnTo>
                    <a:pt x="83259" y="736817"/>
                  </a:lnTo>
                  <a:lnTo>
                    <a:pt x="61982" y="697200"/>
                  </a:lnTo>
                  <a:lnTo>
                    <a:pt x="43607" y="655899"/>
                  </a:lnTo>
                  <a:lnTo>
                    <a:pt x="28269" y="613050"/>
                  </a:lnTo>
                  <a:lnTo>
                    <a:pt x="16104" y="568788"/>
                  </a:lnTo>
                  <a:lnTo>
                    <a:pt x="7248" y="523249"/>
                  </a:lnTo>
                  <a:lnTo>
                    <a:pt x="1834" y="476567"/>
                  </a:lnTo>
                  <a:lnTo>
                    <a:pt x="0" y="428879"/>
                  </a:lnTo>
                  <a:lnTo>
                    <a:pt x="1834" y="381234"/>
                  </a:lnTo>
                  <a:lnTo>
                    <a:pt x="7248" y="334592"/>
                  </a:lnTo>
                  <a:lnTo>
                    <a:pt x="16104" y="289087"/>
                  </a:lnTo>
                  <a:lnTo>
                    <a:pt x="28269" y="244857"/>
                  </a:lnTo>
                  <a:lnTo>
                    <a:pt x="43607" y="202035"/>
                  </a:lnTo>
                  <a:lnTo>
                    <a:pt x="61982" y="160758"/>
                  </a:lnTo>
                  <a:lnTo>
                    <a:pt x="83259" y="121161"/>
                  </a:lnTo>
                  <a:lnTo>
                    <a:pt x="107302" y="83381"/>
                  </a:lnTo>
                  <a:lnTo>
                    <a:pt x="133976" y="47552"/>
                  </a:lnTo>
                  <a:lnTo>
                    <a:pt x="163146" y="13809"/>
                  </a:lnTo>
                  <a:lnTo>
                    <a:pt x="904322" y="0"/>
                  </a:lnTo>
                  <a:lnTo>
                    <a:pt x="904322" y="962830"/>
                  </a:lnTo>
                  <a:lnTo>
                    <a:pt x="836853" y="995276"/>
                  </a:lnTo>
                  <a:lnTo>
                    <a:pt x="794030" y="1010612"/>
                  </a:lnTo>
                  <a:lnTo>
                    <a:pt x="749797" y="1022776"/>
                  </a:lnTo>
                  <a:lnTo>
                    <a:pt x="704290" y="1031633"/>
                  </a:lnTo>
                  <a:lnTo>
                    <a:pt x="657646" y="1037046"/>
                  </a:lnTo>
                  <a:lnTo>
                    <a:pt x="609998" y="1038880"/>
                  </a:lnTo>
                  <a:close/>
                </a:path>
              </a:pathLst>
            </a:custGeom>
            <a:solidFill>
              <a:srgbClr val="8789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239658" y="0"/>
              <a:ext cx="904875" cy="1039494"/>
            </a:xfrm>
            <a:custGeom>
              <a:avLst/>
              <a:gdLst/>
              <a:ahLst/>
              <a:cxnLst/>
              <a:rect l="l" t="t" r="r" b="b"/>
              <a:pathLst>
                <a:path w="904875" h="1039494">
                  <a:moveTo>
                    <a:pt x="176960" y="0"/>
                  </a:moveTo>
                  <a:lnTo>
                    <a:pt x="133976" y="47552"/>
                  </a:lnTo>
                  <a:lnTo>
                    <a:pt x="107302" y="83381"/>
                  </a:lnTo>
                  <a:lnTo>
                    <a:pt x="83259" y="121161"/>
                  </a:lnTo>
                  <a:lnTo>
                    <a:pt x="61982" y="160758"/>
                  </a:lnTo>
                  <a:lnTo>
                    <a:pt x="43607" y="202035"/>
                  </a:lnTo>
                  <a:lnTo>
                    <a:pt x="28269" y="244857"/>
                  </a:lnTo>
                  <a:lnTo>
                    <a:pt x="16104" y="289087"/>
                  </a:lnTo>
                  <a:lnTo>
                    <a:pt x="7248" y="334592"/>
                  </a:lnTo>
                  <a:lnTo>
                    <a:pt x="1834" y="381234"/>
                  </a:lnTo>
                  <a:lnTo>
                    <a:pt x="0" y="428879"/>
                  </a:lnTo>
                  <a:lnTo>
                    <a:pt x="1834" y="476567"/>
                  </a:lnTo>
                  <a:lnTo>
                    <a:pt x="7248" y="523249"/>
                  </a:lnTo>
                  <a:lnTo>
                    <a:pt x="16104" y="568788"/>
                  </a:lnTo>
                  <a:lnTo>
                    <a:pt x="28269" y="613050"/>
                  </a:lnTo>
                  <a:lnTo>
                    <a:pt x="43607" y="655899"/>
                  </a:lnTo>
                  <a:lnTo>
                    <a:pt x="61982" y="697200"/>
                  </a:lnTo>
                  <a:lnTo>
                    <a:pt x="83259" y="736817"/>
                  </a:lnTo>
                  <a:lnTo>
                    <a:pt x="107302" y="774615"/>
                  </a:lnTo>
                  <a:lnTo>
                    <a:pt x="133976" y="810459"/>
                  </a:lnTo>
                  <a:lnTo>
                    <a:pt x="163146" y="844213"/>
                  </a:lnTo>
                  <a:lnTo>
                    <a:pt x="194676" y="875742"/>
                  </a:lnTo>
                  <a:lnTo>
                    <a:pt x="228431" y="904911"/>
                  </a:lnTo>
                  <a:lnTo>
                    <a:pt x="264275" y="931584"/>
                  </a:lnTo>
                  <a:lnTo>
                    <a:pt x="302073" y="955626"/>
                  </a:lnTo>
                  <a:lnTo>
                    <a:pt x="341690" y="976902"/>
                  </a:lnTo>
                  <a:lnTo>
                    <a:pt x="382990" y="995276"/>
                  </a:lnTo>
                  <a:lnTo>
                    <a:pt x="425838" y="1010612"/>
                  </a:lnTo>
                  <a:lnTo>
                    <a:pt x="470098" y="1022776"/>
                  </a:lnTo>
                  <a:lnTo>
                    <a:pt x="515635" y="1031633"/>
                  </a:lnTo>
                  <a:lnTo>
                    <a:pt x="562313" y="1037046"/>
                  </a:lnTo>
                  <a:lnTo>
                    <a:pt x="609998" y="1038880"/>
                  </a:lnTo>
                  <a:lnTo>
                    <a:pt x="657646" y="1037046"/>
                  </a:lnTo>
                  <a:lnTo>
                    <a:pt x="704290" y="1031633"/>
                  </a:lnTo>
                  <a:lnTo>
                    <a:pt x="749797" y="1022776"/>
                  </a:lnTo>
                  <a:lnTo>
                    <a:pt x="794030" y="1010612"/>
                  </a:lnTo>
                  <a:lnTo>
                    <a:pt x="836853" y="995276"/>
                  </a:lnTo>
                  <a:lnTo>
                    <a:pt x="878132" y="976902"/>
                  </a:lnTo>
                  <a:lnTo>
                    <a:pt x="904322" y="962830"/>
                  </a:lnTo>
                </a:path>
              </a:pathLst>
            </a:custGeom>
            <a:ln w="19049">
              <a:solidFill>
                <a:srgbClr val="2D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-9524" y="3654348"/>
            <a:ext cx="2626995" cy="1499235"/>
            <a:chOff x="-9524" y="3654348"/>
            <a:chExt cx="2626995" cy="1499235"/>
          </a:xfrm>
        </p:grpSpPr>
        <p:sp>
          <p:nvSpPr>
            <p:cNvPr id="8" name="object 8"/>
            <p:cNvSpPr/>
            <p:nvPr/>
          </p:nvSpPr>
          <p:spPr>
            <a:xfrm>
              <a:off x="0" y="3663873"/>
              <a:ext cx="2607945" cy="1480185"/>
            </a:xfrm>
            <a:custGeom>
              <a:avLst/>
              <a:gdLst/>
              <a:ahLst/>
              <a:cxnLst/>
              <a:rect l="l" t="t" r="r" b="b"/>
              <a:pathLst>
                <a:path w="2607945" h="1480185">
                  <a:moveTo>
                    <a:pt x="2607654" y="1479615"/>
                  </a:moveTo>
                  <a:lnTo>
                    <a:pt x="42078" y="1479615"/>
                  </a:lnTo>
                  <a:lnTo>
                    <a:pt x="0" y="1321464"/>
                  </a:lnTo>
                  <a:lnTo>
                    <a:pt x="0" y="34706"/>
                  </a:lnTo>
                  <a:lnTo>
                    <a:pt x="16251" y="30822"/>
                  </a:lnTo>
                  <a:lnTo>
                    <a:pt x="88933" y="16778"/>
                  </a:lnTo>
                  <a:lnTo>
                    <a:pt x="127670" y="11078"/>
                  </a:lnTo>
                  <a:lnTo>
                    <a:pt x="167961" y="6426"/>
                  </a:lnTo>
                  <a:lnTo>
                    <a:pt x="209773" y="2947"/>
                  </a:lnTo>
                  <a:lnTo>
                    <a:pt x="253073" y="763"/>
                  </a:lnTo>
                  <a:lnTo>
                    <a:pt x="297829" y="0"/>
                  </a:lnTo>
                  <a:lnTo>
                    <a:pt x="344009" y="781"/>
                  </a:lnTo>
                  <a:lnTo>
                    <a:pt x="391579" y="3231"/>
                  </a:lnTo>
                  <a:lnTo>
                    <a:pt x="440506" y="7475"/>
                  </a:lnTo>
                  <a:lnTo>
                    <a:pt x="490759" y="13636"/>
                  </a:lnTo>
                  <a:lnTo>
                    <a:pt x="542304" y="21839"/>
                  </a:lnTo>
                  <a:lnTo>
                    <a:pt x="595108" y="32208"/>
                  </a:lnTo>
                  <a:lnTo>
                    <a:pt x="649140" y="44867"/>
                  </a:lnTo>
                  <a:lnTo>
                    <a:pt x="704367" y="59941"/>
                  </a:lnTo>
                  <a:lnTo>
                    <a:pt x="760755" y="77554"/>
                  </a:lnTo>
                  <a:lnTo>
                    <a:pt x="818272" y="97830"/>
                  </a:lnTo>
                  <a:lnTo>
                    <a:pt x="876885" y="120893"/>
                  </a:lnTo>
                  <a:lnTo>
                    <a:pt x="936563" y="146868"/>
                  </a:lnTo>
                  <a:lnTo>
                    <a:pt x="989975" y="171955"/>
                  </a:lnTo>
                  <a:lnTo>
                    <a:pt x="1041069" y="197406"/>
                  </a:lnTo>
                  <a:lnTo>
                    <a:pt x="1089955" y="223210"/>
                  </a:lnTo>
                  <a:lnTo>
                    <a:pt x="1136742" y="249355"/>
                  </a:lnTo>
                  <a:lnTo>
                    <a:pt x="1181537" y="275830"/>
                  </a:lnTo>
                  <a:lnTo>
                    <a:pt x="1224450" y="302623"/>
                  </a:lnTo>
                  <a:lnTo>
                    <a:pt x="1265589" y="329723"/>
                  </a:lnTo>
                  <a:lnTo>
                    <a:pt x="1305063" y="357116"/>
                  </a:lnTo>
                  <a:lnTo>
                    <a:pt x="1342981" y="384793"/>
                  </a:lnTo>
                  <a:lnTo>
                    <a:pt x="1379452" y="412741"/>
                  </a:lnTo>
                  <a:lnTo>
                    <a:pt x="1414584" y="440948"/>
                  </a:lnTo>
                  <a:lnTo>
                    <a:pt x="1448486" y="469402"/>
                  </a:lnTo>
                  <a:lnTo>
                    <a:pt x="1481268" y="498093"/>
                  </a:lnTo>
                  <a:lnTo>
                    <a:pt x="1513036" y="527008"/>
                  </a:lnTo>
                  <a:lnTo>
                    <a:pt x="1543901" y="556135"/>
                  </a:lnTo>
                  <a:lnTo>
                    <a:pt x="1573971" y="585463"/>
                  </a:lnTo>
                  <a:lnTo>
                    <a:pt x="1603355" y="614980"/>
                  </a:lnTo>
                  <a:lnTo>
                    <a:pt x="1632161" y="644674"/>
                  </a:lnTo>
                  <a:lnTo>
                    <a:pt x="1660499" y="674535"/>
                  </a:lnTo>
                  <a:lnTo>
                    <a:pt x="1688476" y="704549"/>
                  </a:lnTo>
                  <a:lnTo>
                    <a:pt x="1716203" y="734705"/>
                  </a:lnTo>
                  <a:lnTo>
                    <a:pt x="1854872" y="887210"/>
                  </a:lnTo>
                  <a:lnTo>
                    <a:pt x="1883374" y="917973"/>
                  </a:lnTo>
                  <a:lnTo>
                    <a:pt x="1912387" y="948797"/>
                  </a:lnTo>
                  <a:lnTo>
                    <a:pt x="1942018" y="979670"/>
                  </a:lnTo>
                  <a:lnTo>
                    <a:pt x="1972376" y="1010579"/>
                  </a:lnTo>
                  <a:lnTo>
                    <a:pt x="2003571" y="1041513"/>
                  </a:lnTo>
                  <a:lnTo>
                    <a:pt x="2035710" y="1072461"/>
                  </a:lnTo>
                  <a:lnTo>
                    <a:pt x="2068903" y="1103410"/>
                  </a:lnTo>
                  <a:lnTo>
                    <a:pt x="2103259" y="1134349"/>
                  </a:lnTo>
                  <a:lnTo>
                    <a:pt x="2138885" y="1165266"/>
                  </a:lnTo>
                  <a:lnTo>
                    <a:pt x="2175892" y="1196150"/>
                  </a:lnTo>
                  <a:lnTo>
                    <a:pt x="2214387" y="1226989"/>
                  </a:lnTo>
                  <a:lnTo>
                    <a:pt x="2254479" y="1257771"/>
                  </a:lnTo>
                  <a:lnTo>
                    <a:pt x="2296278" y="1288484"/>
                  </a:lnTo>
                  <a:lnTo>
                    <a:pt x="2339891" y="1319117"/>
                  </a:lnTo>
                  <a:lnTo>
                    <a:pt x="2385428" y="1349657"/>
                  </a:lnTo>
                  <a:lnTo>
                    <a:pt x="2432997" y="1380094"/>
                  </a:lnTo>
                  <a:lnTo>
                    <a:pt x="2482707" y="1410416"/>
                  </a:lnTo>
                  <a:lnTo>
                    <a:pt x="2547372" y="1447553"/>
                  </a:lnTo>
                  <a:lnTo>
                    <a:pt x="2607654" y="1479615"/>
                  </a:lnTo>
                  <a:close/>
                </a:path>
              </a:pathLst>
            </a:custGeom>
            <a:solidFill>
              <a:srgbClr val="8789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663873"/>
              <a:ext cx="2607945" cy="1480185"/>
            </a:xfrm>
            <a:custGeom>
              <a:avLst/>
              <a:gdLst/>
              <a:ahLst/>
              <a:cxnLst/>
              <a:rect l="l" t="t" r="r" b="b"/>
              <a:pathLst>
                <a:path w="2607945" h="1480185">
                  <a:moveTo>
                    <a:pt x="2607654" y="1479615"/>
                  </a:moveTo>
                  <a:lnTo>
                    <a:pt x="2547372" y="1447553"/>
                  </a:lnTo>
                  <a:lnTo>
                    <a:pt x="2482707" y="1410416"/>
                  </a:lnTo>
                  <a:lnTo>
                    <a:pt x="2432997" y="1380094"/>
                  </a:lnTo>
                  <a:lnTo>
                    <a:pt x="2385428" y="1349657"/>
                  </a:lnTo>
                  <a:lnTo>
                    <a:pt x="2339891" y="1319117"/>
                  </a:lnTo>
                  <a:lnTo>
                    <a:pt x="2296278" y="1288484"/>
                  </a:lnTo>
                  <a:lnTo>
                    <a:pt x="2254479" y="1257771"/>
                  </a:lnTo>
                  <a:lnTo>
                    <a:pt x="2214387" y="1226989"/>
                  </a:lnTo>
                  <a:lnTo>
                    <a:pt x="2175892" y="1196150"/>
                  </a:lnTo>
                  <a:lnTo>
                    <a:pt x="2138885" y="1165266"/>
                  </a:lnTo>
                  <a:lnTo>
                    <a:pt x="2103259" y="1134349"/>
                  </a:lnTo>
                  <a:lnTo>
                    <a:pt x="2068903" y="1103410"/>
                  </a:lnTo>
                  <a:lnTo>
                    <a:pt x="2035710" y="1072461"/>
                  </a:lnTo>
                  <a:lnTo>
                    <a:pt x="2003571" y="1041513"/>
                  </a:lnTo>
                  <a:lnTo>
                    <a:pt x="1972376" y="1010579"/>
                  </a:lnTo>
                  <a:lnTo>
                    <a:pt x="1942018" y="979670"/>
                  </a:lnTo>
                  <a:lnTo>
                    <a:pt x="1912386" y="948797"/>
                  </a:lnTo>
                  <a:lnTo>
                    <a:pt x="1883374" y="917973"/>
                  </a:lnTo>
                  <a:lnTo>
                    <a:pt x="1854872" y="887210"/>
                  </a:lnTo>
                  <a:lnTo>
                    <a:pt x="1826771" y="856518"/>
                  </a:lnTo>
                  <a:lnTo>
                    <a:pt x="1798962" y="825910"/>
                  </a:lnTo>
                  <a:lnTo>
                    <a:pt x="1771337" y="795397"/>
                  </a:lnTo>
                  <a:lnTo>
                    <a:pt x="1743787" y="764992"/>
                  </a:lnTo>
                  <a:lnTo>
                    <a:pt x="1716203" y="734705"/>
                  </a:lnTo>
                  <a:lnTo>
                    <a:pt x="1688476" y="704549"/>
                  </a:lnTo>
                  <a:lnTo>
                    <a:pt x="1660499" y="674535"/>
                  </a:lnTo>
                  <a:lnTo>
                    <a:pt x="1632161" y="644674"/>
                  </a:lnTo>
                  <a:lnTo>
                    <a:pt x="1603355" y="614980"/>
                  </a:lnTo>
                  <a:lnTo>
                    <a:pt x="1573971" y="585463"/>
                  </a:lnTo>
                  <a:lnTo>
                    <a:pt x="1543901" y="556135"/>
                  </a:lnTo>
                  <a:lnTo>
                    <a:pt x="1513036" y="527007"/>
                  </a:lnTo>
                  <a:lnTo>
                    <a:pt x="1481267" y="498093"/>
                  </a:lnTo>
                  <a:lnTo>
                    <a:pt x="1448486" y="469402"/>
                  </a:lnTo>
                  <a:lnTo>
                    <a:pt x="1414584" y="440948"/>
                  </a:lnTo>
                  <a:lnTo>
                    <a:pt x="1379452" y="412741"/>
                  </a:lnTo>
                  <a:lnTo>
                    <a:pt x="1342981" y="384793"/>
                  </a:lnTo>
                  <a:lnTo>
                    <a:pt x="1305063" y="357116"/>
                  </a:lnTo>
                  <a:lnTo>
                    <a:pt x="1265589" y="329723"/>
                  </a:lnTo>
                  <a:lnTo>
                    <a:pt x="1224450" y="302623"/>
                  </a:lnTo>
                  <a:lnTo>
                    <a:pt x="1181537" y="275830"/>
                  </a:lnTo>
                  <a:lnTo>
                    <a:pt x="1136742" y="249355"/>
                  </a:lnTo>
                  <a:lnTo>
                    <a:pt x="1089955" y="223210"/>
                  </a:lnTo>
                  <a:lnTo>
                    <a:pt x="1041069" y="197406"/>
                  </a:lnTo>
                  <a:lnTo>
                    <a:pt x="989975" y="171955"/>
                  </a:lnTo>
                  <a:lnTo>
                    <a:pt x="936563" y="146868"/>
                  </a:lnTo>
                  <a:lnTo>
                    <a:pt x="876885" y="120893"/>
                  </a:lnTo>
                  <a:lnTo>
                    <a:pt x="818272" y="97830"/>
                  </a:lnTo>
                  <a:lnTo>
                    <a:pt x="760755" y="77554"/>
                  </a:lnTo>
                  <a:lnTo>
                    <a:pt x="704367" y="59941"/>
                  </a:lnTo>
                  <a:lnTo>
                    <a:pt x="649140" y="44867"/>
                  </a:lnTo>
                  <a:lnTo>
                    <a:pt x="595108" y="32208"/>
                  </a:lnTo>
                  <a:lnTo>
                    <a:pt x="542304" y="21839"/>
                  </a:lnTo>
                  <a:lnTo>
                    <a:pt x="490759" y="13636"/>
                  </a:lnTo>
                  <a:lnTo>
                    <a:pt x="440506" y="7475"/>
                  </a:lnTo>
                  <a:lnTo>
                    <a:pt x="391579" y="3231"/>
                  </a:lnTo>
                  <a:lnTo>
                    <a:pt x="344009" y="781"/>
                  </a:lnTo>
                  <a:lnTo>
                    <a:pt x="297829" y="0"/>
                  </a:lnTo>
                  <a:lnTo>
                    <a:pt x="253073" y="763"/>
                  </a:lnTo>
                  <a:lnTo>
                    <a:pt x="209773" y="2947"/>
                  </a:lnTo>
                  <a:lnTo>
                    <a:pt x="167961" y="6426"/>
                  </a:lnTo>
                  <a:lnTo>
                    <a:pt x="127670" y="11078"/>
                  </a:lnTo>
                  <a:lnTo>
                    <a:pt x="88933" y="16778"/>
                  </a:lnTo>
                  <a:lnTo>
                    <a:pt x="16251" y="30822"/>
                  </a:lnTo>
                  <a:lnTo>
                    <a:pt x="0" y="34706"/>
                  </a:lnTo>
                </a:path>
                <a:path w="2607945" h="1480185">
                  <a:moveTo>
                    <a:pt x="0" y="1321464"/>
                  </a:moveTo>
                  <a:lnTo>
                    <a:pt x="42078" y="1479615"/>
                  </a:lnTo>
                </a:path>
              </a:pathLst>
            </a:custGeom>
            <a:ln w="19049">
              <a:solidFill>
                <a:srgbClr val="2D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5409789" y="0"/>
            <a:ext cx="3734192" cy="13908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-9524" y="4606586"/>
            <a:ext cx="1758950" cy="546735"/>
            <a:chOff x="-9524" y="4606586"/>
            <a:chExt cx="1758950" cy="546735"/>
          </a:xfrm>
        </p:grpSpPr>
        <p:sp>
          <p:nvSpPr>
            <p:cNvPr id="12" name="object 12"/>
            <p:cNvSpPr/>
            <p:nvPr/>
          </p:nvSpPr>
          <p:spPr>
            <a:xfrm>
              <a:off x="0" y="4616111"/>
              <a:ext cx="1739900" cy="527685"/>
            </a:xfrm>
            <a:custGeom>
              <a:avLst/>
              <a:gdLst/>
              <a:ahLst/>
              <a:cxnLst/>
              <a:rect l="l" t="t" r="r" b="b"/>
              <a:pathLst>
                <a:path w="1739900" h="527685">
                  <a:moveTo>
                    <a:pt x="1739539" y="527378"/>
                  </a:moveTo>
                  <a:lnTo>
                    <a:pt x="0" y="527378"/>
                  </a:lnTo>
                  <a:lnTo>
                    <a:pt x="0" y="67290"/>
                  </a:lnTo>
                  <a:lnTo>
                    <a:pt x="73966" y="41554"/>
                  </a:lnTo>
                  <a:lnTo>
                    <a:pt x="113243" y="32222"/>
                  </a:lnTo>
                  <a:lnTo>
                    <a:pt x="153985" y="23866"/>
                  </a:lnTo>
                  <a:lnTo>
                    <a:pt x="196186" y="16588"/>
                  </a:lnTo>
                  <a:lnTo>
                    <a:pt x="239837" y="10493"/>
                  </a:lnTo>
                  <a:lnTo>
                    <a:pt x="284931" y="5683"/>
                  </a:lnTo>
                  <a:lnTo>
                    <a:pt x="331461" y="2262"/>
                  </a:lnTo>
                  <a:lnTo>
                    <a:pt x="379419" y="333"/>
                  </a:lnTo>
                  <a:lnTo>
                    <a:pt x="428797" y="0"/>
                  </a:lnTo>
                  <a:lnTo>
                    <a:pt x="479589" y="1365"/>
                  </a:lnTo>
                  <a:lnTo>
                    <a:pt x="531785" y="4534"/>
                  </a:lnTo>
                  <a:lnTo>
                    <a:pt x="585379" y="9608"/>
                  </a:lnTo>
                  <a:lnTo>
                    <a:pt x="640364" y="16691"/>
                  </a:lnTo>
                  <a:lnTo>
                    <a:pt x="696731" y="25886"/>
                  </a:lnTo>
                  <a:lnTo>
                    <a:pt x="754473" y="37298"/>
                  </a:lnTo>
                  <a:lnTo>
                    <a:pt x="813583" y="51029"/>
                  </a:lnTo>
                  <a:lnTo>
                    <a:pt x="870643" y="65985"/>
                  </a:lnTo>
                  <a:lnTo>
                    <a:pt x="925493" y="81720"/>
                  </a:lnTo>
                  <a:lnTo>
                    <a:pt x="978237" y="98205"/>
                  </a:lnTo>
                  <a:lnTo>
                    <a:pt x="1028979" y="115408"/>
                  </a:lnTo>
                  <a:lnTo>
                    <a:pt x="1077824" y="133296"/>
                  </a:lnTo>
                  <a:lnTo>
                    <a:pt x="1124878" y="151840"/>
                  </a:lnTo>
                  <a:lnTo>
                    <a:pt x="1170244" y="171008"/>
                  </a:lnTo>
                  <a:lnTo>
                    <a:pt x="1214028" y="190767"/>
                  </a:lnTo>
                  <a:lnTo>
                    <a:pt x="1256334" y="211088"/>
                  </a:lnTo>
                  <a:lnTo>
                    <a:pt x="1297267" y="231939"/>
                  </a:lnTo>
                  <a:lnTo>
                    <a:pt x="1336932" y="253289"/>
                  </a:lnTo>
                  <a:lnTo>
                    <a:pt x="1375433" y="275105"/>
                  </a:lnTo>
                  <a:lnTo>
                    <a:pt x="1412876" y="297357"/>
                  </a:lnTo>
                  <a:lnTo>
                    <a:pt x="1449365" y="320015"/>
                  </a:lnTo>
                  <a:lnTo>
                    <a:pt x="1485004" y="343045"/>
                  </a:lnTo>
                  <a:lnTo>
                    <a:pt x="1519898" y="366417"/>
                  </a:lnTo>
                  <a:lnTo>
                    <a:pt x="1554153" y="390101"/>
                  </a:lnTo>
                  <a:lnTo>
                    <a:pt x="1587873" y="414063"/>
                  </a:lnTo>
                  <a:lnTo>
                    <a:pt x="1621162" y="438274"/>
                  </a:lnTo>
                  <a:lnTo>
                    <a:pt x="1654126" y="462702"/>
                  </a:lnTo>
                  <a:lnTo>
                    <a:pt x="1739539" y="527378"/>
                  </a:lnTo>
                  <a:close/>
                </a:path>
              </a:pathLst>
            </a:custGeom>
            <a:solidFill>
              <a:srgbClr val="BCDA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4616111"/>
              <a:ext cx="1739900" cy="527685"/>
            </a:xfrm>
            <a:custGeom>
              <a:avLst/>
              <a:gdLst/>
              <a:ahLst/>
              <a:cxnLst/>
              <a:rect l="l" t="t" r="r" b="b"/>
              <a:pathLst>
                <a:path w="1739900" h="527685">
                  <a:moveTo>
                    <a:pt x="1739539" y="527378"/>
                  </a:moveTo>
                  <a:lnTo>
                    <a:pt x="1686869" y="487315"/>
                  </a:lnTo>
                  <a:lnTo>
                    <a:pt x="1654126" y="462702"/>
                  </a:lnTo>
                  <a:lnTo>
                    <a:pt x="1621162" y="438274"/>
                  </a:lnTo>
                  <a:lnTo>
                    <a:pt x="1587873" y="414063"/>
                  </a:lnTo>
                  <a:lnTo>
                    <a:pt x="1554153" y="390101"/>
                  </a:lnTo>
                  <a:lnTo>
                    <a:pt x="1519898" y="366417"/>
                  </a:lnTo>
                  <a:lnTo>
                    <a:pt x="1485004" y="343045"/>
                  </a:lnTo>
                  <a:lnTo>
                    <a:pt x="1449364" y="320015"/>
                  </a:lnTo>
                  <a:lnTo>
                    <a:pt x="1412876" y="297357"/>
                  </a:lnTo>
                  <a:lnTo>
                    <a:pt x="1375433" y="275105"/>
                  </a:lnTo>
                  <a:lnTo>
                    <a:pt x="1336932" y="253289"/>
                  </a:lnTo>
                  <a:lnTo>
                    <a:pt x="1297267" y="231939"/>
                  </a:lnTo>
                  <a:lnTo>
                    <a:pt x="1256334" y="211088"/>
                  </a:lnTo>
                  <a:lnTo>
                    <a:pt x="1214028" y="190767"/>
                  </a:lnTo>
                  <a:lnTo>
                    <a:pt x="1170244" y="171008"/>
                  </a:lnTo>
                  <a:lnTo>
                    <a:pt x="1124878" y="151840"/>
                  </a:lnTo>
                  <a:lnTo>
                    <a:pt x="1077824" y="133296"/>
                  </a:lnTo>
                  <a:lnTo>
                    <a:pt x="1028979" y="115408"/>
                  </a:lnTo>
                  <a:lnTo>
                    <a:pt x="978237" y="98205"/>
                  </a:lnTo>
                  <a:lnTo>
                    <a:pt x="925493" y="81720"/>
                  </a:lnTo>
                  <a:lnTo>
                    <a:pt x="870643" y="65985"/>
                  </a:lnTo>
                  <a:lnTo>
                    <a:pt x="813583" y="51029"/>
                  </a:lnTo>
                  <a:lnTo>
                    <a:pt x="754473" y="37298"/>
                  </a:lnTo>
                  <a:lnTo>
                    <a:pt x="696731" y="25886"/>
                  </a:lnTo>
                  <a:lnTo>
                    <a:pt x="640364" y="16691"/>
                  </a:lnTo>
                  <a:lnTo>
                    <a:pt x="585379" y="9608"/>
                  </a:lnTo>
                  <a:lnTo>
                    <a:pt x="531785" y="4534"/>
                  </a:lnTo>
                  <a:lnTo>
                    <a:pt x="479589" y="1365"/>
                  </a:lnTo>
                  <a:lnTo>
                    <a:pt x="428797" y="0"/>
                  </a:lnTo>
                  <a:lnTo>
                    <a:pt x="379419" y="333"/>
                  </a:lnTo>
                  <a:lnTo>
                    <a:pt x="331461" y="2262"/>
                  </a:lnTo>
                  <a:lnTo>
                    <a:pt x="284931" y="5683"/>
                  </a:lnTo>
                  <a:lnTo>
                    <a:pt x="239837" y="10493"/>
                  </a:lnTo>
                  <a:lnTo>
                    <a:pt x="196186" y="16588"/>
                  </a:lnTo>
                  <a:lnTo>
                    <a:pt x="153985" y="23866"/>
                  </a:lnTo>
                  <a:lnTo>
                    <a:pt x="113243" y="32222"/>
                  </a:lnTo>
                  <a:lnTo>
                    <a:pt x="73966" y="41554"/>
                  </a:lnTo>
                  <a:lnTo>
                    <a:pt x="0" y="67290"/>
                  </a:lnTo>
                </a:path>
              </a:pathLst>
            </a:custGeom>
            <a:ln w="19049">
              <a:solidFill>
                <a:srgbClr val="2D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276049" y="853623"/>
            <a:ext cx="5327650" cy="1158240"/>
          </a:xfrm>
          <a:custGeom>
            <a:avLst/>
            <a:gdLst/>
            <a:ahLst/>
            <a:cxnLst/>
            <a:rect l="l" t="t" r="r" b="b"/>
            <a:pathLst>
              <a:path w="5327650" h="1158239">
                <a:moveTo>
                  <a:pt x="0" y="0"/>
                </a:moveTo>
                <a:lnTo>
                  <a:pt x="5327089" y="0"/>
                </a:lnTo>
                <a:lnTo>
                  <a:pt x="5327089" y="1157697"/>
                </a:lnTo>
                <a:lnTo>
                  <a:pt x="0" y="1157697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2D3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349074" y="711112"/>
            <a:ext cx="496379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500" spc="50" dirty="0"/>
              <a:t>Distribución  </a:t>
            </a:r>
            <a:r>
              <a:rPr sz="4500" spc="70" dirty="0"/>
              <a:t>uniforme</a:t>
            </a:r>
            <a:r>
              <a:rPr sz="4500" spc="-300" dirty="0"/>
              <a:t> </a:t>
            </a:r>
            <a:r>
              <a:rPr sz="4500" spc="90" dirty="0"/>
              <a:t>discreta</a:t>
            </a:r>
            <a:endParaRPr sz="4500"/>
          </a:p>
        </p:txBody>
      </p:sp>
      <p:sp>
        <p:nvSpPr>
          <p:cNvPr id="16" name="object 16"/>
          <p:cNvSpPr/>
          <p:nvPr/>
        </p:nvSpPr>
        <p:spPr>
          <a:xfrm>
            <a:off x="2632958" y="3795752"/>
            <a:ext cx="95249" cy="15557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625025" y="2335252"/>
            <a:ext cx="5530850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9215">
              <a:lnSpc>
                <a:spcPct val="100000"/>
              </a:lnSpc>
              <a:spcBef>
                <a:spcPts val="100"/>
              </a:spcBef>
            </a:pPr>
            <a:r>
              <a:rPr sz="1500" spc="80" dirty="0">
                <a:solidFill>
                  <a:srgbClr val="87897C"/>
                </a:solidFill>
                <a:latin typeface="Trebuchet MS"/>
                <a:cs typeface="Trebuchet MS"/>
              </a:rPr>
              <a:t>Describe </a:t>
            </a:r>
            <a:r>
              <a:rPr sz="1500" spc="30" dirty="0">
                <a:solidFill>
                  <a:srgbClr val="87897C"/>
                </a:solidFill>
                <a:latin typeface="Trebuchet MS"/>
                <a:cs typeface="Trebuchet MS"/>
              </a:rPr>
              <a:t>el </a:t>
            </a:r>
            <a:r>
              <a:rPr sz="1500" spc="75" dirty="0">
                <a:solidFill>
                  <a:srgbClr val="87897C"/>
                </a:solidFill>
                <a:latin typeface="Trebuchet MS"/>
                <a:cs typeface="Trebuchet MS"/>
              </a:rPr>
              <a:t>comportamiento de </a:t>
            </a:r>
            <a:r>
              <a:rPr sz="1500" spc="90" dirty="0">
                <a:solidFill>
                  <a:srgbClr val="87897C"/>
                </a:solidFill>
                <a:latin typeface="Trebuchet MS"/>
                <a:cs typeface="Trebuchet MS"/>
              </a:rPr>
              <a:t>una </a:t>
            </a:r>
            <a:r>
              <a:rPr sz="1500" spc="35" dirty="0">
                <a:solidFill>
                  <a:srgbClr val="87897C"/>
                </a:solidFill>
                <a:latin typeface="Trebuchet MS"/>
                <a:cs typeface="Trebuchet MS"/>
              </a:rPr>
              <a:t>variable </a:t>
            </a:r>
            <a:r>
              <a:rPr sz="1500" spc="55" dirty="0">
                <a:solidFill>
                  <a:srgbClr val="87897C"/>
                </a:solidFill>
                <a:latin typeface="Trebuchet MS"/>
                <a:cs typeface="Trebuchet MS"/>
              </a:rPr>
              <a:t>discreta </a:t>
            </a:r>
            <a:r>
              <a:rPr sz="1500" spc="85" dirty="0">
                <a:solidFill>
                  <a:srgbClr val="87897C"/>
                </a:solidFill>
                <a:latin typeface="Trebuchet MS"/>
                <a:cs typeface="Trebuchet MS"/>
              </a:rPr>
              <a:t>que  </a:t>
            </a:r>
            <a:r>
              <a:rPr sz="1500" spc="80" dirty="0">
                <a:solidFill>
                  <a:srgbClr val="87897C"/>
                </a:solidFill>
                <a:latin typeface="Trebuchet MS"/>
                <a:cs typeface="Trebuchet MS"/>
              </a:rPr>
              <a:t>puede tomar </a:t>
            </a:r>
            <a:r>
              <a:rPr sz="1500" spc="105" dirty="0">
                <a:solidFill>
                  <a:srgbClr val="87897C"/>
                </a:solidFill>
                <a:latin typeface="Trebuchet MS"/>
                <a:cs typeface="Trebuchet MS"/>
              </a:rPr>
              <a:t>n </a:t>
            </a:r>
            <a:r>
              <a:rPr sz="1500" spc="60" dirty="0">
                <a:solidFill>
                  <a:srgbClr val="87897C"/>
                </a:solidFill>
                <a:latin typeface="Trebuchet MS"/>
                <a:cs typeface="Trebuchet MS"/>
              </a:rPr>
              <a:t>valores </a:t>
            </a:r>
            <a:r>
              <a:rPr sz="1500" spc="100" dirty="0">
                <a:solidFill>
                  <a:srgbClr val="87897C"/>
                </a:solidFill>
                <a:latin typeface="Trebuchet MS"/>
                <a:cs typeface="Trebuchet MS"/>
              </a:rPr>
              <a:t>con </a:t>
            </a:r>
            <a:r>
              <a:rPr sz="1500" spc="35" dirty="0">
                <a:solidFill>
                  <a:srgbClr val="87897C"/>
                </a:solidFill>
                <a:latin typeface="Trebuchet MS"/>
                <a:cs typeface="Trebuchet MS"/>
              </a:rPr>
              <a:t>la </a:t>
            </a:r>
            <a:r>
              <a:rPr sz="1500" spc="114" dirty="0">
                <a:solidFill>
                  <a:srgbClr val="87897C"/>
                </a:solidFill>
                <a:latin typeface="Trebuchet MS"/>
                <a:cs typeface="Trebuchet MS"/>
              </a:rPr>
              <a:t>misma </a:t>
            </a:r>
            <a:r>
              <a:rPr sz="1500" spc="55" dirty="0">
                <a:solidFill>
                  <a:srgbClr val="87897C"/>
                </a:solidFill>
                <a:latin typeface="Trebuchet MS"/>
                <a:cs typeface="Trebuchet MS"/>
              </a:rPr>
              <a:t>probabilidad </a:t>
            </a:r>
            <a:r>
              <a:rPr sz="1500" spc="75" dirty="0">
                <a:solidFill>
                  <a:srgbClr val="87897C"/>
                </a:solidFill>
                <a:latin typeface="Trebuchet MS"/>
                <a:cs typeface="Trebuchet MS"/>
              </a:rPr>
              <a:t>de</a:t>
            </a:r>
            <a:r>
              <a:rPr sz="1500" spc="-290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500" spc="80" dirty="0">
                <a:solidFill>
                  <a:srgbClr val="87897C"/>
                </a:solidFill>
                <a:latin typeface="Trebuchet MS"/>
                <a:cs typeface="Trebuchet MS"/>
              </a:rPr>
              <a:t>cada  </a:t>
            </a:r>
            <a:r>
              <a:rPr sz="1500" spc="100" dirty="0">
                <a:solidFill>
                  <a:srgbClr val="87897C"/>
                </a:solidFill>
                <a:latin typeface="Trebuchet MS"/>
                <a:cs typeface="Trebuchet MS"/>
              </a:rPr>
              <a:t>uno </a:t>
            </a:r>
            <a:r>
              <a:rPr sz="1500" spc="75" dirty="0">
                <a:solidFill>
                  <a:srgbClr val="87897C"/>
                </a:solidFill>
                <a:latin typeface="Trebuchet MS"/>
                <a:cs typeface="Trebuchet MS"/>
              </a:rPr>
              <a:t>de</a:t>
            </a:r>
            <a:r>
              <a:rPr sz="1500" spc="5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500" spc="30" dirty="0">
                <a:solidFill>
                  <a:srgbClr val="87897C"/>
                </a:solidFill>
                <a:latin typeface="Trebuchet MS"/>
                <a:cs typeface="Trebuchet MS"/>
              </a:rPr>
              <a:t>ellos.</a:t>
            </a:r>
            <a:endParaRPr sz="1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550">
              <a:latin typeface="Trebuchet MS"/>
              <a:cs typeface="Trebuchet MS"/>
            </a:endParaRPr>
          </a:p>
          <a:p>
            <a:pPr marL="12700" marR="5080" indent="843915">
              <a:lnSpc>
                <a:spcPct val="100000"/>
              </a:lnSpc>
            </a:pPr>
            <a:r>
              <a:rPr sz="1500" spc="60" dirty="0">
                <a:solidFill>
                  <a:srgbClr val="87897C"/>
                </a:solidFill>
                <a:latin typeface="Trebuchet MS"/>
                <a:cs typeface="Trebuchet MS"/>
              </a:rPr>
              <a:t>Por </a:t>
            </a:r>
            <a:r>
              <a:rPr sz="1500" spc="25" dirty="0">
                <a:solidFill>
                  <a:srgbClr val="87897C"/>
                </a:solidFill>
                <a:latin typeface="Trebuchet MS"/>
                <a:cs typeface="Trebuchet MS"/>
              </a:rPr>
              <a:t>ejemplo: </a:t>
            </a:r>
            <a:r>
              <a:rPr sz="1500" spc="100" dirty="0">
                <a:solidFill>
                  <a:srgbClr val="87897C"/>
                </a:solidFill>
                <a:latin typeface="Trebuchet MS"/>
                <a:cs typeface="Trebuchet MS"/>
              </a:rPr>
              <a:t>Cuando </a:t>
            </a:r>
            <a:r>
              <a:rPr sz="1500" spc="114" dirty="0">
                <a:solidFill>
                  <a:srgbClr val="87897C"/>
                </a:solidFill>
                <a:latin typeface="Trebuchet MS"/>
                <a:cs typeface="Trebuchet MS"/>
              </a:rPr>
              <a:t>se </a:t>
            </a:r>
            <a:r>
              <a:rPr sz="1500" spc="75" dirty="0">
                <a:solidFill>
                  <a:srgbClr val="87897C"/>
                </a:solidFill>
                <a:latin typeface="Trebuchet MS"/>
                <a:cs typeface="Trebuchet MS"/>
              </a:rPr>
              <a:t>observa </a:t>
            </a:r>
            <a:r>
              <a:rPr sz="1500" spc="30" dirty="0">
                <a:solidFill>
                  <a:srgbClr val="87897C"/>
                </a:solidFill>
                <a:latin typeface="Trebuchet MS"/>
                <a:cs typeface="Trebuchet MS"/>
              </a:rPr>
              <a:t>el </a:t>
            </a:r>
            <a:r>
              <a:rPr sz="1500" spc="90" dirty="0">
                <a:solidFill>
                  <a:srgbClr val="87897C"/>
                </a:solidFill>
                <a:latin typeface="Trebuchet MS"/>
                <a:cs typeface="Trebuchet MS"/>
              </a:rPr>
              <a:t>número  </a:t>
            </a:r>
            <a:r>
              <a:rPr sz="1500" spc="65" dirty="0">
                <a:solidFill>
                  <a:srgbClr val="87897C"/>
                </a:solidFill>
                <a:latin typeface="Trebuchet MS"/>
                <a:cs typeface="Trebuchet MS"/>
              </a:rPr>
              <a:t>obtenido </a:t>
            </a:r>
            <a:r>
              <a:rPr sz="1500" spc="55" dirty="0">
                <a:solidFill>
                  <a:srgbClr val="87897C"/>
                </a:solidFill>
                <a:latin typeface="Trebuchet MS"/>
                <a:cs typeface="Trebuchet MS"/>
              </a:rPr>
              <a:t>del </a:t>
            </a:r>
            <a:r>
              <a:rPr sz="1500" spc="65" dirty="0">
                <a:solidFill>
                  <a:srgbClr val="87897C"/>
                </a:solidFill>
                <a:latin typeface="Trebuchet MS"/>
                <a:cs typeface="Trebuchet MS"/>
              </a:rPr>
              <a:t>lanzamiento </a:t>
            </a:r>
            <a:r>
              <a:rPr sz="1500" spc="75" dirty="0">
                <a:solidFill>
                  <a:srgbClr val="87897C"/>
                </a:solidFill>
                <a:latin typeface="Trebuchet MS"/>
                <a:cs typeface="Trebuchet MS"/>
              </a:rPr>
              <a:t>de </a:t>
            </a:r>
            <a:r>
              <a:rPr sz="1500" spc="105" dirty="0">
                <a:solidFill>
                  <a:srgbClr val="87897C"/>
                </a:solidFill>
                <a:latin typeface="Trebuchet MS"/>
                <a:cs typeface="Trebuchet MS"/>
              </a:rPr>
              <a:t>un </a:t>
            </a:r>
            <a:r>
              <a:rPr sz="1500" spc="90" dirty="0">
                <a:solidFill>
                  <a:srgbClr val="87897C"/>
                </a:solidFill>
                <a:latin typeface="Trebuchet MS"/>
                <a:cs typeface="Trebuchet MS"/>
              </a:rPr>
              <a:t>dado </a:t>
            </a:r>
            <a:r>
              <a:rPr sz="1500" spc="30" dirty="0">
                <a:solidFill>
                  <a:srgbClr val="87897C"/>
                </a:solidFill>
                <a:latin typeface="Trebuchet MS"/>
                <a:cs typeface="Trebuchet MS"/>
              </a:rPr>
              <a:t>perfecto, </a:t>
            </a:r>
            <a:r>
              <a:rPr sz="1500" spc="95" dirty="0">
                <a:solidFill>
                  <a:srgbClr val="87897C"/>
                </a:solidFill>
                <a:latin typeface="Trebuchet MS"/>
                <a:cs typeface="Trebuchet MS"/>
              </a:rPr>
              <a:t>los </a:t>
            </a:r>
            <a:r>
              <a:rPr sz="1500" spc="60" dirty="0">
                <a:solidFill>
                  <a:srgbClr val="87897C"/>
                </a:solidFill>
                <a:latin typeface="Trebuchet MS"/>
                <a:cs typeface="Trebuchet MS"/>
              </a:rPr>
              <a:t>valores  </a:t>
            </a:r>
            <a:r>
              <a:rPr sz="1500" spc="85" dirty="0">
                <a:solidFill>
                  <a:srgbClr val="87897C"/>
                </a:solidFill>
                <a:latin typeface="Trebuchet MS"/>
                <a:cs typeface="Trebuchet MS"/>
              </a:rPr>
              <a:t>posibles </a:t>
            </a:r>
            <a:r>
              <a:rPr sz="1500" spc="75" dirty="0">
                <a:solidFill>
                  <a:srgbClr val="87897C"/>
                </a:solidFill>
                <a:latin typeface="Trebuchet MS"/>
                <a:cs typeface="Trebuchet MS"/>
              </a:rPr>
              <a:t>si </a:t>
            </a:r>
            <a:r>
              <a:rPr sz="1500" spc="85" dirty="0">
                <a:solidFill>
                  <a:srgbClr val="87897C"/>
                </a:solidFill>
                <a:latin typeface="Trebuchet MS"/>
                <a:cs typeface="Trebuchet MS"/>
              </a:rPr>
              <a:t>uen </a:t>
            </a:r>
            <a:r>
              <a:rPr sz="1500" spc="90" dirty="0">
                <a:solidFill>
                  <a:srgbClr val="87897C"/>
                </a:solidFill>
                <a:latin typeface="Trebuchet MS"/>
                <a:cs typeface="Trebuchet MS"/>
              </a:rPr>
              <a:t>una </a:t>
            </a:r>
            <a:r>
              <a:rPr sz="1500" spc="60" dirty="0">
                <a:solidFill>
                  <a:srgbClr val="87897C"/>
                </a:solidFill>
                <a:latin typeface="Trebuchet MS"/>
                <a:cs typeface="Trebuchet MS"/>
              </a:rPr>
              <a:t>distribución </a:t>
            </a:r>
            <a:r>
              <a:rPr sz="1500" spc="65" dirty="0">
                <a:solidFill>
                  <a:srgbClr val="87897C"/>
                </a:solidFill>
                <a:latin typeface="Trebuchet MS"/>
                <a:cs typeface="Trebuchet MS"/>
              </a:rPr>
              <a:t>uniforme </a:t>
            </a:r>
            <a:r>
              <a:rPr sz="1500" spc="55" dirty="0">
                <a:solidFill>
                  <a:srgbClr val="87897C"/>
                </a:solidFill>
                <a:latin typeface="Trebuchet MS"/>
                <a:cs typeface="Trebuchet MS"/>
              </a:rPr>
              <a:t>discreta </a:t>
            </a:r>
            <a:r>
              <a:rPr sz="1500" spc="35" dirty="0">
                <a:solidFill>
                  <a:srgbClr val="87897C"/>
                </a:solidFill>
                <a:latin typeface="Trebuchet MS"/>
                <a:cs typeface="Trebuchet MS"/>
              </a:rPr>
              <a:t>al </a:t>
            </a:r>
            <a:r>
              <a:rPr sz="1500" spc="50" dirty="0">
                <a:solidFill>
                  <a:srgbClr val="87897C"/>
                </a:solidFill>
                <a:latin typeface="Trebuchet MS"/>
                <a:cs typeface="Trebuchet MS"/>
              </a:rPr>
              <a:t>tener  </a:t>
            </a:r>
            <a:r>
              <a:rPr sz="1500" spc="114" dirty="0">
                <a:solidFill>
                  <a:srgbClr val="87897C"/>
                </a:solidFill>
                <a:latin typeface="Trebuchet MS"/>
                <a:cs typeface="Trebuchet MS"/>
              </a:rPr>
              <a:t>como </a:t>
            </a:r>
            <a:r>
              <a:rPr sz="1500" spc="55" dirty="0">
                <a:solidFill>
                  <a:srgbClr val="87897C"/>
                </a:solidFill>
                <a:latin typeface="Trebuchet MS"/>
                <a:cs typeface="Trebuchet MS"/>
              </a:rPr>
              <a:t>probabilidad </a:t>
            </a:r>
            <a:r>
              <a:rPr sz="1500" spc="75" dirty="0">
                <a:solidFill>
                  <a:srgbClr val="87897C"/>
                </a:solidFill>
                <a:latin typeface="Trebuchet MS"/>
                <a:cs typeface="Trebuchet MS"/>
              </a:rPr>
              <a:t>de </a:t>
            </a:r>
            <a:r>
              <a:rPr sz="1500" spc="80" dirty="0">
                <a:solidFill>
                  <a:srgbClr val="87897C"/>
                </a:solidFill>
                <a:latin typeface="Trebuchet MS"/>
                <a:cs typeface="Trebuchet MS"/>
              </a:rPr>
              <a:t>cada </a:t>
            </a:r>
            <a:r>
              <a:rPr sz="1500" spc="55" dirty="0">
                <a:solidFill>
                  <a:srgbClr val="87897C"/>
                </a:solidFill>
                <a:latin typeface="Trebuchet MS"/>
                <a:cs typeface="Trebuchet MS"/>
              </a:rPr>
              <a:t>cara </a:t>
            </a:r>
            <a:r>
              <a:rPr sz="1500" spc="70" dirty="0">
                <a:solidFill>
                  <a:srgbClr val="87897C"/>
                </a:solidFill>
                <a:latin typeface="Trebuchet MS"/>
                <a:cs typeface="Trebuchet MS"/>
              </a:rPr>
              <a:t>como:</a:t>
            </a:r>
            <a:r>
              <a:rPr sz="1500" spc="-114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500" spc="-80" dirty="0">
                <a:solidFill>
                  <a:srgbClr val="87897C"/>
                </a:solidFill>
                <a:latin typeface="AoyagiKouzanFontT"/>
                <a:cs typeface="AoyagiKouzanFontT"/>
              </a:rPr>
              <a:t>⅙</a:t>
            </a:r>
            <a:r>
              <a:rPr sz="1500" spc="-80" dirty="0">
                <a:solidFill>
                  <a:srgbClr val="87897C"/>
                </a:solidFill>
                <a:latin typeface="Trebuchet MS"/>
                <a:cs typeface="Trebuchet MS"/>
              </a:rPr>
              <a:t>.</a:t>
            </a:r>
            <a:endParaRPr sz="1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5049" y="303149"/>
            <a:ext cx="4443095" cy="787400"/>
          </a:xfrm>
          <a:custGeom>
            <a:avLst/>
            <a:gdLst/>
            <a:ahLst/>
            <a:cxnLst/>
            <a:rect l="l" t="t" r="r" b="b"/>
            <a:pathLst>
              <a:path w="4443095" h="787400">
                <a:moveTo>
                  <a:pt x="0" y="0"/>
                </a:moveTo>
                <a:lnTo>
                  <a:pt x="4442691" y="0"/>
                </a:lnTo>
                <a:lnTo>
                  <a:pt x="4442691" y="787198"/>
                </a:lnTo>
                <a:lnTo>
                  <a:pt x="0" y="7871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2D3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61923" y="479325"/>
            <a:ext cx="3723004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30" dirty="0"/>
              <a:t>Distribución</a:t>
            </a:r>
            <a:r>
              <a:rPr sz="2800" spc="-195" dirty="0"/>
              <a:t> </a:t>
            </a:r>
            <a:r>
              <a:rPr sz="2800" spc="-15" dirty="0"/>
              <a:t>Binomial</a:t>
            </a:r>
            <a:endParaRPr sz="2800"/>
          </a:p>
        </p:txBody>
      </p:sp>
      <p:sp>
        <p:nvSpPr>
          <p:cNvPr id="4" name="object 4"/>
          <p:cNvSpPr/>
          <p:nvPr/>
        </p:nvSpPr>
        <p:spPr>
          <a:xfrm>
            <a:off x="3424534" y="1774802"/>
            <a:ext cx="79374" cy="126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802837" y="2374875"/>
            <a:ext cx="79374" cy="126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523137" y="2555850"/>
            <a:ext cx="79374" cy="126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93023" y="1256008"/>
            <a:ext cx="6292850" cy="2520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  <a:tabLst>
                <a:tab pos="2708910" algn="l"/>
              </a:tabLst>
            </a:pPr>
            <a:r>
              <a:rPr sz="1200" spc="65" dirty="0">
                <a:solidFill>
                  <a:srgbClr val="87897C"/>
                </a:solidFill>
                <a:latin typeface="Trebuchet MS"/>
                <a:cs typeface="Trebuchet MS"/>
              </a:rPr>
              <a:t>Una </a:t>
            </a:r>
            <a:r>
              <a:rPr sz="1200" spc="50" dirty="0">
                <a:solidFill>
                  <a:srgbClr val="87897C"/>
                </a:solidFill>
                <a:latin typeface="Trebuchet MS"/>
                <a:cs typeface="Trebuchet MS"/>
              </a:rPr>
              <a:t>distribución binomial </a:t>
            </a:r>
            <a:r>
              <a:rPr sz="1200" spc="90" dirty="0">
                <a:solidFill>
                  <a:srgbClr val="87897C"/>
                </a:solidFill>
                <a:latin typeface="Trebuchet MS"/>
                <a:cs typeface="Trebuchet MS"/>
              </a:rPr>
              <a:t>es </a:t>
            </a:r>
            <a:r>
              <a:rPr sz="1200" spc="70" dirty="0">
                <a:solidFill>
                  <a:srgbClr val="87897C"/>
                </a:solidFill>
                <a:latin typeface="Trebuchet MS"/>
                <a:cs typeface="Trebuchet MS"/>
              </a:rPr>
              <a:t>una </a:t>
            </a:r>
            <a:r>
              <a:rPr sz="1200" spc="50" dirty="0">
                <a:solidFill>
                  <a:srgbClr val="87897C"/>
                </a:solidFill>
                <a:latin typeface="Trebuchet MS"/>
                <a:cs typeface="Trebuchet MS"/>
              </a:rPr>
              <a:t>distribución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de </a:t>
            </a:r>
            <a:r>
              <a:rPr sz="1200" spc="45" dirty="0">
                <a:solidFill>
                  <a:srgbClr val="87897C"/>
                </a:solidFill>
                <a:latin typeface="Trebuchet MS"/>
                <a:cs typeface="Trebuchet MS"/>
              </a:rPr>
              <a:t>probabilidad discreta </a:t>
            </a:r>
            <a:r>
              <a:rPr sz="1200" spc="65" dirty="0">
                <a:solidFill>
                  <a:srgbClr val="87897C"/>
                </a:solidFill>
                <a:latin typeface="Trebuchet MS"/>
                <a:cs typeface="Trebuchet MS"/>
              </a:rPr>
              <a:t>que</a:t>
            </a:r>
            <a:r>
              <a:rPr sz="1200" spc="-135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200" spc="55" dirty="0">
                <a:solidFill>
                  <a:srgbClr val="87897C"/>
                </a:solidFill>
                <a:latin typeface="Trebuchet MS"/>
                <a:cs typeface="Trebuchet MS"/>
              </a:rPr>
              <a:t>describe  </a:t>
            </a:r>
            <a:r>
              <a:rPr sz="1200" spc="25" dirty="0">
                <a:solidFill>
                  <a:srgbClr val="87897C"/>
                </a:solidFill>
                <a:latin typeface="Trebuchet MS"/>
                <a:cs typeface="Trebuchet MS"/>
              </a:rPr>
              <a:t>el </a:t>
            </a:r>
            <a:r>
              <a:rPr sz="1200" spc="70" dirty="0">
                <a:solidFill>
                  <a:srgbClr val="87897C"/>
                </a:solidFill>
                <a:latin typeface="Trebuchet MS"/>
                <a:cs typeface="Trebuchet MS"/>
              </a:rPr>
              <a:t>número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de </a:t>
            </a:r>
            <a:r>
              <a:rPr sz="1200" spc="45" dirty="0">
                <a:solidFill>
                  <a:srgbClr val="87897C"/>
                </a:solidFill>
                <a:latin typeface="Trebuchet MS"/>
                <a:cs typeface="Trebuchet MS"/>
              </a:rPr>
              <a:t>éxitos </a:t>
            </a:r>
            <a:r>
              <a:rPr sz="1200" spc="30" dirty="0">
                <a:solidFill>
                  <a:srgbClr val="87897C"/>
                </a:solidFill>
                <a:latin typeface="Trebuchet MS"/>
                <a:cs typeface="Trebuchet MS"/>
              </a:rPr>
              <a:t>al </a:t>
            </a:r>
            <a:r>
              <a:rPr sz="1200" spc="25" dirty="0">
                <a:solidFill>
                  <a:srgbClr val="87897C"/>
                </a:solidFill>
                <a:latin typeface="Trebuchet MS"/>
                <a:cs typeface="Trebuchet MS"/>
              </a:rPr>
              <a:t>realizar </a:t>
            </a:r>
            <a:r>
              <a:rPr sz="1200" spc="85" dirty="0">
                <a:solidFill>
                  <a:srgbClr val="87897C"/>
                </a:solidFill>
                <a:latin typeface="Trebuchet MS"/>
                <a:cs typeface="Trebuchet MS"/>
              </a:rPr>
              <a:t>n </a:t>
            </a:r>
            <a:r>
              <a:rPr sz="1200" spc="55" dirty="0">
                <a:solidFill>
                  <a:srgbClr val="87897C"/>
                </a:solidFill>
                <a:latin typeface="Trebuchet MS"/>
                <a:cs typeface="Trebuchet MS"/>
              </a:rPr>
              <a:t>experimentos independientes </a:t>
            </a:r>
            <a:r>
              <a:rPr sz="1200" spc="35" dirty="0">
                <a:solidFill>
                  <a:srgbClr val="87897C"/>
                </a:solidFill>
                <a:latin typeface="Trebuchet MS"/>
                <a:cs typeface="Trebuchet MS"/>
              </a:rPr>
              <a:t>entre </a:t>
            </a:r>
            <a:r>
              <a:rPr sz="1200" dirty="0">
                <a:solidFill>
                  <a:srgbClr val="87897C"/>
                </a:solidFill>
                <a:latin typeface="Trebuchet MS"/>
                <a:cs typeface="Trebuchet MS"/>
              </a:rPr>
              <a:t>sí, </a:t>
            </a:r>
            <a:r>
              <a:rPr sz="1200" spc="45" dirty="0">
                <a:solidFill>
                  <a:srgbClr val="87897C"/>
                </a:solidFill>
                <a:latin typeface="Trebuchet MS"/>
                <a:cs typeface="Trebuchet MS"/>
              </a:rPr>
              <a:t>acerca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de  </a:t>
            </a:r>
            <a:r>
              <a:rPr sz="1200" spc="70" dirty="0">
                <a:solidFill>
                  <a:srgbClr val="87897C"/>
                </a:solidFill>
                <a:latin typeface="Trebuchet MS"/>
                <a:cs typeface="Trebuchet MS"/>
              </a:rPr>
              <a:t>una </a:t>
            </a:r>
            <a:r>
              <a:rPr sz="1200" spc="30" dirty="0">
                <a:solidFill>
                  <a:srgbClr val="87897C"/>
                </a:solidFill>
                <a:latin typeface="Trebuchet MS"/>
                <a:cs typeface="Trebuchet MS"/>
              </a:rPr>
              <a:t>variable </a:t>
            </a:r>
            <a:r>
              <a:rPr sz="1200" spc="15" dirty="0">
                <a:solidFill>
                  <a:srgbClr val="87897C"/>
                </a:solidFill>
                <a:latin typeface="Trebuchet MS"/>
                <a:cs typeface="Trebuchet MS"/>
              </a:rPr>
              <a:t>aleatoria.</a:t>
            </a:r>
            <a:r>
              <a:rPr sz="1200" spc="5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Existen</a:t>
            </a:r>
            <a:r>
              <a:rPr sz="1200" spc="55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200" spc="70" dirty="0">
                <a:solidFill>
                  <a:srgbClr val="87897C"/>
                </a:solidFill>
                <a:latin typeface="Trebuchet MS"/>
                <a:cs typeface="Trebuchet MS"/>
              </a:rPr>
              <a:t>una	</a:t>
            </a:r>
            <a:r>
              <a:rPr sz="1200" spc="45" dirty="0">
                <a:solidFill>
                  <a:srgbClr val="87897C"/>
                </a:solidFill>
                <a:latin typeface="Trebuchet MS"/>
                <a:cs typeface="Trebuchet MS"/>
              </a:rPr>
              <a:t>ran diversidad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de </a:t>
            </a:r>
            <a:r>
              <a:rPr sz="1200" spc="55" dirty="0">
                <a:solidFill>
                  <a:srgbClr val="87897C"/>
                </a:solidFill>
                <a:latin typeface="Trebuchet MS"/>
                <a:cs typeface="Trebuchet MS"/>
              </a:rPr>
              <a:t>experimentos </a:t>
            </a:r>
            <a:r>
              <a:rPr sz="1200" spc="75" dirty="0">
                <a:solidFill>
                  <a:srgbClr val="87897C"/>
                </a:solidFill>
                <a:latin typeface="Trebuchet MS"/>
                <a:cs typeface="Trebuchet MS"/>
              </a:rPr>
              <a:t>o </a:t>
            </a:r>
            <a:r>
              <a:rPr sz="1200" spc="100" dirty="0">
                <a:solidFill>
                  <a:srgbClr val="87897C"/>
                </a:solidFill>
                <a:latin typeface="Trebuchet MS"/>
                <a:cs typeface="Trebuchet MS"/>
              </a:rPr>
              <a:t>sucesos </a:t>
            </a:r>
            <a:r>
              <a:rPr sz="1200" spc="65" dirty="0">
                <a:solidFill>
                  <a:srgbClr val="87897C"/>
                </a:solidFill>
                <a:latin typeface="Trebuchet MS"/>
                <a:cs typeface="Trebuchet MS"/>
              </a:rPr>
              <a:t>que  pueden ser </a:t>
            </a:r>
            <a:r>
              <a:rPr sz="1200" spc="50" dirty="0">
                <a:solidFill>
                  <a:srgbClr val="87897C"/>
                </a:solidFill>
                <a:latin typeface="Trebuchet MS"/>
                <a:cs typeface="Trebuchet MS"/>
              </a:rPr>
              <a:t>caracterizados </a:t>
            </a:r>
            <a:r>
              <a:rPr sz="1200" spc="20" dirty="0">
                <a:solidFill>
                  <a:srgbClr val="87897C"/>
                </a:solidFill>
                <a:latin typeface="Trebuchet MS"/>
                <a:cs typeface="Trebuchet MS"/>
              </a:rPr>
              <a:t>bajo </a:t>
            </a:r>
            <a:r>
              <a:rPr sz="1200" spc="65" dirty="0">
                <a:solidFill>
                  <a:srgbClr val="87897C"/>
                </a:solidFill>
                <a:latin typeface="Trebuchet MS"/>
                <a:cs typeface="Trebuchet MS"/>
              </a:rPr>
              <a:t>esta </a:t>
            </a:r>
            <a:r>
              <a:rPr sz="1200" spc="50" dirty="0">
                <a:solidFill>
                  <a:srgbClr val="87897C"/>
                </a:solidFill>
                <a:latin typeface="Trebuchet MS"/>
                <a:cs typeface="Trebuchet MS"/>
              </a:rPr>
              <a:t>distribución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de</a:t>
            </a:r>
            <a:r>
              <a:rPr sz="1200" spc="-40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200" spc="30" dirty="0">
                <a:solidFill>
                  <a:srgbClr val="87897C"/>
                </a:solidFill>
                <a:latin typeface="Trebuchet MS"/>
                <a:cs typeface="Trebuchet MS"/>
              </a:rPr>
              <a:t>probabilidad.</a:t>
            </a:r>
            <a:endParaRPr sz="1200">
              <a:latin typeface="Trebuchet MS"/>
              <a:cs typeface="Trebuchet MS"/>
            </a:endParaRPr>
          </a:p>
          <a:p>
            <a:pPr marL="64135">
              <a:lnSpc>
                <a:spcPts val="1430"/>
              </a:lnSpc>
              <a:spcBef>
                <a:spcPts val="209"/>
              </a:spcBef>
            </a:pPr>
            <a:r>
              <a:rPr sz="1200" spc="50" dirty="0">
                <a:solidFill>
                  <a:srgbClr val="87897C"/>
                </a:solidFill>
                <a:latin typeface="Trebuchet MS"/>
                <a:cs typeface="Trebuchet MS"/>
              </a:rPr>
              <a:t>Por</a:t>
            </a:r>
            <a:r>
              <a:rPr sz="1200" spc="15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200" spc="20" dirty="0">
                <a:solidFill>
                  <a:srgbClr val="87897C"/>
                </a:solidFill>
                <a:latin typeface="Trebuchet MS"/>
                <a:cs typeface="Trebuchet MS"/>
              </a:rPr>
              <a:t>ejemplo:</a:t>
            </a:r>
            <a:endParaRPr sz="1200">
              <a:latin typeface="Trebuchet MS"/>
              <a:cs typeface="Trebuchet MS"/>
            </a:endParaRPr>
          </a:p>
          <a:p>
            <a:pPr marL="12700" marR="1739264">
              <a:lnSpc>
                <a:spcPts val="1420"/>
              </a:lnSpc>
              <a:spcBef>
                <a:spcPts val="55"/>
              </a:spcBef>
              <a:tabLst>
                <a:tab pos="4087495" algn="l"/>
              </a:tabLst>
            </a:pPr>
            <a:r>
              <a:rPr sz="1200" spc="75" dirty="0">
                <a:solidFill>
                  <a:srgbClr val="87897C"/>
                </a:solidFill>
                <a:latin typeface="Trebuchet MS"/>
                <a:cs typeface="Trebuchet MS"/>
              </a:rPr>
              <a:t>La</a:t>
            </a:r>
            <a:r>
              <a:rPr sz="1200" spc="20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200" spc="50" dirty="0">
                <a:solidFill>
                  <a:srgbClr val="87897C"/>
                </a:solidFill>
                <a:latin typeface="Trebuchet MS"/>
                <a:cs typeface="Trebuchet MS"/>
              </a:rPr>
              <a:t>distribución</a:t>
            </a:r>
            <a:r>
              <a:rPr sz="1200" spc="45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200" spc="50" dirty="0">
                <a:solidFill>
                  <a:srgbClr val="87897C"/>
                </a:solidFill>
                <a:latin typeface="Trebuchet MS"/>
                <a:cs typeface="Trebuchet MS"/>
              </a:rPr>
              <a:t>binomial</a:t>
            </a:r>
            <a:r>
              <a:rPr sz="1200" spc="5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200" spc="90" dirty="0">
                <a:solidFill>
                  <a:srgbClr val="87897C"/>
                </a:solidFill>
                <a:latin typeface="Trebuchet MS"/>
                <a:cs typeface="Trebuchet MS"/>
              </a:rPr>
              <a:t>se</a:t>
            </a:r>
            <a:r>
              <a:rPr sz="1200" spc="45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200" spc="65" dirty="0">
                <a:solidFill>
                  <a:srgbClr val="87897C"/>
                </a:solidFill>
                <a:latin typeface="Trebuchet MS"/>
                <a:cs typeface="Trebuchet MS"/>
              </a:rPr>
              <a:t>puede</a:t>
            </a:r>
            <a:r>
              <a:rPr sz="1200" spc="45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200" spc="10" dirty="0">
                <a:solidFill>
                  <a:srgbClr val="87897C"/>
                </a:solidFill>
                <a:latin typeface="Trebuchet MS"/>
                <a:cs typeface="Trebuchet MS"/>
              </a:rPr>
              <a:t>e</a:t>
            </a:r>
            <a:r>
              <a:rPr sz="1200" spc="50" dirty="0">
                <a:solidFill>
                  <a:srgbClr val="87897C"/>
                </a:solidFill>
                <a:latin typeface="Trebuchet MS"/>
                <a:cs typeface="Trebuchet MS"/>
              </a:rPr>
              <a:t>xp</a:t>
            </a:r>
            <a:r>
              <a:rPr sz="1200" spc="15" dirty="0">
                <a:solidFill>
                  <a:srgbClr val="87897C"/>
                </a:solidFill>
                <a:latin typeface="Trebuchet MS"/>
                <a:cs typeface="Trebuchet MS"/>
              </a:rPr>
              <a:t>r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esar</a:t>
            </a:r>
            <a:r>
              <a:rPr sz="1200" spc="20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de</a:t>
            </a:r>
            <a:r>
              <a:rPr sz="1200" spc="25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200" spc="5" dirty="0">
                <a:solidFill>
                  <a:srgbClr val="87897C"/>
                </a:solidFill>
                <a:latin typeface="Trebuchet MS"/>
                <a:cs typeface="Trebuchet MS"/>
              </a:rPr>
              <a:t>f</a:t>
            </a:r>
            <a:r>
              <a:rPr sz="1200" spc="70" dirty="0">
                <a:solidFill>
                  <a:srgbClr val="87897C"/>
                </a:solidFill>
                <a:latin typeface="Trebuchet MS"/>
                <a:cs typeface="Trebuchet MS"/>
              </a:rPr>
              <a:t>orma</a:t>
            </a:r>
            <a:r>
              <a:rPr sz="1200" dirty="0">
                <a:solidFill>
                  <a:srgbClr val="87897C"/>
                </a:solidFill>
                <a:latin typeface="Trebuchet MS"/>
                <a:cs typeface="Trebuchet MS"/>
              </a:rPr>
              <a:t>	r</a:t>
            </a:r>
            <a:r>
              <a:rPr sz="1200" spc="35" dirty="0">
                <a:solidFill>
                  <a:srgbClr val="87897C"/>
                </a:solidFill>
                <a:latin typeface="Trebuchet MS"/>
                <a:cs typeface="Trebuchet MS"/>
              </a:rPr>
              <a:t>á</a:t>
            </a:r>
            <a:r>
              <a:rPr sz="1200" spc="20" dirty="0">
                <a:solidFill>
                  <a:srgbClr val="87897C"/>
                </a:solidFill>
                <a:latin typeface="Trebuchet MS"/>
                <a:cs typeface="Trebuchet MS"/>
              </a:rPr>
              <a:t>ﬁca,  </a:t>
            </a:r>
            <a:r>
              <a:rPr sz="1200" spc="25" dirty="0">
                <a:solidFill>
                  <a:srgbClr val="87897C"/>
                </a:solidFill>
                <a:latin typeface="Trebuchet MS"/>
                <a:cs typeface="Trebuchet MS"/>
              </a:rPr>
              <a:t>y </a:t>
            </a:r>
            <a:r>
              <a:rPr sz="1200" spc="65" dirty="0">
                <a:solidFill>
                  <a:srgbClr val="87897C"/>
                </a:solidFill>
                <a:latin typeface="Trebuchet MS"/>
                <a:cs typeface="Trebuchet MS"/>
              </a:rPr>
              <a:t>que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en </a:t>
            </a:r>
            <a:r>
              <a:rPr sz="1200" spc="35" dirty="0">
                <a:solidFill>
                  <a:srgbClr val="87897C"/>
                </a:solidFill>
                <a:latin typeface="Trebuchet MS"/>
                <a:cs typeface="Trebuchet MS"/>
              </a:rPr>
              <a:t>realidad </a:t>
            </a:r>
            <a:r>
              <a:rPr sz="1200" spc="70" dirty="0">
                <a:solidFill>
                  <a:srgbClr val="87897C"/>
                </a:solidFill>
                <a:latin typeface="Trebuchet MS"/>
                <a:cs typeface="Trebuchet MS"/>
              </a:rPr>
              <a:t>consiste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en </a:t>
            </a:r>
            <a:r>
              <a:rPr sz="1200" spc="85" dirty="0">
                <a:solidFill>
                  <a:srgbClr val="87897C"/>
                </a:solidFill>
                <a:latin typeface="Trebuchet MS"/>
                <a:cs typeface="Trebuchet MS"/>
              </a:rPr>
              <a:t>un </a:t>
            </a:r>
            <a:r>
              <a:rPr sz="1200" spc="35" dirty="0">
                <a:solidFill>
                  <a:srgbClr val="87897C"/>
                </a:solidFill>
                <a:latin typeface="Trebuchet MS"/>
                <a:cs typeface="Trebuchet MS"/>
              </a:rPr>
              <a:t>dia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rama de</a:t>
            </a:r>
            <a:r>
              <a:rPr sz="1200" spc="125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200" spc="30" dirty="0">
                <a:solidFill>
                  <a:srgbClr val="87897C"/>
                </a:solidFill>
                <a:latin typeface="Trebuchet MS"/>
                <a:cs typeface="Trebuchet MS"/>
              </a:rPr>
              <a:t>barras,</a:t>
            </a:r>
            <a:endParaRPr sz="1200">
              <a:latin typeface="Trebuchet MS"/>
              <a:cs typeface="Trebuchet MS"/>
            </a:endParaRPr>
          </a:p>
          <a:p>
            <a:pPr marL="12700" marR="1948180">
              <a:lnSpc>
                <a:spcPts val="1420"/>
              </a:lnSpc>
              <a:spcBef>
                <a:spcPts val="10"/>
              </a:spcBef>
            </a:pPr>
            <a:r>
              <a:rPr sz="1200" spc="45" dirty="0">
                <a:solidFill>
                  <a:srgbClr val="87897C"/>
                </a:solidFill>
                <a:latin typeface="Trebuchet MS"/>
                <a:cs typeface="Trebuchet MS"/>
              </a:rPr>
              <a:t>similar a </a:t>
            </a:r>
            <a:r>
              <a:rPr sz="1200" spc="75" dirty="0">
                <a:solidFill>
                  <a:srgbClr val="87897C"/>
                </a:solidFill>
                <a:latin typeface="Trebuchet MS"/>
                <a:cs typeface="Trebuchet MS"/>
              </a:rPr>
              <a:t>los </a:t>
            </a:r>
            <a:r>
              <a:rPr sz="1200" spc="65" dirty="0">
                <a:solidFill>
                  <a:srgbClr val="87897C"/>
                </a:solidFill>
                <a:latin typeface="Trebuchet MS"/>
                <a:cs typeface="Trebuchet MS"/>
              </a:rPr>
              <a:t>obtenidos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en </a:t>
            </a:r>
            <a:r>
              <a:rPr sz="1200" spc="30" dirty="0">
                <a:solidFill>
                  <a:srgbClr val="87897C"/>
                </a:solidFill>
                <a:latin typeface="Trebuchet MS"/>
                <a:cs typeface="Trebuchet MS"/>
              </a:rPr>
              <a:t>la </a:t>
            </a:r>
            <a:r>
              <a:rPr sz="1200" spc="55" dirty="0">
                <a:solidFill>
                  <a:srgbClr val="87897C"/>
                </a:solidFill>
                <a:latin typeface="Trebuchet MS"/>
                <a:cs typeface="Trebuchet MS"/>
              </a:rPr>
              <a:t>función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de </a:t>
            </a:r>
            <a:r>
              <a:rPr sz="1200" spc="45" dirty="0">
                <a:solidFill>
                  <a:srgbClr val="87897C"/>
                </a:solidFill>
                <a:latin typeface="Trebuchet MS"/>
                <a:cs typeface="Trebuchet MS"/>
              </a:rPr>
              <a:t>probabilidad</a:t>
            </a:r>
            <a:r>
              <a:rPr sz="1200" spc="-135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200" spc="50" dirty="0">
                <a:solidFill>
                  <a:srgbClr val="87897C"/>
                </a:solidFill>
                <a:latin typeface="Trebuchet MS"/>
                <a:cs typeface="Trebuchet MS"/>
              </a:rPr>
              <a:t>pero  </a:t>
            </a:r>
            <a:r>
              <a:rPr sz="1200" spc="65" dirty="0">
                <a:solidFill>
                  <a:srgbClr val="87897C"/>
                </a:solidFill>
                <a:latin typeface="Trebuchet MS"/>
                <a:cs typeface="Trebuchet MS"/>
              </a:rPr>
              <a:t>que </a:t>
            </a:r>
            <a:r>
              <a:rPr sz="1200" spc="50" dirty="0">
                <a:solidFill>
                  <a:srgbClr val="87897C"/>
                </a:solidFill>
                <a:latin typeface="Trebuchet MS"/>
                <a:cs typeface="Trebuchet MS"/>
              </a:rPr>
              <a:t>van </a:t>
            </a:r>
            <a:r>
              <a:rPr sz="1200" spc="45" dirty="0">
                <a:solidFill>
                  <a:srgbClr val="87897C"/>
                </a:solidFill>
                <a:latin typeface="Trebuchet MS"/>
                <a:cs typeface="Trebuchet MS"/>
              </a:rPr>
              <a:t>a </a:t>
            </a:r>
            <a:r>
              <a:rPr sz="1200" dirty="0">
                <a:solidFill>
                  <a:srgbClr val="87897C"/>
                </a:solidFill>
                <a:latin typeface="Trebuchet MS"/>
                <a:cs typeface="Trebuchet MS"/>
              </a:rPr>
              <a:t>ir </a:t>
            </a:r>
            <a:r>
              <a:rPr sz="1200" spc="45" dirty="0">
                <a:solidFill>
                  <a:srgbClr val="87897C"/>
                </a:solidFill>
                <a:latin typeface="Trebuchet MS"/>
                <a:cs typeface="Trebuchet MS"/>
              </a:rPr>
              <a:t>variando </a:t>
            </a:r>
            <a:r>
              <a:rPr sz="1200" spc="114" dirty="0">
                <a:solidFill>
                  <a:srgbClr val="87897C"/>
                </a:solidFill>
                <a:latin typeface="Trebuchet MS"/>
                <a:cs typeface="Trebuchet MS"/>
              </a:rPr>
              <a:t>su</a:t>
            </a:r>
            <a:r>
              <a:rPr sz="1200" spc="-220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forma en </a:t>
            </a:r>
            <a:r>
              <a:rPr sz="1200" spc="55" dirty="0">
                <a:solidFill>
                  <a:srgbClr val="87897C"/>
                </a:solidFill>
                <a:latin typeface="Trebuchet MS"/>
                <a:cs typeface="Trebuchet MS"/>
              </a:rPr>
              <a:t>función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de </a:t>
            </a:r>
            <a:r>
              <a:rPr sz="1200" spc="75" dirty="0">
                <a:solidFill>
                  <a:srgbClr val="87897C"/>
                </a:solidFill>
                <a:latin typeface="Trebuchet MS"/>
                <a:cs typeface="Trebuchet MS"/>
              </a:rPr>
              <a:t>los </a:t>
            </a:r>
            <a:r>
              <a:rPr sz="1200" spc="45" dirty="0">
                <a:solidFill>
                  <a:srgbClr val="87897C"/>
                </a:solidFill>
                <a:latin typeface="Trebuchet MS"/>
                <a:cs typeface="Trebuchet MS"/>
              </a:rPr>
              <a:t>valores</a:t>
            </a:r>
            <a:endParaRPr sz="1200">
              <a:latin typeface="Trebuchet MS"/>
              <a:cs typeface="Trebuchet MS"/>
            </a:endParaRPr>
          </a:p>
          <a:p>
            <a:pPr marL="12700" marR="1709420">
              <a:lnSpc>
                <a:spcPts val="1420"/>
              </a:lnSpc>
              <a:spcBef>
                <a:spcPts val="10"/>
              </a:spcBef>
            </a:pP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de </a:t>
            </a:r>
            <a:r>
              <a:rPr sz="1200" spc="85" dirty="0">
                <a:solidFill>
                  <a:srgbClr val="87897C"/>
                </a:solidFill>
                <a:latin typeface="Trebuchet MS"/>
                <a:cs typeface="Trebuchet MS"/>
              </a:rPr>
              <a:t>n </a:t>
            </a:r>
            <a:r>
              <a:rPr sz="1200" spc="25" dirty="0">
                <a:solidFill>
                  <a:srgbClr val="87897C"/>
                </a:solidFill>
                <a:latin typeface="Trebuchet MS"/>
                <a:cs typeface="Trebuchet MS"/>
              </a:rPr>
              <a:t>y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de </a:t>
            </a:r>
            <a:r>
              <a:rPr sz="1200" spc="80" dirty="0">
                <a:solidFill>
                  <a:srgbClr val="87897C"/>
                </a:solidFill>
                <a:latin typeface="Trebuchet MS"/>
                <a:cs typeface="Trebuchet MS"/>
              </a:rPr>
              <a:t>p </a:t>
            </a:r>
            <a:r>
              <a:rPr sz="1200" spc="30" dirty="0">
                <a:solidFill>
                  <a:srgbClr val="87897C"/>
                </a:solidFill>
                <a:latin typeface="Trebuchet MS"/>
                <a:cs typeface="Trebuchet MS"/>
              </a:rPr>
              <a:t>al </a:t>
            </a:r>
            <a:r>
              <a:rPr sz="1200" spc="65" dirty="0">
                <a:solidFill>
                  <a:srgbClr val="87897C"/>
                </a:solidFill>
                <a:latin typeface="Trebuchet MS"/>
                <a:cs typeface="Trebuchet MS"/>
              </a:rPr>
              <a:t>modiﬁcarse las </a:t>
            </a:r>
            <a:r>
              <a:rPr sz="1200" spc="50" dirty="0">
                <a:solidFill>
                  <a:srgbClr val="87897C"/>
                </a:solidFill>
                <a:latin typeface="Trebuchet MS"/>
                <a:cs typeface="Trebuchet MS"/>
              </a:rPr>
              <a:t>probabilidades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de </a:t>
            </a:r>
            <a:r>
              <a:rPr sz="1200" spc="75" dirty="0">
                <a:solidFill>
                  <a:srgbClr val="87897C"/>
                </a:solidFill>
                <a:latin typeface="Trebuchet MS"/>
                <a:cs typeface="Trebuchet MS"/>
              </a:rPr>
              <a:t>los</a:t>
            </a:r>
            <a:r>
              <a:rPr sz="1200" spc="-120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200" spc="55" dirty="0">
                <a:solidFill>
                  <a:srgbClr val="87897C"/>
                </a:solidFill>
                <a:latin typeface="Trebuchet MS"/>
                <a:cs typeface="Trebuchet MS"/>
              </a:rPr>
              <a:t>distintos  </a:t>
            </a:r>
            <a:r>
              <a:rPr sz="1200" spc="70" dirty="0">
                <a:solidFill>
                  <a:srgbClr val="87897C"/>
                </a:solidFill>
                <a:latin typeface="Trebuchet MS"/>
                <a:cs typeface="Trebuchet MS"/>
              </a:rPr>
              <a:t>posibles </a:t>
            </a:r>
            <a:r>
              <a:rPr sz="1200" spc="45" dirty="0">
                <a:solidFill>
                  <a:srgbClr val="87897C"/>
                </a:solidFill>
                <a:latin typeface="Trebuchet MS"/>
                <a:cs typeface="Trebuchet MS"/>
              </a:rPr>
              <a:t>valores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de</a:t>
            </a:r>
            <a:r>
              <a:rPr sz="1200" spc="-15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200" spc="5" dirty="0">
                <a:solidFill>
                  <a:srgbClr val="87897C"/>
                </a:solidFill>
                <a:latin typeface="Trebuchet MS"/>
                <a:cs typeface="Trebuchet MS"/>
              </a:rPr>
              <a:t>P(X=x).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ts val="1380"/>
              </a:lnSpc>
            </a:pPr>
            <a:r>
              <a:rPr sz="1200" spc="50" dirty="0">
                <a:solidFill>
                  <a:srgbClr val="87897C"/>
                </a:solidFill>
                <a:latin typeface="Trebuchet MS"/>
                <a:cs typeface="Trebuchet MS"/>
              </a:rPr>
              <a:t>Por</a:t>
            </a:r>
            <a:r>
              <a:rPr sz="1200" spc="15" dirty="0">
                <a:solidFill>
                  <a:srgbClr val="87897C"/>
                </a:solidFill>
                <a:latin typeface="Trebuchet MS"/>
                <a:cs typeface="Trebuchet MS"/>
              </a:rPr>
              <a:t> ejemplo,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ts val="1430"/>
              </a:lnSpc>
            </a:pPr>
            <a:r>
              <a:rPr sz="1200" spc="45" dirty="0">
                <a:solidFill>
                  <a:srgbClr val="87897C"/>
                </a:solidFill>
                <a:latin typeface="Trebuchet MS"/>
                <a:cs typeface="Trebuchet MS"/>
              </a:rPr>
              <a:t>para </a:t>
            </a:r>
            <a:r>
              <a:rPr sz="1200" spc="40" dirty="0">
                <a:solidFill>
                  <a:srgbClr val="87897C"/>
                </a:solidFill>
                <a:latin typeface="Trebuchet MS"/>
                <a:cs typeface="Trebuchet MS"/>
              </a:rPr>
              <a:t>p=0,2 </a:t>
            </a:r>
            <a:r>
              <a:rPr sz="1200" spc="-5" dirty="0">
                <a:solidFill>
                  <a:srgbClr val="87897C"/>
                </a:solidFill>
                <a:latin typeface="Trebuchet MS"/>
                <a:cs typeface="Trebuchet MS"/>
              </a:rPr>
              <a:t>(azul), </a:t>
            </a:r>
            <a:r>
              <a:rPr sz="1200" spc="25" dirty="0">
                <a:solidFill>
                  <a:srgbClr val="87897C"/>
                </a:solidFill>
                <a:latin typeface="Trebuchet MS"/>
                <a:cs typeface="Trebuchet MS"/>
              </a:rPr>
              <a:t>y </a:t>
            </a:r>
            <a:r>
              <a:rPr sz="1200" spc="40" dirty="0">
                <a:solidFill>
                  <a:srgbClr val="87897C"/>
                </a:solidFill>
                <a:latin typeface="Trebuchet MS"/>
                <a:cs typeface="Trebuchet MS"/>
              </a:rPr>
              <a:t>p=0,3 </a:t>
            </a:r>
            <a:r>
              <a:rPr sz="1200" spc="-20" dirty="0">
                <a:solidFill>
                  <a:srgbClr val="87897C"/>
                </a:solidFill>
                <a:latin typeface="Trebuchet MS"/>
                <a:cs typeface="Trebuchet MS"/>
              </a:rPr>
              <a:t>(rojo) </a:t>
            </a:r>
            <a:r>
              <a:rPr sz="1200" spc="25" dirty="0">
                <a:solidFill>
                  <a:srgbClr val="87897C"/>
                </a:solidFill>
                <a:latin typeface="Trebuchet MS"/>
                <a:cs typeface="Trebuchet MS"/>
              </a:rPr>
              <a:t>y </a:t>
            </a:r>
            <a:r>
              <a:rPr sz="1200" spc="55" dirty="0">
                <a:solidFill>
                  <a:srgbClr val="87897C"/>
                </a:solidFill>
                <a:latin typeface="Trebuchet MS"/>
                <a:cs typeface="Trebuchet MS"/>
              </a:rPr>
              <a:t>distintos </a:t>
            </a:r>
            <a:r>
              <a:rPr sz="1200" spc="45" dirty="0">
                <a:solidFill>
                  <a:srgbClr val="87897C"/>
                </a:solidFill>
                <a:latin typeface="Trebuchet MS"/>
                <a:cs typeface="Trebuchet MS"/>
              </a:rPr>
              <a:t>valores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de</a:t>
            </a:r>
            <a:r>
              <a:rPr sz="1200" spc="30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87897C"/>
                </a:solidFill>
                <a:latin typeface="Trebuchet MS"/>
                <a:cs typeface="Trebuchet MS"/>
              </a:rPr>
              <a:t>n: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543738" y="2313520"/>
            <a:ext cx="3600242" cy="282996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5049" y="303149"/>
            <a:ext cx="6525259" cy="787400"/>
          </a:xfrm>
          <a:custGeom>
            <a:avLst/>
            <a:gdLst/>
            <a:ahLst/>
            <a:cxnLst/>
            <a:rect l="l" t="t" r="r" b="b"/>
            <a:pathLst>
              <a:path w="6525259" h="787400">
                <a:moveTo>
                  <a:pt x="0" y="0"/>
                </a:moveTo>
                <a:lnTo>
                  <a:pt x="6524686" y="0"/>
                </a:lnTo>
                <a:lnTo>
                  <a:pt x="6524686" y="787198"/>
                </a:lnTo>
                <a:lnTo>
                  <a:pt x="0" y="7871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2D3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61923" y="479325"/>
            <a:ext cx="59836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30" dirty="0">
                <a:solidFill>
                  <a:srgbClr val="2D3F3F"/>
                </a:solidFill>
                <a:latin typeface="Arial"/>
                <a:cs typeface="Arial"/>
              </a:rPr>
              <a:t>Distribución </a:t>
            </a:r>
            <a:r>
              <a:rPr sz="2800" b="1" spc="-15" dirty="0">
                <a:solidFill>
                  <a:srgbClr val="2D3F3F"/>
                </a:solidFill>
                <a:latin typeface="Arial"/>
                <a:cs typeface="Arial"/>
              </a:rPr>
              <a:t>Binomial</a:t>
            </a:r>
            <a:r>
              <a:rPr sz="2800" b="1" spc="-340" dirty="0">
                <a:solidFill>
                  <a:srgbClr val="2D3F3F"/>
                </a:solidFill>
                <a:latin typeface="Arial"/>
                <a:cs typeface="Arial"/>
              </a:rPr>
              <a:t> </a:t>
            </a:r>
            <a:r>
              <a:rPr sz="2800" b="1" spc="40" dirty="0">
                <a:solidFill>
                  <a:srgbClr val="2D3F3F"/>
                </a:solidFill>
                <a:latin typeface="Arial"/>
                <a:cs typeface="Arial"/>
              </a:rPr>
              <a:t>Acumulativa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26238" y="1626603"/>
            <a:ext cx="79374" cy="126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48036" y="1372603"/>
            <a:ext cx="7432675" cy="57023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 algn="just">
              <a:lnSpc>
                <a:spcPts val="1420"/>
              </a:lnSpc>
              <a:spcBef>
                <a:spcPts val="160"/>
              </a:spcBef>
            </a:pPr>
            <a:r>
              <a:rPr sz="1200" spc="130" dirty="0">
                <a:solidFill>
                  <a:srgbClr val="87897C"/>
                </a:solidFill>
                <a:latin typeface="Trebuchet MS"/>
                <a:cs typeface="Trebuchet MS"/>
              </a:rPr>
              <a:t>Es </a:t>
            </a:r>
            <a:r>
              <a:rPr sz="1200" spc="50" dirty="0">
                <a:solidFill>
                  <a:srgbClr val="87897C"/>
                </a:solidFill>
                <a:latin typeface="Trebuchet MS"/>
                <a:cs typeface="Trebuchet MS"/>
              </a:rPr>
              <a:t>acumulativo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en </a:t>
            </a:r>
            <a:r>
              <a:rPr sz="1200" spc="25" dirty="0">
                <a:solidFill>
                  <a:srgbClr val="87897C"/>
                </a:solidFill>
                <a:latin typeface="Trebuchet MS"/>
                <a:cs typeface="Trebuchet MS"/>
              </a:rPr>
              <a:t>el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sentido de </a:t>
            </a:r>
            <a:r>
              <a:rPr sz="1200" spc="65" dirty="0">
                <a:solidFill>
                  <a:srgbClr val="87897C"/>
                </a:solidFill>
                <a:latin typeface="Trebuchet MS"/>
                <a:cs typeface="Trebuchet MS"/>
              </a:rPr>
              <a:t>que </a:t>
            </a:r>
            <a:r>
              <a:rPr sz="1200" spc="45" dirty="0">
                <a:solidFill>
                  <a:srgbClr val="87897C"/>
                </a:solidFill>
                <a:latin typeface="Trebuchet MS"/>
                <a:cs typeface="Trebuchet MS"/>
              </a:rPr>
              <a:t>«acumula» </a:t>
            </a:r>
            <a:r>
              <a:rPr sz="1200" spc="30" dirty="0">
                <a:solidFill>
                  <a:srgbClr val="87897C"/>
                </a:solidFill>
                <a:latin typeface="Trebuchet MS"/>
                <a:cs typeface="Trebuchet MS"/>
              </a:rPr>
              <a:t>probabilidad, </a:t>
            </a:r>
            <a:r>
              <a:rPr sz="1200" spc="90" dirty="0">
                <a:solidFill>
                  <a:srgbClr val="87897C"/>
                </a:solidFill>
                <a:latin typeface="Trebuchet MS"/>
                <a:cs typeface="Trebuchet MS"/>
              </a:rPr>
              <a:t>es </a:t>
            </a:r>
            <a:r>
              <a:rPr sz="1200" spc="-5" dirty="0">
                <a:solidFill>
                  <a:srgbClr val="87897C"/>
                </a:solidFill>
                <a:latin typeface="Trebuchet MS"/>
                <a:cs typeface="Trebuchet MS"/>
              </a:rPr>
              <a:t>decir, </a:t>
            </a:r>
            <a:r>
              <a:rPr sz="1200" spc="45" dirty="0">
                <a:solidFill>
                  <a:srgbClr val="87897C"/>
                </a:solidFill>
                <a:latin typeface="Trebuchet MS"/>
                <a:cs typeface="Trebuchet MS"/>
              </a:rPr>
              <a:t>probabilidad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de </a:t>
            </a:r>
            <a:r>
              <a:rPr sz="1200" spc="50" dirty="0">
                <a:solidFill>
                  <a:srgbClr val="87897C"/>
                </a:solidFill>
                <a:latin typeface="Trebuchet MS"/>
                <a:cs typeface="Trebuchet MS"/>
              </a:rPr>
              <a:t>obtener </a:t>
            </a:r>
            <a:r>
              <a:rPr sz="1200" spc="65" dirty="0">
                <a:solidFill>
                  <a:srgbClr val="87897C"/>
                </a:solidFill>
                <a:latin typeface="Trebuchet MS"/>
                <a:cs typeface="Trebuchet MS"/>
              </a:rPr>
              <a:t>5 </a:t>
            </a:r>
            <a:r>
              <a:rPr sz="1200" spc="75" dirty="0">
                <a:solidFill>
                  <a:srgbClr val="87897C"/>
                </a:solidFill>
                <a:latin typeface="Trebuchet MS"/>
                <a:cs typeface="Trebuchet MS"/>
              </a:rPr>
              <a:t>o  </a:t>
            </a:r>
            <a:r>
              <a:rPr sz="1200" spc="95" dirty="0">
                <a:solidFill>
                  <a:srgbClr val="87897C"/>
                </a:solidFill>
                <a:latin typeface="Trebuchet MS"/>
                <a:cs typeface="Trebuchet MS"/>
              </a:rPr>
              <a:t>menos </a:t>
            </a:r>
            <a:r>
              <a:rPr sz="1200" spc="65" dirty="0">
                <a:solidFill>
                  <a:srgbClr val="87897C"/>
                </a:solidFill>
                <a:latin typeface="Trebuchet MS"/>
                <a:cs typeface="Trebuchet MS"/>
              </a:rPr>
              <a:t>caras </a:t>
            </a:r>
            <a:r>
              <a:rPr sz="1200" spc="90" dirty="0">
                <a:solidFill>
                  <a:srgbClr val="87897C"/>
                </a:solidFill>
                <a:latin typeface="Trebuchet MS"/>
                <a:cs typeface="Trebuchet MS"/>
              </a:rPr>
              <a:t>es </a:t>
            </a:r>
            <a:r>
              <a:rPr sz="1200" spc="-25" dirty="0">
                <a:solidFill>
                  <a:srgbClr val="87897C"/>
                </a:solidFill>
                <a:latin typeface="Trebuchet MS"/>
                <a:cs typeface="Trebuchet MS"/>
              </a:rPr>
              <a:t>i </a:t>
            </a:r>
            <a:r>
              <a:rPr sz="1200" spc="45" dirty="0">
                <a:solidFill>
                  <a:srgbClr val="87897C"/>
                </a:solidFill>
                <a:latin typeface="Trebuchet MS"/>
                <a:cs typeface="Trebuchet MS"/>
              </a:rPr>
              <a:t>ual a </a:t>
            </a:r>
            <a:r>
              <a:rPr sz="1200" spc="30" dirty="0">
                <a:solidFill>
                  <a:srgbClr val="87897C"/>
                </a:solidFill>
                <a:latin typeface="Trebuchet MS"/>
                <a:cs typeface="Trebuchet MS"/>
              </a:rPr>
              <a:t>la </a:t>
            </a:r>
            <a:r>
              <a:rPr sz="1200" spc="45" dirty="0">
                <a:solidFill>
                  <a:srgbClr val="87897C"/>
                </a:solidFill>
                <a:latin typeface="Trebuchet MS"/>
                <a:cs typeface="Trebuchet MS"/>
              </a:rPr>
              <a:t>probabilidad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de </a:t>
            </a:r>
            <a:r>
              <a:rPr sz="1200" spc="50" dirty="0">
                <a:solidFill>
                  <a:srgbClr val="87897C"/>
                </a:solidFill>
                <a:latin typeface="Trebuchet MS"/>
                <a:cs typeface="Trebuchet MS"/>
              </a:rPr>
              <a:t>obtener </a:t>
            </a:r>
            <a:r>
              <a:rPr sz="1200" spc="114" dirty="0">
                <a:solidFill>
                  <a:srgbClr val="87897C"/>
                </a:solidFill>
                <a:latin typeface="Trebuchet MS"/>
                <a:cs typeface="Trebuchet MS"/>
              </a:rPr>
              <a:t>0 </a:t>
            </a:r>
            <a:r>
              <a:rPr sz="1200" spc="65" dirty="0">
                <a:solidFill>
                  <a:srgbClr val="87897C"/>
                </a:solidFill>
                <a:latin typeface="Trebuchet MS"/>
                <a:cs typeface="Trebuchet MS"/>
              </a:rPr>
              <a:t>caras </a:t>
            </a:r>
            <a:r>
              <a:rPr sz="1200" spc="145" dirty="0">
                <a:solidFill>
                  <a:srgbClr val="87897C"/>
                </a:solidFill>
                <a:latin typeface="Trebuchet MS"/>
                <a:cs typeface="Trebuchet MS"/>
              </a:rPr>
              <a:t>MÁS </a:t>
            </a:r>
            <a:r>
              <a:rPr sz="1200" spc="45" dirty="0">
                <a:solidFill>
                  <a:srgbClr val="87897C"/>
                </a:solidFill>
                <a:latin typeface="Trebuchet MS"/>
                <a:cs typeface="Trebuchet MS"/>
              </a:rPr>
              <a:t>probabilidad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de </a:t>
            </a:r>
            <a:r>
              <a:rPr sz="1200" spc="50" dirty="0">
                <a:solidFill>
                  <a:srgbClr val="87897C"/>
                </a:solidFill>
                <a:latin typeface="Trebuchet MS"/>
                <a:cs typeface="Trebuchet MS"/>
              </a:rPr>
              <a:t>obtener </a:t>
            </a:r>
            <a:r>
              <a:rPr sz="1200" spc="-165" dirty="0">
                <a:solidFill>
                  <a:srgbClr val="87897C"/>
                </a:solidFill>
                <a:latin typeface="Trebuchet MS"/>
                <a:cs typeface="Trebuchet MS"/>
              </a:rPr>
              <a:t>1 </a:t>
            </a:r>
            <a:r>
              <a:rPr sz="1200" spc="40" dirty="0">
                <a:solidFill>
                  <a:srgbClr val="87897C"/>
                </a:solidFill>
                <a:latin typeface="Trebuchet MS"/>
                <a:cs typeface="Trebuchet MS"/>
              </a:rPr>
              <a:t>cara</a:t>
            </a:r>
            <a:r>
              <a:rPr sz="1200" spc="-114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200" spc="145" dirty="0">
                <a:solidFill>
                  <a:srgbClr val="87897C"/>
                </a:solidFill>
                <a:latin typeface="Trebuchet MS"/>
                <a:cs typeface="Trebuchet MS"/>
              </a:rPr>
              <a:t>MÁS  </a:t>
            </a:r>
            <a:r>
              <a:rPr sz="1200" spc="45" dirty="0">
                <a:solidFill>
                  <a:srgbClr val="87897C"/>
                </a:solidFill>
                <a:latin typeface="Trebuchet MS"/>
                <a:cs typeface="Trebuchet MS"/>
              </a:rPr>
              <a:t>probabilidad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de </a:t>
            </a:r>
            <a:r>
              <a:rPr sz="1200" spc="50" dirty="0">
                <a:solidFill>
                  <a:srgbClr val="87897C"/>
                </a:solidFill>
                <a:latin typeface="Trebuchet MS"/>
                <a:cs typeface="Trebuchet MS"/>
              </a:rPr>
              <a:t>obtener </a:t>
            </a:r>
            <a:r>
              <a:rPr sz="1200" spc="70" dirty="0">
                <a:solidFill>
                  <a:srgbClr val="87897C"/>
                </a:solidFill>
                <a:latin typeface="Trebuchet MS"/>
                <a:cs typeface="Trebuchet MS"/>
              </a:rPr>
              <a:t>2</a:t>
            </a:r>
            <a:r>
              <a:rPr sz="1200" spc="-5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200" spc="65" dirty="0">
                <a:solidFill>
                  <a:srgbClr val="87897C"/>
                </a:solidFill>
                <a:latin typeface="Trebuchet MS"/>
                <a:cs typeface="Trebuchet MS"/>
              </a:rPr>
              <a:t>caras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2101" y="2402063"/>
            <a:ext cx="137160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30" dirty="0">
                <a:solidFill>
                  <a:srgbClr val="606060"/>
                </a:solidFill>
                <a:latin typeface="Verdana"/>
                <a:cs typeface="Verdana"/>
              </a:rPr>
              <a:t>LA </a:t>
            </a:r>
            <a:r>
              <a:rPr sz="1050" spc="55" dirty="0">
                <a:solidFill>
                  <a:srgbClr val="606060"/>
                </a:solidFill>
                <a:latin typeface="Verdana"/>
                <a:cs typeface="Verdana"/>
              </a:rPr>
              <a:t>FORMULA</a:t>
            </a:r>
            <a:r>
              <a:rPr sz="1050" spc="-295" dirty="0">
                <a:solidFill>
                  <a:srgbClr val="606060"/>
                </a:solidFill>
                <a:latin typeface="Verdana"/>
                <a:cs typeface="Verdana"/>
              </a:rPr>
              <a:t> </a:t>
            </a:r>
            <a:r>
              <a:rPr sz="1050" spc="-20" dirty="0">
                <a:solidFill>
                  <a:srgbClr val="606060"/>
                </a:solidFill>
                <a:latin typeface="Verdana"/>
                <a:cs typeface="Verdana"/>
              </a:rPr>
              <a:t>SERIA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01793" y="2674119"/>
            <a:ext cx="2991643" cy="67949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923413" y="0"/>
            <a:ext cx="3230245" cy="1058545"/>
            <a:chOff x="5923413" y="0"/>
            <a:chExt cx="3230245" cy="1058545"/>
          </a:xfrm>
        </p:grpSpPr>
        <p:sp>
          <p:nvSpPr>
            <p:cNvPr id="3" name="object 3"/>
            <p:cNvSpPr/>
            <p:nvPr/>
          </p:nvSpPr>
          <p:spPr>
            <a:xfrm>
              <a:off x="5923413" y="0"/>
              <a:ext cx="3220568" cy="94237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239658" y="0"/>
              <a:ext cx="904875" cy="1039494"/>
            </a:xfrm>
            <a:custGeom>
              <a:avLst/>
              <a:gdLst/>
              <a:ahLst/>
              <a:cxnLst/>
              <a:rect l="l" t="t" r="r" b="b"/>
              <a:pathLst>
                <a:path w="904875" h="1039494">
                  <a:moveTo>
                    <a:pt x="609998" y="1038880"/>
                  </a:moveTo>
                  <a:lnTo>
                    <a:pt x="562313" y="1037046"/>
                  </a:lnTo>
                  <a:lnTo>
                    <a:pt x="515635" y="1031633"/>
                  </a:lnTo>
                  <a:lnTo>
                    <a:pt x="470098" y="1022776"/>
                  </a:lnTo>
                  <a:lnTo>
                    <a:pt x="425838" y="1010612"/>
                  </a:lnTo>
                  <a:lnTo>
                    <a:pt x="382990" y="995276"/>
                  </a:lnTo>
                  <a:lnTo>
                    <a:pt x="341690" y="976902"/>
                  </a:lnTo>
                  <a:lnTo>
                    <a:pt x="302073" y="955626"/>
                  </a:lnTo>
                  <a:lnTo>
                    <a:pt x="264275" y="931584"/>
                  </a:lnTo>
                  <a:lnTo>
                    <a:pt x="228431" y="904911"/>
                  </a:lnTo>
                  <a:lnTo>
                    <a:pt x="194676" y="875742"/>
                  </a:lnTo>
                  <a:lnTo>
                    <a:pt x="163146" y="844213"/>
                  </a:lnTo>
                  <a:lnTo>
                    <a:pt x="133976" y="810459"/>
                  </a:lnTo>
                  <a:lnTo>
                    <a:pt x="107302" y="774615"/>
                  </a:lnTo>
                  <a:lnTo>
                    <a:pt x="83259" y="736817"/>
                  </a:lnTo>
                  <a:lnTo>
                    <a:pt x="61982" y="697200"/>
                  </a:lnTo>
                  <a:lnTo>
                    <a:pt x="43607" y="655899"/>
                  </a:lnTo>
                  <a:lnTo>
                    <a:pt x="28269" y="613050"/>
                  </a:lnTo>
                  <a:lnTo>
                    <a:pt x="16104" y="568788"/>
                  </a:lnTo>
                  <a:lnTo>
                    <a:pt x="7248" y="523249"/>
                  </a:lnTo>
                  <a:lnTo>
                    <a:pt x="1834" y="476567"/>
                  </a:lnTo>
                  <a:lnTo>
                    <a:pt x="0" y="428879"/>
                  </a:lnTo>
                  <a:lnTo>
                    <a:pt x="1834" y="381234"/>
                  </a:lnTo>
                  <a:lnTo>
                    <a:pt x="7248" y="334592"/>
                  </a:lnTo>
                  <a:lnTo>
                    <a:pt x="16104" y="289087"/>
                  </a:lnTo>
                  <a:lnTo>
                    <a:pt x="28269" y="244857"/>
                  </a:lnTo>
                  <a:lnTo>
                    <a:pt x="43607" y="202035"/>
                  </a:lnTo>
                  <a:lnTo>
                    <a:pt x="61982" y="160758"/>
                  </a:lnTo>
                  <a:lnTo>
                    <a:pt x="83259" y="121161"/>
                  </a:lnTo>
                  <a:lnTo>
                    <a:pt x="107302" y="83381"/>
                  </a:lnTo>
                  <a:lnTo>
                    <a:pt x="133976" y="47552"/>
                  </a:lnTo>
                  <a:lnTo>
                    <a:pt x="163146" y="13809"/>
                  </a:lnTo>
                  <a:lnTo>
                    <a:pt x="904322" y="0"/>
                  </a:lnTo>
                  <a:lnTo>
                    <a:pt x="904322" y="962830"/>
                  </a:lnTo>
                  <a:lnTo>
                    <a:pt x="836853" y="995276"/>
                  </a:lnTo>
                  <a:lnTo>
                    <a:pt x="794030" y="1010612"/>
                  </a:lnTo>
                  <a:lnTo>
                    <a:pt x="749797" y="1022776"/>
                  </a:lnTo>
                  <a:lnTo>
                    <a:pt x="704290" y="1031633"/>
                  </a:lnTo>
                  <a:lnTo>
                    <a:pt x="657646" y="1037046"/>
                  </a:lnTo>
                  <a:lnTo>
                    <a:pt x="609998" y="1038880"/>
                  </a:lnTo>
                  <a:close/>
                </a:path>
              </a:pathLst>
            </a:custGeom>
            <a:solidFill>
              <a:srgbClr val="8789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239658" y="0"/>
              <a:ext cx="904875" cy="1039494"/>
            </a:xfrm>
            <a:custGeom>
              <a:avLst/>
              <a:gdLst/>
              <a:ahLst/>
              <a:cxnLst/>
              <a:rect l="l" t="t" r="r" b="b"/>
              <a:pathLst>
                <a:path w="904875" h="1039494">
                  <a:moveTo>
                    <a:pt x="176960" y="0"/>
                  </a:moveTo>
                  <a:lnTo>
                    <a:pt x="133976" y="47552"/>
                  </a:lnTo>
                  <a:lnTo>
                    <a:pt x="107302" y="83381"/>
                  </a:lnTo>
                  <a:lnTo>
                    <a:pt x="83259" y="121161"/>
                  </a:lnTo>
                  <a:lnTo>
                    <a:pt x="61982" y="160758"/>
                  </a:lnTo>
                  <a:lnTo>
                    <a:pt x="43607" y="202035"/>
                  </a:lnTo>
                  <a:lnTo>
                    <a:pt x="28269" y="244857"/>
                  </a:lnTo>
                  <a:lnTo>
                    <a:pt x="16104" y="289087"/>
                  </a:lnTo>
                  <a:lnTo>
                    <a:pt x="7248" y="334592"/>
                  </a:lnTo>
                  <a:lnTo>
                    <a:pt x="1834" y="381234"/>
                  </a:lnTo>
                  <a:lnTo>
                    <a:pt x="0" y="428879"/>
                  </a:lnTo>
                  <a:lnTo>
                    <a:pt x="1834" y="476567"/>
                  </a:lnTo>
                  <a:lnTo>
                    <a:pt x="7248" y="523249"/>
                  </a:lnTo>
                  <a:lnTo>
                    <a:pt x="16104" y="568788"/>
                  </a:lnTo>
                  <a:lnTo>
                    <a:pt x="28269" y="613050"/>
                  </a:lnTo>
                  <a:lnTo>
                    <a:pt x="43607" y="655899"/>
                  </a:lnTo>
                  <a:lnTo>
                    <a:pt x="61982" y="697200"/>
                  </a:lnTo>
                  <a:lnTo>
                    <a:pt x="83259" y="736817"/>
                  </a:lnTo>
                  <a:lnTo>
                    <a:pt x="107302" y="774615"/>
                  </a:lnTo>
                  <a:lnTo>
                    <a:pt x="133976" y="810459"/>
                  </a:lnTo>
                  <a:lnTo>
                    <a:pt x="163146" y="844213"/>
                  </a:lnTo>
                  <a:lnTo>
                    <a:pt x="194676" y="875742"/>
                  </a:lnTo>
                  <a:lnTo>
                    <a:pt x="228431" y="904911"/>
                  </a:lnTo>
                  <a:lnTo>
                    <a:pt x="264275" y="931584"/>
                  </a:lnTo>
                  <a:lnTo>
                    <a:pt x="302073" y="955626"/>
                  </a:lnTo>
                  <a:lnTo>
                    <a:pt x="341690" y="976902"/>
                  </a:lnTo>
                  <a:lnTo>
                    <a:pt x="382990" y="995276"/>
                  </a:lnTo>
                  <a:lnTo>
                    <a:pt x="425838" y="1010612"/>
                  </a:lnTo>
                  <a:lnTo>
                    <a:pt x="470098" y="1022776"/>
                  </a:lnTo>
                  <a:lnTo>
                    <a:pt x="515635" y="1031633"/>
                  </a:lnTo>
                  <a:lnTo>
                    <a:pt x="562313" y="1037046"/>
                  </a:lnTo>
                  <a:lnTo>
                    <a:pt x="609998" y="1038880"/>
                  </a:lnTo>
                  <a:lnTo>
                    <a:pt x="657646" y="1037046"/>
                  </a:lnTo>
                  <a:lnTo>
                    <a:pt x="704290" y="1031633"/>
                  </a:lnTo>
                  <a:lnTo>
                    <a:pt x="749797" y="1022776"/>
                  </a:lnTo>
                  <a:lnTo>
                    <a:pt x="794030" y="1010612"/>
                  </a:lnTo>
                  <a:lnTo>
                    <a:pt x="836853" y="995276"/>
                  </a:lnTo>
                  <a:lnTo>
                    <a:pt x="878132" y="976902"/>
                  </a:lnTo>
                  <a:lnTo>
                    <a:pt x="904322" y="962830"/>
                  </a:lnTo>
                </a:path>
              </a:pathLst>
            </a:custGeom>
            <a:ln w="19049">
              <a:solidFill>
                <a:srgbClr val="2D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55374" y="4523765"/>
            <a:ext cx="629285" cy="629285"/>
            <a:chOff x="55374" y="4523765"/>
            <a:chExt cx="629285" cy="629285"/>
          </a:xfrm>
        </p:grpSpPr>
        <p:sp>
          <p:nvSpPr>
            <p:cNvPr id="7" name="object 7"/>
            <p:cNvSpPr/>
            <p:nvPr/>
          </p:nvSpPr>
          <p:spPr>
            <a:xfrm>
              <a:off x="64899" y="4533290"/>
              <a:ext cx="610235" cy="610235"/>
            </a:xfrm>
            <a:custGeom>
              <a:avLst/>
              <a:gdLst/>
              <a:ahLst/>
              <a:cxnLst/>
              <a:rect l="l" t="t" r="r" b="b"/>
              <a:pathLst>
                <a:path w="610235" h="610235">
                  <a:moveTo>
                    <a:pt x="305099" y="610198"/>
                  </a:moveTo>
                  <a:lnTo>
                    <a:pt x="255544" y="606204"/>
                  </a:lnTo>
                  <a:lnTo>
                    <a:pt x="208559" y="594642"/>
                  </a:lnTo>
                  <a:lnTo>
                    <a:pt x="164768" y="576139"/>
                  </a:lnTo>
                  <a:lnTo>
                    <a:pt x="124793" y="551324"/>
                  </a:lnTo>
                  <a:lnTo>
                    <a:pt x="89259" y="520827"/>
                  </a:lnTo>
                  <a:lnTo>
                    <a:pt x="58787" y="485275"/>
                  </a:lnTo>
                  <a:lnTo>
                    <a:pt x="34003" y="445298"/>
                  </a:lnTo>
                  <a:lnTo>
                    <a:pt x="15527" y="401523"/>
                  </a:lnTo>
                  <a:lnTo>
                    <a:pt x="3985" y="354581"/>
                  </a:lnTo>
                  <a:lnTo>
                    <a:pt x="0" y="305099"/>
                  </a:lnTo>
                  <a:lnTo>
                    <a:pt x="3985" y="255617"/>
                  </a:lnTo>
                  <a:lnTo>
                    <a:pt x="15527" y="208674"/>
                  </a:lnTo>
                  <a:lnTo>
                    <a:pt x="34003" y="164900"/>
                  </a:lnTo>
                  <a:lnTo>
                    <a:pt x="58787" y="124923"/>
                  </a:lnTo>
                  <a:lnTo>
                    <a:pt x="89259" y="89371"/>
                  </a:lnTo>
                  <a:lnTo>
                    <a:pt x="124793" y="58874"/>
                  </a:lnTo>
                  <a:lnTo>
                    <a:pt x="164768" y="34059"/>
                  </a:lnTo>
                  <a:lnTo>
                    <a:pt x="208559" y="15556"/>
                  </a:lnTo>
                  <a:lnTo>
                    <a:pt x="255544" y="3993"/>
                  </a:lnTo>
                  <a:lnTo>
                    <a:pt x="305099" y="0"/>
                  </a:lnTo>
                  <a:lnTo>
                    <a:pt x="354581" y="3993"/>
                  </a:lnTo>
                  <a:lnTo>
                    <a:pt x="401523" y="15556"/>
                  </a:lnTo>
                  <a:lnTo>
                    <a:pt x="445298" y="34059"/>
                  </a:lnTo>
                  <a:lnTo>
                    <a:pt x="485275" y="58874"/>
                  </a:lnTo>
                  <a:lnTo>
                    <a:pt x="520827" y="89371"/>
                  </a:lnTo>
                  <a:lnTo>
                    <a:pt x="551324" y="124923"/>
                  </a:lnTo>
                  <a:lnTo>
                    <a:pt x="576139" y="164900"/>
                  </a:lnTo>
                  <a:lnTo>
                    <a:pt x="594642" y="208674"/>
                  </a:lnTo>
                  <a:lnTo>
                    <a:pt x="606204" y="255617"/>
                  </a:lnTo>
                  <a:lnTo>
                    <a:pt x="610198" y="305099"/>
                  </a:lnTo>
                  <a:lnTo>
                    <a:pt x="606204" y="354581"/>
                  </a:lnTo>
                  <a:lnTo>
                    <a:pt x="594642" y="401523"/>
                  </a:lnTo>
                  <a:lnTo>
                    <a:pt x="576139" y="445298"/>
                  </a:lnTo>
                  <a:lnTo>
                    <a:pt x="551324" y="485275"/>
                  </a:lnTo>
                  <a:lnTo>
                    <a:pt x="520827" y="520827"/>
                  </a:lnTo>
                  <a:lnTo>
                    <a:pt x="485275" y="551324"/>
                  </a:lnTo>
                  <a:lnTo>
                    <a:pt x="445298" y="576139"/>
                  </a:lnTo>
                  <a:lnTo>
                    <a:pt x="401523" y="594642"/>
                  </a:lnTo>
                  <a:lnTo>
                    <a:pt x="354581" y="606204"/>
                  </a:lnTo>
                  <a:lnTo>
                    <a:pt x="305099" y="610198"/>
                  </a:lnTo>
                  <a:close/>
                </a:path>
              </a:pathLst>
            </a:custGeom>
            <a:solidFill>
              <a:srgbClr val="BCDA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4899" y="4533290"/>
              <a:ext cx="610235" cy="610235"/>
            </a:xfrm>
            <a:custGeom>
              <a:avLst/>
              <a:gdLst/>
              <a:ahLst/>
              <a:cxnLst/>
              <a:rect l="l" t="t" r="r" b="b"/>
              <a:pathLst>
                <a:path w="610235" h="610235">
                  <a:moveTo>
                    <a:pt x="305099" y="0"/>
                  </a:moveTo>
                  <a:lnTo>
                    <a:pt x="255544" y="3993"/>
                  </a:lnTo>
                  <a:lnTo>
                    <a:pt x="208559" y="15556"/>
                  </a:lnTo>
                  <a:lnTo>
                    <a:pt x="164768" y="34059"/>
                  </a:lnTo>
                  <a:lnTo>
                    <a:pt x="124793" y="58874"/>
                  </a:lnTo>
                  <a:lnTo>
                    <a:pt x="89259" y="89371"/>
                  </a:lnTo>
                  <a:lnTo>
                    <a:pt x="58787" y="124923"/>
                  </a:lnTo>
                  <a:lnTo>
                    <a:pt x="34003" y="164900"/>
                  </a:lnTo>
                  <a:lnTo>
                    <a:pt x="15527" y="208674"/>
                  </a:lnTo>
                  <a:lnTo>
                    <a:pt x="3985" y="255617"/>
                  </a:lnTo>
                  <a:lnTo>
                    <a:pt x="0" y="305099"/>
                  </a:lnTo>
                  <a:lnTo>
                    <a:pt x="3985" y="354581"/>
                  </a:lnTo>
                  <a:lnTo>
                    <a:pt x="15527" y="401523"/>
                  </a:lnTo>
                  <a:lnTo>
                    <a:pt x="34003" y="445298"/>
                  </a:lnTo>
                  <a:lnTo>
                    <a:pt x="58787" y="485275"/>
                  </a:lnTo>
                  <a:lnTo>
                    <a:pt x="89259" y="520827"/>
                  </a:lnTo>
                  <a:lnTo>
                    <a:pt x="124793" y="551324"/>
                  </a:lnTo>
                  <a:lnTo>
                    <a:pt x="164768" y="576139"/>
                  </a:lnTo>
                  <a:lnTo>
                    <a:pt x="208559" y="594642"/>
                  </a:lnTo>
                  <a:lnTo>
                    <a:pt x="255544" y="606204"/>
                  </a:lnTo>
                  <a:lnTo>
                    <a:pt x="305099" y="610198"/>
                  </a:lnTo>
                  <a:lnTo>
                    <a:pt x="354581" y="606204"/>
                  </a:lnTo>
                  <a:lnTo>
                    <a:pt x="401523" y="594642"/>
                  </a:lnTo>
                  <a:lnTo>
                    <a:pt x="445298" y="576139"/>
                  </a:lnTo>
                  <a:lnTo>
                    <a:pt x="485275" y="551324"/>
                  </a:lnTo>
                  <a:lnTo>
                    <a:pt x="520827" y="520827"/>
                  </a:lnTo>
                  <a:lnTo>
                    <a:pt x="551324" y="485275"/>
                  </a:lnTo>
                  <a:lnTo>
                    <a:pt x="576139" y="445298"/>
                  </a:lnTo>
                  <a:lnTo>
                    <a:pt x="594642" y="401523"/>
                  </a:lnTo>
                  <a:lnTo>
                    <a:pt x="606204" y="354581"/>
                  </a:lnTo>
                  <a:lnTo>
                    <a:pt x="610198" y="305099"/>
                  </a:lnTo>
                  <a:lnTo>
                    <a:pt x="606204" y="255617"/>
                  </a:lnTo>
                  <a:lnTo>
                    <a:pt x="594642" y="208674"/>
                  </a:lnTo>
                  <a:lnTo>
                    <a:pt x="576139" y="164900"/>
                  </a:lnTo>
                  <a:lnTo>
                    <a:pt x="551324" y="124923"/>
                  </a:lnTo>
                  <a:lnTo>
                    <a:pt x="520827" y="89371"/>
                  </a:lnTo>
                  <a:lnTo>
                    <a:pt x="485275" y="58874"/>
                  </a:lnTo>
                  <a:lnTo>
                    <a:pt x="445298" y="34059"/>
                  </a:lnTo>
                  <a:lnTo>
                    <a:pt x="401523" y="15556"/>
                  </a:lnTo>
                  <a:lnTo>
                    <a:pt x="354581" y="3993"/>
                  </a:lnTo>
                  <a:lnTo>
                    <a:pt x="305099" y="0"/>
                  </a:lnTo>
                  <a:close/>
                </a:path>
              </a:pathLst>
            </a:custGeom>
            <a:ln w="19049">
              <a:solidFill>
                <a:srgbClr val="2D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265049" y="303149"/>
            <a:ext cx="6166485" cy="787400"/>
          </a:xfrm>
          <a:custGeom>
            <a:avLst/>
            <a:gdLst/>
            <a:ahLst/>
            <a:cxnLst/>
            <a:rect l="l" t="t" r="r" b="b"/>
            <a:pathLst>
              <a:path w="6166485" h="787400">
                <a:moveTo>
                  <a:pt x="0" y="0"/>
                </a:moveTo>
                <a:lnTo>
                  <a:pt x="6166187" y="0"/>
                </a:lnTo>
                <a:lnTo>
                  <a:pt x="6166187" y="787198"/>
                </a:lnTo>
                <a:lnTo>
                  <a:pt x="0" y="7871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2D3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61923" y="479325"/>
            <a:ext cx="42906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30" dirty="0"/>
              <a:t>Distribución </a:t>
            </a:r>
            <a:r>
              <a:rPr sz="2800" spc="85" dirty="0"/>
              <a:t>de</a:t>
            </a:r>
            <a:r>
              <a:rPr sz="2800" spc="-365" dirty="0"/>
              <a:t> </a:t>
            </a:r>
            <a:r>
              <a:rPr sz="2800" spc="-5" dirty="0"/>
              <a:t>Bernoulli</a:t>
            </a:r>
            <a:endParaRPr sz="2800"/>
          </a:p>
        </p:txBody>
      </p:sp>
      <p:sp>
        <p:nvSpPr>
          <p:cNvPr id="11" name="object 11"/>
          <p:cNvSpPr txBox="1"/>
          <p:nvPr/>
        </p:nvSpPr>
        <p:spPr>
          <a:xfrm>
            <a:off x="793023" y="1282678"/>
            <a:ext cx="7498715" cy="93218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>
              <a:lnSpc>
                <a:spcPts val="1420"/>
              </a:lnSpc>
              <a:spcBef>
                <a:spcPts val="160"/>
              </a:spcBef>
            </a:pPr>
            <a:r>
              <a:rPr sz="1200" spc="75" dirty="0">
                <a:solidFill>
                  <a:srgbClr val="87897C"/>
                </a:solidFill>
                <a:latin typeface="Trebuchet MS"/>
                <a:cs typeface="Trebuchet MS"/>
              </a:rPr>
              <a:t>Consiste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en </a:t>
            </a:r>
            <a:r>
              <a:rPr sz="1200" spc="25" dirty="0">
                <a:solidFill>
                  <a:srgbClr val="87897C"/>
                </a:solidFill>
                <a:latin typeface="Trebuchet MS"/>
                <a:cs typeface="Trebuchet MS"/>
              </a:rPr>
              <a:t>realizar </a:t>
            </a:r>
            <a:r>
              <a:rPr sz="1200" spc="85" dirty="0">
                <a:solidFill>
                  <a:srgbClr val="87897C"/>
                </a:solidFill>
                <a:latin typeface="Trebuchet MS"/>
                <a:cs typeface="Trebuchet MS"/>
              </a:rPr>
              <a:t>un </a:t>
            </a:r>
            <a:r>
              <a:rPr sz="1200" spc="45" dirty="0">
                <a:solidFill>
                  <a:srgbClr val="87897C"/>
                </a:solidFill>
                <a:latin typeface="Trebuchet MS"/>
                <a:cs typeface="Trebuchet MS"/>
              </a:rPr>
              <a:t>experimento </a:t>
            </a:r>
            <a:r>
              <a:rPr sz="1200" spc="30" dirty="0">
                <a:solidFill>
                  <a:srgbClr val="87897C"/>
                </a:solidFill>
                <a:latin typeface="Trebuchet MS"/>
                <a:cs typeface="Trebuchet MS"/>
              </a:rPr>
              <a:t>aleatorio </a:t>
            </a:r>
            <a:r>
              <a:rPr sz="1200" spc="70" dirty="0">
                <a:solidFill>
                  <a:srgbClr val="87897C"/>
                </a:solidFill>
                <a:latin typeface="Trebuchet MS"/>
                <a:cs typeface="Trebuchet MS"/>
              </a:rPr>
              <a:t>una sola </a:t>
            </a:r>
            <a:r>
              <a:rPr sz="1200" spc="45" dirty="0">
                <a:solidFill>
                  <a:srgbClr val="87897C"/>
                </a:solidFill>
                <a:latin typeface="Trebuchet MS"/>
                <a:cs typeface="Trebuchet MS"/>
              </a:rPr>
              <a:t>vez </a:t>
            </a:r>
            <a:r>
              <a:rPr sz="1200" spc="25" dirty="0">
                <a:solidFill>
                  <a:srgbClr val="87897C"/>
                </a:solidFill>
                <a:latin typeface="Trebuchet MS"/>
                <a:cs typeface="Trebuchet MS"/>
              </a:rPr>
              <a:t>y </a:t>
            </a:r>
            <a:r>
              <a:rPr sz="1200" spc="55" dirty="0">
                <a:solidFill>
                  <a:srgbClr val="87897C"/>
                </a:solidFill>
                <a:latin typeface="Trebuchet MS"/>
                <a:cs typeface="Trebuchet MS"/>
              </a:rPr>
              <a:t>observar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si </a:t>
            </a:r>
            <a:r>
              <a:rPr sz="1200" spc="30" dirty="0">
                <a:solidFill>
                  <a:srgbClr val="87897C"/>
                </a:solidFill>
                <a:latin typeface="Trebuchet MS"/>
                <a:cs typeface="Trebuchet MS"/>
              </a:rPr>
              <a:t>cierto </a:t>
            </a:r>
            <a:r>
              <a:rPr sz="1200" spc="95" dirty="0">
                <a:solidFill>
                  <a:srgbClr val="87897C"/>
                </a:solidFill>
                <a:latin typeface="Trebuchet MS"/>
                <a:cs typeface="Trebuchet MS"/>
              </a:rPr>
              <a:t>suceso </a:t>
            </a:r>
            <a:r>
              <a:rPr sz="1200" spc="50" dirty="0">
                <a:solidFill>
                  <a:srgbClr val="87897C"/>
                </a:solidFill>
                <a:latin typeface="Trebuchet MS"/>
                <a:cs typeface="Trebuchet MS"/>
              </a:rPr>
              <a:t>ocurre </a:t>
            </a:r>
            <a:r>
              <a:rPr sz="1200" spc="75" dirty="0">
                <a:solidFill>
                  <a:srgbClr val="87897C"/>
                </a:solidFill>
                <a:latin typeface="Trebuchet MS"/>
                <a:cs typeface="Trebuchet MS"/>
              </a:rPr>
              <a:t>o </a:t>
            </a:r>
            <a:r>
              <a:rPr sz="1200" spc="5" dirty="0">
                <a:solidFill>
                  <a:srgbClr val="87897C"/>
                </a:solidFill>
                <a:latin typeface="Trebuchet MS"/>
                <a:cs typeface="Trebuchet MS"/>
              </a:rPr>
              <a:t>no,  </a:t>
            </a:r>
            <a:r>
              <a:rPr sz="1200" spc="65" dirty="0">
                <a:solidFill>
                  <a:srgbClr val="87897C"/>
                </a:solidFill>
                <a:latin typeface="Trebuchet MS"/>
                <a:cs typeface="Trebuchet MS"/>
              </a:rPr>
              <a:t>siendo </a:t>
            </a:r>
            <a:r>
              <a:rPr sz="1200" spc="80" dirty="0">
                <a:solidFill>
                  <a:srgbClr val="87897C"/>
                </a:solidFill>
                <a:latin typeface="Trebuchet MS"/>
                <a:cs typeface="Trebuchet MS"/>
              </a:rPr>
              <a:t>p </a:t>
            </a:r>
            <a:r>
              <a:rPr sz="1200" spc="30" dirty="0">
                <a:solidFill>
                  <a:srgbClr val="87897C"/>
                </a:solidFill>
                <a:latin typeface="Trebuchet MS"/>
                <a:cs typeface="Trebuchet MS"/>
              </a:rPr>
              <a:t>la </a:t>
            </a:r>
            <a:r>
              <a:rPr sz="1200" spc="45" dirty="0">
                <a:solidFill>
                  <a:srgbClr val="87897C"/>
                </a:solidFill>
                <a:latin typeface="Trebuchet MS"/>
                <a:cs typeface="Trebuchet MS"/>
              </a:rPr>
              <a:t>probabilidad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de </a:t>
            </a:r>
            <a:r>
              <a:rPr sz="1200" spc="65" dirty="0">
                <a:solidFill>
                  <a:srgbClr val="87897C"/>
                </a:solidFill>
                <a:latin typeface="Trebuchet MS"/>
                <a:cs typeface="Trebuchet MS"/>
              </a:rPr>
              <a:t>que </a:t>
            </a:r>
            <a:r>
              <a:rPr sz="1200" spc="70" dirty="0">
                <a:solidFill>
                  <a:srgbClr val="87897C"/>
                </a:solidFill>
                <a:latin typeface="Trebuchet MS"/>
                <a:cs typeface="Trebuchet MS"/>
              </a:rPr>
              <a:t>esto </a:t>
            </a:r>
            <a:r>
              <a:rPr sz="1200" spc="75" dirty="0">
                <a:solidFill>
                  <a:srgbClr val="87897C"/>
                </a:solidFill>
                <a:latin typeface="Trebuchet MS"/>
                <a:cs typeface="Trebuchet MS"/>
              </a:rPr>
              <a:t>sea </a:t>
            </a:r>
            <a:r>
              <a:rPr sz="1200" spc="55" dirty="0">
                <a:solidFill>
                  <a:srgbClr val="87897C"/>
                </a:solidFill>
                <a:latin typeface="Trebuchet MS"/>
                <a:cs typeface="Trebuchet MS"/>
              </a:rPr>
              <a:t>así </a:t>
            </a:r>
            <a:r>
              <a:rPr sz="1200" spc="-10" dirty="0">
                <a:solidFill>
                  <a:srgbClr val="87897C"/>
                </a:solidFill>
                <a:latin typeface="Trebuchet MS"/>
                <a:cs typeface="Trebuchet MS"/>
              </a:rPr>
              <a:t>(exito) </a:t>
            </a:r>
            <a:r>
              <a:rPr sz="1200" spc="25" dirty="0">
                <a:solidFill>
                  <a:srgbClr val="87897C"/>
                </a:solidFill>
                <a:latin typeface="Trebuchet MS"/>
                <a:cs typeface="Trebuchet MS"/>
              </a:rPr>
              <a:t>y </a:t>
            </a:r>
            <a:r>
              <a:rPr sz="1200" spc="50" dirty="0">
                <a:solidFill>
                  <a:srgbClr val="87897C"/>
                </a:solidFill>
                <a:latin typeface="Trebuchet MS"/>
                <a:cs typeface="Trebuchet MS"/>
              </a:rPr>
              <a:t>q=1-p </a:t>
            </a:r>
            <a:r>
              <a:rPr sz="1200" spc="25" dirty="0">
                <a:solidFill>
                  <a:srgbClr val="87897C"/>
                </a:solidFill>
                <a:latin typeface="Trebuchet MS"/>
                <a:cs typeface="Trebuchet MS"/>
              </a:rPr>
              <a:t>el </a:t>
            </a:r>
            <a:r>
              <a:rPr sz="1200" spc="65" dirty="0">
                <a:solidFill>
                  <a:srgbClr val="87897C"/>
                </a:solidFill>
                <a:latin typeface="Trebuchet MS"/>
                <a:cs typeface="Trebuchet MS"/>
              </a:rPr>
              <a:t>que </a:t>
            </a:r>
            <a:r>
              <a:rPr sz="1200" spc="80" dirty="0">
                <a:solidFill>
                  <a:srgbClr val="87897C"/>
                </a:solidFill>
                <a:latin typeface="Trebuchet MS"/>
                <a:cs typeface="Trebuchet MS"/>
              </a:rPr>
              <a:t>no </a:t>
            </a:r>
            <a:r>
              <a:rPr sz="1200" spc="75" dirty="0">
                <a:solidFill>
                  <a:srgbClr val="87897C"/>
                </a:solidFill>
                <a:latin typeface="Trebuchet MS"/>
                <a:cs typeface="Trebuchet MS"/>
              </a:rPr>
              <a:t>sea </a:t>
            </a:r>
            <a:r>
              <a:rPr sz="1200" spc="15" dirty="0">
                <a:solidFill>
                  <a:srgbClr val="87897C"/>
                </a:solidFill>
                <a:latin typeface="Trebuchet MS"/>
                <a:cs typeface="Trebuchet MS"/>
              </a:rPr>
              <a:t>(fracaso). </a:t>
            </a:r>
            <a:r>
              <a:rPr sz="1200" spc="105" dirty="0">
                <a:solidFill>
                  <a:srgbClr val="87897C"/>
                </a:solidFill>
                <a:latin typeface="Trebuchet MS"/>
                <a:cs typeface="Trebuchet MS"/>
              </a:rPr>
              <a:t>En </a:t>
            </a:r>
            <a:r>
              <a:rPr sz="1200" spc="35" dirty="0">
                <a:solidFill>
                  <a:srgbClr val="87897C"/>
                </a:solidFill>
                <a:latin typeface="Trebuchet MS"/>
                <a:cs typeface="Trebuchet MS"/>
              </a:rPr>
              <a:t>realidad </a:t>
            </a:r>
            <a:r>
              <a:rPr sz="1200" spc="80" dirty="0">
                <a:solidFill>
                  <a:srgbClr val="87897C"/>
                </a:solidFill>
                <a:latin typeface="Trebuchet MS"/>
                <a:cs typeface="Trebuchet MS"/>
              </a:rPr>
              <a:t>no  </a:t>
            </a:r>
            <a:r>
              <a:rPr sz="1200" spc="90" dirty="0">
                <a:solidFill>
                  <a:srgbClr val="87897C"/>
                </a:solidFill>
                <a:latin typeface="Trebuchet MS"/>
                <a:cs typeface="Trebuchet MS"/>
              </a:rPr>
              <a:t>se</a:t>
            </a:r>
            <a:r>
              <a:rPr sz="1200" spc="25" dirty="0">
                <a:solidFill>
                  <a:srgbClr val="87897C"/>
                </a:solidFill>
                <a:latin typeface="Trebuchet MS"/>
                <a:cs typeface="Trebuchet MS"/>
              </a:rPr>
              <a:t> trata </a:t>
            </a:r>
            <a:r>
              <a:rPr sz="1200" spc="110" dirty="0">
                <a:solidFill>
                  <a:srgbClr val="87897C"/>
                </a:solidFill>
                <a:latin typeface="Trebuchet MS"/>
                <a:cs typeface="Trebuchet MS"/>
              </a:rPr>
              <a:t>más</a:t>
            </a:r>
            <a:r>
              <a:rPr sz="1200" spc="50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200" spc="65" dirty="0">
                <a:solidFill>
                  <a:srgbClr val="87897C"/>
                </a:solidFill>
                <a:latin typeface="Trebuchet MS"/>
                <a:cs typeface="Trebuchet MS"/>
              </a:rPr>
              <a:t>que</a:t>
            </a:r>
            <a:r>
              <a:rPr sz="1200" spc="50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de</a:t>
            </a:r>
            <a:r>
              <a:rPr sz="1200" spc="50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200" spc="70" dirty="0">
                <a:solidFill>
                  <a:srgbClr val="87897C"/>
                </a:solidFill>
                <a:latin typeface="Trebuchet MS"/>
                <a:cs typeface="Trebuchet MS"/>
              </a:rPr>
              <a:t>una</a:t>
            </a:r>
            <a:r>
              <a:rPr sz="1200" spc="-5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200" spc="30" dirty="0">
                <a:solidFill>
                  <a:srgbClr val="87897C"/>
                </a:solidFill>
                <a:latin typeface="Trebuchet MS"/>
                <a:cs typeface="Trebuchet MS"/>
              </a:rPr>
              <a:t>variable</a:t>
            </a:r>
            <a:r>
              <a:rPr sz="1200" spc="50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200" spc="35" dirty="0">
                <a:solidFill>
                  <a:srgbClr val="87897C"/>
                </a:solidFill>
                <a:latin typeface="Trebuchet MS"/>
                <a:cs typeface="Trebuchet MS"/>
              </a:rPr>
              <a:t>dicotómica.</a:t>
            </a:r>
            <a:r>
              <a:rPr sz="1200" spc="50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200" spc="130" dirty="0">
                <a:solidFill>
                  <a:srgbClr val="87897C"/>
                </a:solidFill>
                <a:latin typeface="Trebuchet MS"/>
                <a:cs typeface="Trebuchet MS"/>
              </a:rPr>
              <a:t>Es</a:t>
            </a:r>
            <a:r>
              <a:rPr sz="1200" spc="50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200" spc="40" dirty="0">
                <a:solidFill>
                  <a:srgbClr val="87897C"/>
                </a:solidFill>
                <a:latin typeface="Trebuchet MS"/>
                <a:cs typeface="Trebuchet MS"/>
              </a:rPr>
              <a:t>decir</a:t>
            </a:r>
            <a:r>
              <a:rPr sz="1200" spc="25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200" spc="65" dirty="0">
                <a:solidFill>
                  <a:srgbClr val="87897C"/>
                </a:solidFill>
                <a:latin typeface="Trebuchet MS"/>
                <a:cs typeface="Trebuchet MS"/>
              </a:rPr>
              <a:t>que</a:t>
            </a:r>
            <a:r>
              <a:rPr sz="1200" spc="55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únicamente</a:t>
            </a:r>
            <a:r>
              <a:rPr sz="1200" spc="50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200" spc="65" dirty="0">
                <a:solidFill>
                  <a:srgbClr val="87897C"/>
                </a:solidFill>
                <a:latin typeface="Trebuchet MS"/>
                <a:cs typeface="Trebuchet MS"/>
              </a:rPr>
              <a:t>puede</a:t>
            </a:r>
            <a:r>
              <a:rPr sz="1200" spc="25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tomar</a:t>
            </a:r>
            <a:r>
              <a:rPr sz="1200" spc="25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200" spc="70" dirty="0">
                <a:solidFill>
                  <a:srgbClr val="87897C"/>
                </a:solidFill>
                <a:latin typeface="Trebuchet MS"/>
                <a:cs typeface="Trebuchet MS"/>
              </a:rPr>
              <a:t>2</a:t>
            </a:r>
            <a:r>
              <a:rPr sz="1200" spc="50" dirty="0">
                <a:solidFill>
                  <a:srgbClr val="87897C"/>
                </a:solidFill>
                <a:latin typeface="Trebuchet MS"/>
                <a:cs typeface="Trebuchet MS"/>
              </a:rPr>
              <a:t> modalidades,  </a:t>
            </a:r>
            <a:r>
              <a:rPr sz="1200" spc="90" dirty="0">
                <a:solidFill>
                  <a:srgbClr val="87897C"/>
                </a:solidFill>
                <a:latin typeface="Trebuchet MS"/>
                <a:cs typeface="Trebuchet MS"/>
              </a:rPr>
              <a:t>es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por </a:t>
            </a:r>
            <a:r>
              <a:rPr sz="1200" spc="35" dirty="0">
                <a:solidFill>
                  <a:srgbClr val="87897C"/>
                </a:solidFill>
                <a:latin typeface="Trebuchet MS"/>
                <a:cs typeface="Trebuchet MS"/>
              </a:rPr>
              <a:t>ello </a:t>
            </a:r>
            <a:r>
              <a:rPr sz="1200" spc="65" dirty="0">
                <a:solidFill>
                  <a:srgbClr val="87897C"/>
                </a:solidFill>
                <a:latin typeface="Trebuchet MS"/>
                <a:cs typeface="Trebuchet MS"/>
              </a:rPr>
              <a:t>que </a:t>
            </a:r>
            <a:r>
              <a:rPr sz="1200" spc="25" dirty="0">
                <a:solidFill>
                  <a:srgbClr val="87897C"/>
                </a:solidFill>
                <a:latin typeface="Trebuchet MS"/>
                <a:cs typeface="Trebuchet MS"/>
              </a:rPr>
              <a:t>el </a:t>
            </a:r>
            <a:r>
              <a:rPr sz="1200" spc="70" dirty="0">
                <a:solidFill>
                  <a:srgbClr val="87897C"/>
                </a:solidFill>
                <a:latin typeface="Trebuchet MS"/>
                <a:cs typeface="Trebuchet MS"/>
              </a:rPr>
              <a:t>hecho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de </a:t>
            </a:r>
            <a:r>
              <a:rPr sz="1200" spc="45" dirty="0">
                <a:solidFill>
                  <a:srgbClr val="87897C"/>
                </a:solidFill>
                <a:latin typeface="Trebuchet MS"/>
                <a:cs typeface="Trebuchet MS"/>
              </a:rPr>
              <a:t>llamar </a:t>
            </a:r>
            <a:r>
              <a:rPr sz="1200" spc="25" dirty="0">
                <a:solidFill>
                  <a:srgbClr val="87897C"/>
                </a:solidFill>
                <a:latin typeface="Trebuchet MS"/>
                <a:cs typeface="Trebuchet MS"/>
              </a:rPr>
              <a:t>éxito </a:t>
            </a:r>
            <a:r>
              <a:rPr sz="1200" spc="75" dirty="0">
                <a:solidFill>
                  <a:srgbClr val="87897C"/>
                </a:solidFill>
                <a:latin typeface="Trebuchet MS"/>
                <a:cs typeface="Trebuchet MS"/>
              </a:rPr>
              <a:t>o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fracaso </a:t>
            </a:r>
            <a:r>
              <a:rPr sz="1200" spc="45" dirty="0">
                <a:solidFill>
                  <a:srgbClr val="87897C"/>
                </a:solidFill>
                <a:latin typeface="Trebuchet MS"/>
                <a:cs typeface="Trebuchet MS"/>
              </a:rPr>
              <a:t>a </a:t>
            </a:r>
            <a:r>
              <a:rPr sz="1200" spc="75" dirty="0">
                <a:solidFill>
                  <a:srgbClr val="87897C"/>
                </a:solidFill>
                <a:latin typeface="Trebuchet MS"/>
                <a:cs typeface="Trebuchet MS"/>
              </a:rPr>
              <a:t>los </a:t>
            </a:r>
            <a:r>
              <a:rPr sz="1200" spc="70" dirty="0">
                <a:solidFill>
                  <a:srgbClr val="87897C"/>
                </a:solidFill>
                <a:latin typeface="Trebuchet MS"/>
                <a:cs typeface="Trebuchet MS"/>
              </a:rPr>
              <a:t>posibles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resultados de </a:t>
            </a:r>
            <a:r>
              <a:rPr sz="1200" spc="65" dirty="0">
                <a:solidFill>
                  <a:srgbClr val="87897C"/>
                </a:solidFill>
                <a:latin typeface="Trebuchet MS"/>
                <a:cs typeface="Trebuchet MS"/>
              </a:rPr>
              <a:t>las </a:t>
            </a:r>
            <a:r>
              <a:rPr sz="1200" spc="70" dirty="0">
                <a:solidFill>
                  <a:srgbClr val="87897C"/>
                </a:solidFill>
                <a:latin typeface="Trebuchet MS"/>
                <a:cs typeface="Trebuchet MS"/>
              </a:rPr>
              <a:t>pruebas</a:t>
            </a:r>
            <a:r>
              <a:rPr sz="1200" spc="-220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obedece  </a:t>
            </a:r>
            <a:r>
              <a:rPr sz="1200" spc="110" dirty="0">
                <a:solidFill>
                  <a:srgbClr val="87897C"/>
                </a:solidFill>
                <a:latin typeface="Trebuchet MS"/>
                <a:cs typeface="Trebuchet MS"/>
              </a:rPr>
              <a:t>más </a:t>
            </a:r>
            <a:r>
              <a:rPr sz="1200" spc="45" dirty="0">
                <a:solidFill>
                  <a:srgbClr val="87897C"/>
                </a:solidFill>
                <a:latin typeface="Trebuchet MS"/>
                <a:cs typeface="Trebuchet MS"/>
              </a:rPr>
              <a:t>a </a:t>
            </a:r>
            <a:r>
              <a:rPr sz="1200" spc="70" dirty="0">
                <a:solidFill>
                  <a:srgbClr val="87897C"/>
                </a:solidFill>
                <a:latin typeface="Trebuchet MS"/>
                <a:cs typeface="Trebuchet MS"/>
              </a:rPr>
              <a:t>una</a:t>
            </a:r>
            <a:r>
              <a:rPr sz="1200" spc="-245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200" spc="35" dirty="0">
                <a:solidFill>
                  <a:srgbClr val="87897C"/>
                </a:solidFill>
                <a:latin typeface="Trebuchet MS"/>
                <a:cs typeface="Trebuchet MS"/>
              </a:rPr>
              <a:t>tradición </a:t>
            </a:r>
            <a:r>
              <a:rPr sz="1200" spc="15" dirty="0">
                <a:solidFill>
                  <a:srgbClr val="87897C"/>
                </a:solidFill>
                <a:latin typeface="Trebuchet MS"/>
                <a:cs typeface="Trebuchet MS"/>
              </a:rPr>
              <a:t>literaria </a:t>
            </a:r>
            <a:r>
              <a:rPr sz="1200" spc="75" dirty="0">
                <a:solidFill>
                  <a:srgbClr val="87897C"/>
                </a:solidFill>
                <a:latin typeface="Trebuchet MS"/>
                <a:cs typeface="Trebuchet MS"/>
              </a:rPr>
              <a:t>o </a:t>
            </a:r>
            <a:r>
              <a:rPr sz="1200" spc="45" dirty="0">
                <a:solidFill>
                  <a:srgbClr val="87897C"/>
                </a:solidFill>
                <a:latin typeface="Trebuchet MS"/>
                <a:cs typeface="Trebuchet MS"/>
              </a:rPr>
              <a:t>histórica </a:t>
            </a:r>
            <a:r>
              <a:rPr sz="1200" spc="65" dirty="0">
                <a:solidFill>
                  <a:srgbClr val="87897C"/>
                </a:solidFill>
                <a:latin typeface="Trebuchet MS"/>
                <a:cs typeface="Trebuchet MS"/>
              </a:rPr>
              <a:t>que </a:t>
            </a:r>
            <a:r>
              <a:rPr sz="1200" spc="45" dirty="0">
                <a:solidFill>
                  <a:srgbClr val="87897C"/>
                </a:solidFill>
                <a:latin typeface="Trebuchet MS"/>
                <a:cs typeface="Trebuchet MS"/>
              </a:rPr>
              <a:t>a </a:t>
            </a:r>
            <a:r>
              <a:rPr sz="1200" spc="30" dirty="0">
                <a:solidFill>
                  <a:srgbClr val="87897C"/>
                </a:solidFill>
                <a:latin typeface="Trebuchet MS"/>
                <a:cs typeface="Trebuchet MS"/>
              </a:rPr>
              <a:t>la </a:t>
            </a:r>
            <a:r>
              <a:rPr sz="1200" spc="55" dirty="0">
                <a:solidFill>
                  <a:srgbClr val="87897C"/>
                </a:solidFill>
                <a:latin typeface="Trebuchet MS"/>
                <a:cs typeface="Trebuchet MS"/>
              </a:rPr>
              <a:t>situación </a:t>
            </a:r>
            <a:r>
              <a:rPr sz="1200" spc="25" dirty="0">
                <a:solidFill>
                  <a:srgbClr val="87897C"/>
                </a:solidFill>
                <a:latin typeface="Trebuchet MS"/>
                <a:cs typeface="Trebuchet MS"/>
              </a:rPr>
              <a:t>real </a:t>
            </a:r>
            <a:r>
              <a:rPr sz="1200" spc="65" dirty="0">
                <a:solidFill>
                  <a:srgbClr val="87897C"/>
                </a:solidFill>
                <a:latin typeface="Trebuchet MS"/>
                <a:cs typeface="Trebuchet MS"/>
              </a:rPr>
              <a:t>que pueda </a:t>
            </a:r>
            <a:r>
              <a:rPr sz="1200" spc="40" dirty="0">
                <a:solidFill>
                  <a:srgbClr val="87897C"/>
                </a:solidFill>
                <a:latin typeface="Trebuchet MS"/>
                <a:cs typeface="Trebuchet MS"/>
              </a:rPr>
              <a:t>derivarse </a:t>
            </a:r>
            <a:r>
              <a:rPr sz="1200" spc="45" dirty="0">
                <a:solidFill>
                  <a:srgbClr val="87897C"/>
                </a:solidFill>
                <a:latin typeface="Trebuchet MS"/>
                <a:cs typeface="Trebuchet MS"/>
              </a:rPr>
              <a:t>del </a:t>
            </a:r>
            <a:r>
              <a:rPr sz="1200" spc="35" dirty="0">
                <a:solidFill>
                  <a:srgbClr val="87897C"/>
                </a:solidFill>
                <a:latin typeface="Trebuchet MS"/>
                <a:cs typeface="Trebuchet MS"/>
              </a:rPr>
              <a:t>resultado.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571744" y="2806444"/>
            <a:ext cx="4000491" cy="7143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5049" y="303149"/>
            <a:ext cx="6166485" cy="787400"/>
          </a:xfrm>
          <a:custGeom>
            <a:avLst/>
            <a:gdLst/>
            <a:ahLst/>
            <a:cxnLst/>
            <a:rect l="l" t="t" r="r" b="b"/>
            <a:pathLst>
              <a:path w="6166485" h="787400">
                <a:moveTo>
                  <a:pt x="0" y="0"/>
                </a:moveTo>
                <a:lnTo>
                  <a:pt x="6166187" y="0"/>
                </a:lnTo>
                <a:lnTo>
                  <a:pt x="6166187" y="787198"/>
                </a:lnTo>
                <a:lnTo>
                  <a:pt x="0" y="7871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2D3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61923" y="479325"/>
            <a:ext cx="413257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30" dirty="0"/>
              <a:t>Distribución </a:t>
            </a:r>
            <a:r>
              <a:rPr sz="2800" spc="85" dirty="0"/>
              <a:t>de</a:t>
            </a:r>
            <a:r>
              <a:rPr sz="2800" spc="-365" dirty="0"/>
              <a:t> </a:t>
            </a:r>
            <a:r>
              <a:rPr sz="2800" spc="-10" dirty="0"/>
              <a:t>Poisson</a:t>
            </a:r>
            <a:endParaRPr sz="2800"/>
          </a:p>
        </p:txBody>
      </p:sp>
      <p:sp>
        <p:nvSpPr>
          <p:cNvPr id="4" name="object 4"/>
          <p:cNvSpPr/>
          <p:nvPr/>
        </p:nvSpPr>
        <p:spPr>
          <a:xfrm>
            <a:off x="2430888" y="1717652"/>
            <a:ext cx="79374" cy="126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50398" y="1898626"/>
            <a:ext cx="79374" cy="126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676908" y="1898626"/>
            <a:ext cx="79374" cy="126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456573" y="1898626"/>
            <a:ext cx="79374" cy="126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93023" y="1282678"/>
            <a:ext cx="7466965" cy="188277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6515">
              <a:lnSpc>
                <a:spcPts val="1420"/>
              </a:lnSpc>
              <a:spcBef>
                <a:spcPts val="160"/>
              </a:spcBef>
            </a:pPr>
            <a:r>
              <a:rPr sz="1200" spc="75" dirty="0">
                <a:solidFill>
                  <a:srgbClr val="87897C"/>
                </a:solidFill>
                <a:latin typeface="Trebuchet MS"/>
                <a:cs typeface="Trebuchet MS"/>
              </a:rPr>
              <a:t>La </a:t>
            </a:r>
            <a:r>
              <a:rPr sz="1200" spc="50" dirty="0">
                <a:solidFill>
                  <a:srgbClr val="87897C"/>
                </a:solidFill>
                <a:latin typeface="Trebuchet MS"/>
                <a:cs typeface="Trebuchet MS"/>
              </a:rPr>
              <a:t>distribución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de </a:t>
            </a:r>
            <a:r>
              <a:rPr sz="1200" spc="80" dirty="0">
                <a:solidFill>
                  <a:srgbClr val="87897C"/>
                </a:solidFill>
                <a:latin typeface="Trebuchet MS"/>
                <a:cs typeface="Trebuchet MS"/>
              </a:rPr>
              <a:t>Poisson </a:t>
            </a:r>
            <a:r>
              <a:rPr sz="1200" spc="90" dirty="0">
                <a:solidFill>
                  <a:srgbClr val="87897C"/>
                </a:solidFill>
                <a:latin typeface="Trebuchet MS"/>
                <a:cs typeface="Trebuchet MS"/>
              </a:rPr>
              <a:t>es </a:t>
            </a:r>
            <a:r>
              <a:rPr sz="1200" spc="70" dirty="0">
                <a:solidFill>
                  <a:srgbClr val="87897C"/>
                </a:solidFill>
                <a:latin typeface="Trebuchet MS"/>
                <a:cs typeface="Trebuchet MS"/>
              </a:rPr>
              <a:t>una </a:t>
            </a:r>
            <a:r>
              <a:rPr sz="1200" spc="50" dirty="0">
                <a:solidFill>
                  <a:srgbClr val="87897C"/>
                </a:solidFill>
                <a:latin typeface="Trebuchet MS"/>
                <a:cs typeface="Trebuchet MS"/>
              </a:rPr>
              <a:t>distribución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de </a:t>
            </a:r>
            <a:r>
              <a:rPr sz="1200" spc="45" dirty="0">
                <a:solidFill>
                  <a:srgbClr val="87897C"/>
                </a:solidFill>
                <a:latin typeface="Trebuchet MS"/>
                <a:cs typeface="Trebuchet MS"/>
              </a:rPr>
              <a:t>probabilidad discreta </a:t>
            </a:r>
            <a:r>
              <a:rPr sz="1200" spc="25" dirty="0">
                <a:solidFill>
                  <a:srgbClr val="87897C"/>
                </a:solidFill>
                <a:latin typeface="Trebuchet MS"/>
                <a:cs typeface="Trebuchet MS"/>
              </a:rPr>
              <a:t>y </a:t>
            </a:r>
            <a:r>
              <a:rPr sz="1200" spc="90" dirty="0">
                <a:solidFill>
                  <a:srgbClr val="87897C"/>
                </a:solidFill>
                <a:latin typeface="Trebuchet MS"/>
                <a:cs typeface="Trebuchet MS"/>
              </a:rPr>
              <a:t>se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emplea </a:t>
            </a:r>
            <a:r>
              <a:rPr sz="1200" spc="45" dirty="0">
                <a:solidFill>
                  <a:srgbClr val="87897C"/>
                </a:solidFill>
                <a:latin typeface="Trebuchet MS"/>
                <a:cs typeface="Trebuchet MS"/>
              </a:rPr>
              <a:t>para describir  </a:t>
            </a:r>
            <a:r>
              <a:rPr sz="1200" spc="80" dirty="0">
                <a:solidFill>
                  <a:srgbClr val="87897C"/>
                </a:solidFill>
                <a:latin typeface="Trebuchet MS"/>
                <a:cs typeface="Trebuchet MS"/>
              </a:rPr>
              <a:t>procesos </a:t>
            </a:r>
            <a:r>
              <a:rPr sz="1200" spc="65" dirty="0">
                <a:solidFill>
                  <a:srgbClr val="87897C"/>
                </a:solidFill>
                <a:latin typeface="Trebuchet MS"/>
                <a:cs typeface="Trebuchet MS"/>
              </a:rPr>
              <a:t>que pueden ser descritos </a:t>
            </a:r>
            <a:r>
              <a:rPr sz="1200" spc="80" dirty="0">
                <a:solidFill>
                  <a:srgbClr val="87897C"/>
                </a:solidFill>
                <a:latin typeface="Trebuchet MS"/>
                <a:cs typeface="Trebuchet MS"/>
              </a:rPr>
              <a:t>con </a:t>
            </a:r>
            <a:r>
              <a:rPr sz="1200" spc="70" dirty="0">
                <a:solidFill>
                  <a:srgbClr val="87897C"/>
                </a:solidFill>
                <a:latin typeface="Trebuchet MS"/>
                <a:cs typeface="Trebuchet MS"/>
              </a:rPr>
              <a:t>una </a:t>
            </a:r>
            <a:r>
              <a:rPr sz="1200" spc="30" dirty="0">
                <a:solidFill>
                  <a:srgbClr val="87897C"/>
                </a:solidFill>
                <a:latin typeface="Trebuchet MS"/>
                <a:cs typeface="Trebuchet MS"/>
              </a:rPr>
              <a:t>variable aleatoria </a:t>
            </a:r>
            <a:r>
              <a:rPr sz="1200" spc="25" dirty="0">
                <a:solidFill>
                  <a:srgbClr val="87897C"/>
                </a:solidFill>
                <a:latin typeface="Trebuchet MS"/>
                <a:cs typeface="Trebuchet MS"/>
              </a:rPr>
              <a:t>discreta.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Describe situaciones en</a:t>
            </a:r>
            <a:r>
              <a:rPr sz="1200" spc="-105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200" spc="65" dirty="0">
                <a:solidFill>
                  <a:srgbClr val="87897C"/>
                </a:solidFill>
                <a:latin typeface="Trebuchet MS"/>
                <a:cs typeface="Trebuchet MS"/>
              </a:rPr>
              <a:t>las  cuales </a:t>
            </a:r>
            <a:r>
              <a:rPr sz="1200" spc="75" dirty="0">
                <a:solidFill>
                  <a:srgbClr val="87897C"/>
                </a:solidFill>
                <a:latin typeface="Trebuchet MS"/>
                <a:cs typeface="Trebuchet MS"/>
              </a:rPr>
              <a:t>los </a:t>
            </a:r>
            <a:r>
              <a:rPr sz="1200" spc="45" dirty="0">
                <a:solidFill>
                  <a:srgbClr val="87897C"/>
                </a:solidFill>
                <a:latin typeface="Trebuchet MS"/>
                <a:cs typeface="Trebuchet MS"/>
              </a:rPr>
              <a:t>clientes </a:t>
            </a:r>
            <a:r>
              <a:rPr sz="1200" spc="20" dirty="0">
                <a:solidFill>
                  <a:srgbClr val="87897C"/>
                </a:solidFill>
                <a:latin typeface="Trebuchet MS"/>
                <a:cs typeface="Trebuchet MS"/>
              </a:rPr>
              <a:t>lle </a:t>
            </a:r>
            <a:r>
              <a:rPr sz="1200" spc="65" dirty="0">
                <a:solidFill>
                  <a:srgbClr val="87897C"/>
                </a:solidFill>
                <a:latin typeface="Trebuchet MS"/>
                <a:cs typeface="Trebuchet MS"/>
              </a:rPr>
              <a:t>an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de manera </a:t>
            </a:r>
            <a:r>
              <a:rPr sz="1200" spc="45" dirty="0">
                <a:solidFill>
                  <a:srgbClr val="87897C"/>
                </a:solidFill>
                <a:latin typeface="Trebuchet MS"/>
                <a:cs typeface="Trebuchet MS"/>
              </a:rPr>
              <a:t>independiente </a:t>
            </a:r>
            <a:r>
              <a:rPr sz="1200" spc="50" dirty="0">
                <a:solidFill>
                  <a:srgbClr val="87897C"/>
                </a:solidFill>
                <a:latin typeface="Trebuchet MS"/>
                <a:cs typeface="Trebuchet MS"/>
              </a:rPr>
              <a:t>durante </a:t>
            </a:r>
            <a:r>
              <a:rPr sz="1200" spc="85" dirty="0">
                <a:solidFill>
                  <a:srgbClr val="87897C"/>
                </a:solidFill>
                <a:latin typeface="Trebuchet MS"/>
                <a:cs typeface="Trebuchet MS"/>
              </a:rPr>
              <a:t>un </a:t>
            </a:r>
            <a:r>
              <a:rPr sz="1200" spc="30" dirty="0">
                <a:solidFill>
                  <a:srgbClr val="87897C"/>
                </a:solidFill>
                <a:latin typeface="Trebuchet MS"/>
                <a:cs typeface="Trebuchet MS"/>
              </a:rPr>
              <a:t>cierto intervalo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de </a:t>
            </a:r>
            <a:r>
              <a:rPr sz="1200" spc="55" dirty="0">
                <a:solidFill>
                  <a:srgbClr val="87897C"/>
                </a:solidFill>
                <a:latin typeface="Trebuchet MS"/>
                <a:cs typeface="Trebuchet MS"/>
              </a:rPr>
              <a:t>tiempo </a:t>
            </a:r>
            <a:r>
              <a:rPr sz="1200" spc="25" dirty="0">
                <a:solidFill>
                  <a:srgbClr val="87897C"/>
                </a:solidFill>
                <a:latin typeface="Trebuchet MS"/>
                <a:cs typeface="Trebuchet MS"/>
              </a:rPr>
              <a:t>y el  </a:t>
            </a:r>
            <a:r>
              <a:rPr sz="1200" spc="70" dirty="0">
                <a:solidFill>
                  <a:srgbClr val="87897C"/>
                </a:solidFill>
                <a:latin typeface="Trebuchet MS"/>
                <a:cs typeface="Trebuchet MS"/>
              </a:rPr>
              <a:t>número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de </a:t>
            </a:r>
            <a:r>
              <a:rPr sz="1200" spc="20" dirty="0">
                <a:solidFill>
                  <a:srgbClr val="87897C"/>
                </a:solidFill>
                <a:latin typeface="Trebuchet MS"/>
                <a:cs typeface="Trebuchet MS"/>
              </a:rPr>
              <a:t>lle </a:t>
            </a:r>
            <a:r>
              <a:rPr sz="1200" spc="80" dirty="0">
                <a:solidFill>
                  <a:srgbClr val="87897C"/>
                </a:solidFill>
                <a:latin typeface="Trebuchet MS"/>
                <a:cs typeface="Trebuchet MS"/>
              </a:rPr>
              <a:t>adas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depende de </a:t>
            </a:r>
            <a:r>
              <a:rPr sz="1200" spc="30" dirty="0">
                <a:solidFill>
                  <a:srgbClr val="87897C"/>
                </a:solidFill>
                <a:latin typeface="Trebuchet MS"/>
                <a:cs typeface="Trebuchet MS"/>
              </a:rPr>
              <a:t>la </a:t>
            </a:r>
            <a:r>
              <a:rPr sz="1200" spc="95" dirty="0">
                <a:solidFill>
                  <a:srgbClr val="87897C"/>
                </a:solidFill>
                <a:latin typeface="Trebuchet MS"/>
                <a:cs typeface="Trebuchet MS"/>
              </a:rPr>
              <a:t>ma </a:t>
            </a:r>
            <a:r>
              <a:rPr sz="1200" spc="50" dirty="0">
                <a:solidFill>
                  <a:srgbClr val="87897C"/>
                </a:solidFill>
                <a:latin typeface="Trebuchet MS"/>
                <a:cs typeface="Trebuchet MS"/>
              </a:rPr>
              <a:t>nitud </a:t>
            </a:r>
            <a:r>
              <a:rPr sz="1200" spc="45" dirty="0">
                <a:solidFill>
                  <a:srgbClr val="87897C"/>
                </a:solidFill>
                <a:latin typeface="Trebuchet MS"/>
                <a:cs typeface="Trebuchet MS"/>
              </a:rPr>
              <a:t>del </a:t>
            </a:r>
            <a:r>
              <a:rPr sz="1200" spc="15" dirty="0">
                <a:solidFill>
                  <a:srgbClr val="87897C"/>
                </a:solidFill>
                <a:latin typeface="Trebuchet MS"/>
                <a:cs typeface="Trebuchet MS"/>
              </a:rPr>
              <a:t>intervalo. </a:t>
            </a:r>
            <a:r>
              <a:rPr sz="1200" spc="75" dirty="0">
                <a:solidFill>
                  <a:srgbClr val="87897C"/>
                </a:solidFill>
                <a:latin typeface="Trebuchet MS"/>
                <a:cs typeface="Trebuchet MS"/>
              </a:rPr>
              <a:t>La </a:t>
            </a:r>
            <a:r>
              <a:rPr sz="1200" spc="50" dirty="0">
                <a:solidFill>
                  <a:srgbClr val="87897C"/>
                </a:solidFill>
                <a:latin typeface="Trebuchet MS"/>
                <a:cs typeface="Trebuchet MS"/>
              </a:rPr>
              <a:t>distribución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de </a:t>
            </a:r>
            <a:r>
              <a:rPr sz="1200" spc="80" dirty="0">
                <a:solidFill>
                  <a:srgbClr val="87897C"/>
                </a:solidFill>
                <a:latin typeface="Trebuchet MS"/>
                <a:cs typeface="Trebuchet MS"/>
              </a:rPr>
              <a:t>Poisson </a:t>
            </a:r>
            <a:r>
              <a:rPr sz="1200" dirty="0">
                <a:solidFill>
                  <a:srgbClr val="87897C"/>
                </a:solidFill>
                <a:latin typeface="Trebuchet MS"/>
                <a:cs typeface="Trebuchet MS"/>
              </a:rPr>
              <a:t>jue </a:t>
            </a:r>
            <a:r>
              <a:rPr sz="1200" spc="45" dirty="0">
                <a:solidFill>
                  <a:srgbClr val="87897C"/>
                </a:solidFill>
                <a:latin typeface="Trebuchet MS"/>
                <a:cs typeface="Trebuchet MS"/>
              </a:rPr>
              <a:t>a </a:t>
            </a:r>
            <a:r>
              <a:rPr sz="1200" spc="85" dirty="0">
                <a:solidFill>
                  <a:srgbClr val="87897C"/>
                </a:solidFill>
                <a:latin typeface="Trebuchet MS"/>
                <a:cs typeface="Trebuchet MS"/>
              </a:rPr>
              <a:t>un </a:t>
            </a:r>
            <a:r>
              <a:rPr sz="1200" spc="30" dirty="0">
                <a:solidFill>
                  <a:srgbClr val="87897C"/>
                </a:solidFill>
                <a:latin typeface="Trebuchet MS"/>
                <a:cs typeface="Trebuchet MS"/>
              </a:rPr>
              <a:t>rol  </a:t>
            </a:r>
            <a:r>
              <a:rPr sz="1200" spc="45" dirty="0">
                <a:solidFill>
                  <a:srgbClr val="87897C"/>
                </a:solidFill>
                <a:latin typeface="Trebuchet MS"/>
                <a:cs typeface="Trebuchet MS"/>
              </a:rPr>
              <a:t>importante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en </a:t>
            </a:r>
            <a:r>
              <a:rPr sz="1200" spc="65" dirty="0">
                <a:solidFill>
                  <a:srgbClr val="87897C"/>
                </a:solidFill>
                <a:latin typeface="Trebuchet MS"/>
                <a:cs typeface="Trebuchet MS"/>
              </a:rPr>
              <a:t>complementar </a:t>
            </a:r>
            <a:r>
              <a:rPr sz="1200" spc="30" dirty="0">
                <a:solidFill>
                  <a:srgbClr val="87897C"/>
                </a:solidFill>
                <a:latin typeface="Trebuchet MS"/>
                <a:cs typeface="Trebuchet MS"/>
              </a:rPr>
              <a:t>la </a:t>
            </a:r>
            <a:r>
              <a:rPr sz="1200" spc="50" dirty="0">
                <a:solidFill>
                  <a:srgbClr val="87897C"/>
                </a:solidFill>
                <a:latin typeface="Trebuchet MS"/>
                <a:cs typeface="Trebuchet MS"/>
              </a:rPr>
              <a:t>distribución </a:t>
            </a:r>
            <a:r>
              <a:rPr sz="1200" spc="45" dirty="0">
                <a:solidFill>
                  <a:srgbClr val="87897C"/>
                </a:solidFill>
                <a:latin typeface="Trebuchet MS"/>
                <a:cs typeface="Trebuchet MS"/>
              </a:rPr>
              <a:t>exponencial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en </a:t>
            </a:r>
            <a:r>
              <a:rPr sz="1200" spc="30" dirty="0">
                <a:solidFill>
                  <a:srgbClr val="87897C"/>
                </a:solidFill>
                <a:latin typeface="Trebuchet MS"/>
                <a:cs typeface="Trebuchet MS"/>
              </a:rPr>
              <a:t>la teoría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de </a:t>
            </a:r>
            <a:r>
              <a:rPr sz="1200" spc="70" dirty="0">
                <a:solidFill>
                  <a:srgbClr val="87897C"/>
                </a:solidFill>
                <a:latin typeface="Trebuchet MS"/>
                <a:cs typeface="Trebuchet MS"/>
              </a:rPr>
              <a:t>colas </a:t>
            </a:r>
            <a:r>
              <a:rPr sz="1200" spc="75" dirty="0">
                <a:solidFill>
                  <a:srgbClr val="87897C"/>
                </a:solidFill>
                <a:latin typeface="Trebuchet MS"/>
                <a:cs typeface="Trebuchet MS"/>
              </a:rPr>
              <a:t>o </a:t>
            </a:r>
            <a:r>
              <a:rPr sz="1200" spc="70" dirty="0">
                <a:solidFill>
                  <a:srgbClr val="87897C"/>
                </a:solidFill>
                <a:latin typeface="Trebuchet MS"/>
                <a:cs typeface="Trebuchet MS"/>
              </a:rPr>
              <a:t>modelo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de </a:t>
            </a:r>
            <a:r>
              <a:rPr sz="1200" spc="50" dirty="0">
                <a:solidFill>
                  <a:srgbClr val="87897C"/>
                </a:solidFill>
                <a:latin typeface="Trebuchet MS"/>
                <a:cs typeface="Trebuchet MS"/>
              </a:rPr>
              <a:t>líneas 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de</a:t>
            </a:r>
            <a:r>
              <a:rPr sz="1200" spc="40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200" spc="30" dirty="0">
                <a:solidFill>
                  <a:srgbClr val="87897C"/>
                </a:solidFill>
                <a:latin typeface="Trebuchet MS"/>
                <a:cs typeface="Trebuchet MS"/>
              </a:rPr>
              <a:t>espera.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1250" spc="114" dirty="0">
                <a:solidFill>
                  <a:srgbClr val="87897C"/>
                </a:solidFill>
                <a:latin typeface="Trebuchet MS"/>
                <a:cs typeface="Trebuchet MS"/>
              </a:rPr>
              <a:t>Se </a:t>
            </a:r>
            <a:r>
              <a:rPr sz="1250" spc="45" dirty="0">
                <a:solidFill>
                  <a:srgbClr val="87897C"/>
                </a:solidFill>
                <a:latin typeface="Trebuchet MS"/>
                <a:cs typeface="Trebuchet MS"/>
              </a:rPr>
              <a:t>dice </a:t>
            </a:r>
            <a:r>
              <a:rPr sz="1250" spc="70" dirty="0">
                <a:solidFill>
                  <a:srgbClr val="87897C"/>
                </a:solidFill>
                <a:latin typeface="Trebuchet MS"/>
                <a:cs typeface="Trebuchet MS"/>
              </a:rPr>
              <a:t>que </a:t>
            </a:r>
            <a:r>
              <a:rPr sz="1250" spc="75" dirty="0">
                <a:solidFill>
                  <a:srgbClr val="87897C"/>
                </a:solidFill>
                <a:latin typeface="Trebuchet MS"/>
                <a:cs typeface="Trebuchet MS"/>
              </a:rPr>
              <a:t>una </a:t>
            </a:r>
            <a:r>
              <a:rPr sz="1250" spc="30" dirty="0">
                <a:solidFill>
                  <a:srgbClr val="87897C"/>
                </a:solidFill>
                <a:latin typeface="Trebuchet MS"/>
                <a:cs typeface="Trebuchet MS"/>
              </a:rPr>
              <a:t>variable aleatoria </a:t>
            </a:r>
            <a:r>
              <a:rPr sz="1250" spc="50" dirty="0">
                <a:solidFill>
                  <a:srgbClr val="87897C"/>
                </a:solidFill>
                <a:latin typeface="Trebuchet MS"/>
                <a:cs typeface="Trebuchet MS"/>
              </a:rPr>
              <a:t>discreta </a:t>
            </a:r>
            <a:r>
              <a:rPr sz="1250" i="1" spc="35" dirty="0">
                <a:solidFill>
                  <a:srgbClr val="87897C"/>
                </a:solidFill>
                <a:latin typeface="Trebuchet MS"/>
                <a:cs typeface="Trebuchet MS"/>
              </a:rPr>
              <a:t>X </a:t>
            </a:r>
            <a:r>
              <a:rPr sz="1250" spc="30" dirty="0">
                <a:solidFill>
                  <a:srgbClr val="87897C"/>
                </a:solidFill>
                <a:latin typeface="Trebuchet MS"/>
                <a:cs typeface="Trebuchet MS"/>
              </a:rPr>
              <a:t>tiene </a:t>
            </a:r>
            <a:r>
              <a:rPr sz="1250" spc="75" dirty="0">
                <a:solidFill>
                  <a:srgbClr val="87897C"/>
                </a:solidFill>
                <a:latin typeface="Trebuchet MS"/>
                <a:cs typeface="Trebuchet MS"/>
              </a:rPr>
              <a:t>una </a:t>
            </a:r>
            <a:r>
              <a:rPr sz="1250" spc="50" dirty="0">
                <a:solidFill>
                  <a:srgbClr val="87897C"/>
                </a:solidFill>
                <a:latin typeface="Trebuchet MS"/>
                <a:cs typeface="Trebuchet MS"/>
              </a:rPr>
              <a:t>distribución </a:t>
            </a:r>
            <a:r>
              <a:rPr sz="1250" spc="60" dirty="0">
                <a:solidFill>
                  <a:srgbClr val="87897C"/>
                </a:solidFill>
                <a:latin typeface="Trebuchet MS"/>
                <a:cs typeface="Trebuchet MS"/>
              </a:rPr>
              <a:t>de </a:t>
            </a:r>
            <a:r>
              <a:rPr sz="1250" spc="80" dirty="0">
                <a:solidFill>
                  <a:srgbClr val="87897C"/>
                </a:solidFill>
                <a:latin typeface="Trebuchet MS"/>
                <a:cs typeface="Trebuchet MS"/>
              </a:rPr>
              <a:t>Poisson con </a:t>
            </a:r>
            <a:r>
              <a:rPr sz="1250" spc="50" dirty="0">
                <a:solidFill>
                  <a:srgbClr val="87897C"/>
                </a:solidFill>
                <a:latin typeface="Trebuchet MS"/>
                <a:cs typeface="Trebuchet MS"/>
              </a:rPr>
              <a:t>parámetro</a:t>
            </a:r>
            <a:r>
              <a:rPr sz="1250" spc="-229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250" i="1" spc="60" dirty="0">
                <a:solidFill>
                  <a:srgbClr val="87897C"/>
                </a:solidFill>
                <a:latin typeface="Trebuchet MS"/>
                <a:cs typeface="Trebuchet MS"/>
              </a:rPr>
              <a:t>μ  </a:t>
            </a:r>
            <a:r>
              <a:rPr sz="1250" i="1" spc="35" dirty="0">
                <a:solidFill>
                  <a:srgbClr val="87897C"/>
                </a:solidFill>
                <a:latin typeface="Trebuchet MS"/>
                <a:cs typeface="Trebuchet MS"/>
              </a:rPr>
              <a:t>(μ&gt;0) </a:t>
            </a:r>
            <a:r>
              <a:rPr sz="1250" spc="60" dirty="0">
                <a:solidFill>
                  <a:srgbClr val="87897C"/>
                </a:solidFill>
                <a:latin typeface="Trebuchet MS"/>
                <a:cs typeface="Trebuchet MS"/>
              </a:rPr>
              <a:t>si </a:t>
            </a:r>
            <a:r>
              <a:rPr sz="1250" spc="30" dirty="0">
                <a:solidFill>
                  <a:srgbClr val="87897C"/>
                </a:solidFill>
                <a:latin typeface="Trebuchet MS"/>
                <a:cs typeface="Trebuchet MS"/>
              </a:rPr>
              <a:t>la </a:t>
            </a:r>
            <a:r>
              <a:rPr sz="1250" spc="60" dirty="0">
                <a:solidFill>
                  <a:srgbClr val="87897C"/>
                </a:solidFill>
                <a:latin typeface="Trebuchet MS"/>
                <a:cs typeface="Trebuchet MS"/>
              </a:rPr>
              <a:t>función de </a:t>
            </a:r>
            <a:r>
              <a:rPr sz="1250" spc="45" dirty="0">
                <a:solidFill>
                  <a:srgbClr val="87897C"/>
                </a:solidFill>
                <a:latin typeface="Trebuchet MS"/>
                <a:cs typeface="Trebuchet MS"/>
              </a:rPr>
              <a:t>probabilidad </a:t>
            </a:r>
            <a:r>
              <a:rPr sz="1250" spc="60" dirty="0">
                <a:solidFill>
                  <a:srgbClr val="87897C"/>
                </a:solidFill>
                <a:latin typeface="Trebuchet MS"/>
                <a:cs typeface="Trebuchet MS"/>
              </a:rPr>
              <a:t>de </a:t>
            </a:r>
            <a:r>
              <a:rPr sz="1250" i="1" spc="35" dirty="0">
                <a:solidFill>
                  <a:srgbClr val="87897C"/>
                </a:solidFill>
                <a:latin typeface="Trebuchet MS"/>
                <a:cs typeface="Trebuchet MS"/>
              </a:rPr>
              <a:t>X</a:t>
            </a:r>
            <a:r>
              <a:rPr sz="1250" i="1" spc="-55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250" spc="30" dirty="0">
                <a:solidFill>
                  <a:srgbClr val="87897C"/>
                </a:solidFill>
                <a:latin typeface="Trebuchet MS"/>
                <a:cs typeface="Trebuchet MS"/>
              </a:rPr>
              <a:t>es: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24783" y="3434968"/>
            <a:ext cx="4829152" cy="92389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5049" y="303149"/>
            <a:ext cx="6166485" cy="787400"/>
          </a:xfrm>
          <a:custGeom>
            <a:avLst/>
            <a:gdLst/>
            <a:ahLst/>
            <a:cxnLst/>
            <a:rect l="l" t="t" r="r" b="b"/>
            <a:pathLst>
              <a:path w="6166485" h="787400">
                <a:moveTo>
                  <a:pt x="0" y="0"/>
                </a:moveTo>
                <a:lnTo>
                  <a:pt x="6166187" y="0"/>
                </a:lnTo>
                <a:lnTo>
                  <a:pt x="6166187" y="787198"/>
                </a:lnTo>
                <a:lnTo>
                  <a:pt x="0" y="7871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2D3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61923" y="479325"/>
            <a:ext cx="53543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30" dirty="0"/>
              <a:t>Distribucion </a:t>
            </a:r>
            <a:r>
              <a:rPr sz="2800" spc="-15" dirty="0"/>
              <a:t>Binomial</a:t>
            </a:r>
            <a:r>
              <a:rPr sz="2800" spc="-350" dirty="0"/>
              <a:t> </a:t>
            </a:r>
            <a:r>
              <a:rPr sz="2800" spc="60" dirty="0"/>
              <a:t>Negativa</a:t>
            </a:r>
            <a:endParaRPr sz="2800"/>
          </a:p>
        </p:txBody>
      </p:sp>
      <p:sp>
        <p:nvSpPr>
          <p:cNvPr id="4" name="object 4"/>
          <p:cNvSpPr/>
          <p:nvPr/>
        </p:nvSpPr>
        <p:spPr>
          <a:xfrm>
            <a:off x="2840691" y="1378181"/>
            <a:ext cx="79374" cy="126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93023" y="1305157"/>
            <a:ext cx="7411720" cy="751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>
              <a:lnSpc>
                <a:spcPts val="1420"/>
              </a:lnSpc>
              <a:spcBef>
                <a:spcPts val="160"/>
              </a:spcBef>
            </a:pPr>
            <a:r>
              <a:rPr sz="1200" spc="75" dirty="0">
                <a:solidFill>
                  <a:srgbClr val="87897C"/>
                </a:solidFill>
                <a:latin typeface="Trebuchet MS"/>
                <a:cs typeface="Trebuchet MS"/>
              </a:rPr>
              <a:t>La </a:t>
            </a:r>
            <a:r>
              <a:rPr sz="1200" spc="50" dirty="0">
                <a:solidFill>
                  <a:srgbClr val="87897C"/>
                </a:solidFill>
                <a:latin typeface="Trebuchet MS"/>
                <a:cs typeface="Trebuchet MS"/>
              </a:rPr>
              <a:t>distribución binomial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ne </a:t>
            </a:r>
            <a:r>
              <a:rPr sz="1200" spc="15" dirty="0">
                <a:solidFill>
                  <a:srgbClr val="87897C"/>
                </a:solidFill>
                <a:latin typeface="Trebuchet MS"/>
                <a:cs typeface="Trebuchet MS"/>
              </a:rPr>
              <a:t>ativa </a:t>
            </a:r>
            <a:r>
              <a:rPr sz="1200" spc="90" dirty="0">
                <a:solidFill>
                  <a:srgbClr val="87897C"/>
                </a:solidFill>
                <a:latin typeface="Trebuchet MS"/>
                <a:cs typeface="Trebuchet MS"/>
              </a:rPr>
              <a:t>es </a:t>
            </a:r>
            <a:r>
              <a:rPr sz="1200" spc="70" dirty="0">
                <a:solidFill>
                  <a:srgbClr val="87897C"/>
                </a:solidFill>
                <a:latin typeface="Trebuchet MS"/>
                <a:cs typeface="Trebuchet MS"/>
              </a:rPr>
              <a:t>una </a:t>
            </a:r>
            <a:r>
              <a:rPr sz="1200" spc="50" dirty="0">
                <a:solidFill>
                  <a:srgbClr val="87897C"/>
                </a:solidFill>
                <a:latin typeface="Trebuchet MS"/>
                <a:cs typeface="Trebuchet MS"/>
              </a:rPr>
              <a:t>distribución </a:t>
            </a:r>
            <a:r>
              <a:rPr sz="1200" spc="65" dirty="0">
                <a:solidFill>
                  <a:srgbClr val="87897C"/>
                </a:solidFill>
                <a:latin typeface="Trebuchet MS"/>
                <a:cs typeface="Trebuchet MS"/>
              </a:rPr>
              <a:t>que puede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considerarse </a:t>
            </a:r>
            <a:r>
              <a:rPr sz="1200" spc="90" dirty="0">
                <a:solidFill>
                  <a:srgbClr val="87897C"/>
                </a:solidFill>
                <a:latin typeface="Trebuchet MS"/>
                <a:cs typeface="Trebuchet MS"/>
              </a:rPr>
              <a:t>como </a:t>
            </a:r>
            <a:r>
              <a:rPr sz="1200" spc="40" dirty="0">
                <a:solidFill>
                  <a:srgbClr val="87897C"/>
                </a:solidFill>
                <a:latin typeface="Trebuchet MS"/>
                <a:cs typeface="Trebuchet MS"/>
              </a:rPr>
              <a:t>lo </a:t>
            </a:r>
            <a:r>
              <a:rPr sz="1200" spc="5" dirty="0">
                <a:solidFill>
                  <a:srgbClr val="87897C"/>
                </a:solidFill>
                <a:latin typeface="Trebuchet MS"/>
                <a:cs typeface="Trebuchet MS"/>
              </a:rPr>
              <a:t>“inverso”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de  </a:t>
            </a:r>
            <a:r>
              <a:rPr sz="1200" spc="30" dirty="0">
                <a:solidFill>
                  <a:srgbClr val="87897C"/>
                </a:solidFill>
                <a:latin typeface="Trebuchet MS"/>
                <a:cs typeface="Trebuchet MS"/>
              </a:rPr>
              <a:t>la </a:t>
            </a:r>
            <a:r>
              <a:rPr sz="1200" spc="50" dirty="0">
                <a:solidFill>
                  <a:srgbClr val="87897C"/>
                </a:solidFill>
                <a:latin typeface="Trebuchet MS"/>
                <a:cs typeface="Trebuchet MS"/>
              </a:rPr>
              <a:t>distribución </a:t>
            </a:r>
            <a:r>
              <a:rPr sz="1200" spc="30" dirty="0">
                <a:solidFill>
                  <a:srgbClr val="87897C"/>
                </a:solidFill>
                <a:latin typeface="Trebuchet MS"/>
                <a:cs typeface="Trebuchet MS"/>
              </a:rPr>
              <a:t>binomial. </a:t>
            </a:r>
            <a:r>
              <a:rPr sz="1200" spc="105" dirty="0">
                <a:solidFill>
                  <a:srgbClr val="87897C"/>
                </a:solidFill>
                <a:latin typeface="Trebuchet MS"/>
                <a:cs typeface="Trebuchet MS"/>
              </a:rPr>
              <a:t>En </a:t>
            </a:r>
            <a:r>
              <a:rPr sz="1200" spc="25" dirty="0">
                <a:solidFill>
                  <a:srgbClr val="87897C"/>
                </a:solidFill>
                <a:latin typeface="Trebuchet MS"/>
                <a:cs typeface="Trebuchet MS"/>
              </a:rPr>
              <a:t>el </a:t>
            </a:r>
            <a:r>
              <a:rPr sz="1200" spc="50" dirty="0">
                <a:solidFill>
                  <a:srgbClr val="87897C"/>
                </a:solidFill>
                <a:latin typeface="Trebuchet MS"/>
                <a:cs typeface="Trebuchet MS"/>
              </a:rPr>
              <a:t>contexto </a:t>
            </a:r>
            <a:r>
              <a:rPr sz="1200" spc="30" dirty="0">
                <a:solidFill>
                  <a:srgbClr val="87897C"/>
                </a:solidFill>
                <a:latin typeface="Trebuchet MS"/>
                <a:cs typeface="Trebuchet MS"/>
              </a:rPr>
              <a:t>binomial, la variable aleatoria </a:t>
            </a:r>
            <a:r>
              <a:rPr sz="1200" i="1" spc="35" dirty="0">
                <a:solidFill>
                  <a:srgbClr val="87897C"/>
                </a:solidFill>
                <a:latin typeface="Trebuchet MS"/>
                <a:cs typeface="Trebuchet MS"/>
              </a:rPr>
              <a:t>X </a:t>
            </a:r>
            <a:r>
              <a:rPr sz="1200" spc="50" dirty="0">
                <a:solidFill>
                  <a:srgbClr val="87897C"/>
                </a:solidFill>
                <a:latin typeface="Trebuchet MS"/>
                <a:cs typeface="Trebuchet MS"/>
              </a:rPr>
              <a:t>representa </a:t>
            </a:r>
            <a:r>
              <a:rPr sz="1200" spc="25" dirty="0">
                <a:solidFill>
                  <a:srgbClr val="87897C"/>
                </a:solidFill>
                <a:latin typeface="Trebuchet MS"/>
                <a:cs typeface="Trebuchet MS"/>
              </a:rPr>
              <a:t>el </a:t>
            </a:r>
            <a:r>
              <a:rPr sz="1200" spc="70" dirty="0">
                <a:solidFill>
                  <a:srgbClr val="87897C"/>
                </a:solidFill>
                <a:latin typeface="Trebuchet MS"/>
                <a:cs typeface="Trebuchet MS"/>
              </a:rPr>
              <a:t>número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de  </a:t>
            </a:r>
            <a:r>
              <a:rPr sz="1200" spc="45" dirty="0">
                <a:solidFill>
                  <a:srgbClr val="87897C"/>
                </a:solidFill>
                <a:latin typeface="Trebuchet MS"/>
                <a:cs typeface="Trebuchet MS"/>
              </a:rPr>
              <a:t>éxitos </a:t>
            </a:r>
            <a:r>
              <a:rPr sz="1200" spc="65" dirty="0">
                <a:solidFill>
                  <a:srgbClr val="87897C"/>
                </a:solidFill>
                <a:latin typeface="Trebuchet MS"/>
                <a:cs typeface="Trebuchet MS"/>
              </a:rPr>
              <a:t>obtenidos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en </a:t>
            </a:r>
            <a:r>
              <a:rPr sz="1200" spc="70" dirty="0">
                <a:solidFill>
                  <a:srgbClr val="87897C"/>
                </a:solidFill>
                <a:latin typeface="Trebuchet MS"/>
                <a:cs typeface="Trebuchet MS"/>
              </a:rPr>
              <a:t>una </a:t>
            </a:r>
            <a:r>
              <a:rPr sz="1200" spc="40" dirty="0">
                <a:solidFill>
                  <a:srgbClr val="87897C"/>
                </a:solidFill>
                <a:latin typeface="Trebuchet MS"/>
                <a:cs typeface="Trebuchet MS"/>
              </a:rPr>
              <a:t>serie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de </a:t>
            </a:r>
            <a:r>
              <a:rPr sz="1200" i="1" spc="60" dirty="0">
                <a:solidFill>
                  <a:srgbClr val="87897C"/>
                </a:solidFill>
                <a:latin typeface="Trebuchet MS"/>
                <a:cs typeface="Trebuchet MS"/>
              </a:rPr>
              <a:t>n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ensayo de </a:t>
            </a:r>
            <a:r>
              <a:rPr sz="1200" spc="45" dirty="0">
                <a:solidFill>
                  <a:srgbClr val="87897C"/>
                </a:solidFill>
                <a:latin typeface="Trebuchet MS"/>
                <a:cs typeface="Trebuchet MS"/>
              </a:rPr>
              <a:t>Bernoulli </a:t>
            </a:r>
            <a:r>
              <a:rPr sz="1200" spc="55" dirty="0">
                <a:solidFill>
                  <a:srgbClr val="87897C"/>
                </a:solidFill>
                <a:latin typeface="Trebuchet MS"/>
                <a:cs typeface="Trebuchet MS"/>
              </a:rPr>
              <a:t>independientes </a:t>
            </a:r>
            <a:r>
              <a:rPr sz="1200" spc="35" dirty="0">
                <a:solidFill>
                  <a:srgbClr val="87897C"/>
                </a:solidFill>
                <a:latin typeface="Trebuchet MS"/>
                <a:cs typeface="Trebuchet MS"/>
              </a:rPr>
              <a:t>e idénticos, </a:t>
            </a:r>
            <a:r>
              <a:rPr sz="1200" spc="70" dirty="0">
                <a:solidFill>
                  <a:srgbClr val="87897C"/>
                </a:solidFill>
                <a:latin typeface="Trebuchet MS"/>
                <a:cs typeface="Trebuchet MS"/>
              </a:rPr>
              <a:t>número </a:t>
            </a:r>
            <a:r>
              <a:rPr sz="1200" spc="65" dirty="0">
                <a:solidFill>
                  <a:srgbClr val="87897C"/>
                </a:solidFill>
                <a:latin typeface="Trebuchet MS"/>
                <a:cs typeface="Trebuchet MS"/>
              </a:rPr>
              <a:t>que</a:t>
            </a:r>
            <a:r>
              <a:rPr sz="1200" spc="-60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200" spc="90" dirty="0">
                <a:solidFill>
                  <a:srgbClr val="87897C"/>
                </a:solidFill>
                <a:latin typeface="Trebuchet MS"/>
                <a:cs typeface="Trebuchet MS"/>
              </a:rPr>
              <a:t>es  </a:t>
            </a:r>
            <a:r>
              <a:rPr sz="1200" i="1" spc="-45" dirty="0">
                <a:solidFill>
                  <a:srgbClr val="87897C"/>
                </a:solidFill>
                <a:latin typeface="Trebuchet MS"/>
                <a:cs typeface="Trebuchet MS"/>
              </a:rPr>
              <a:t>ﬁjo</a:t>
            </a:r>
            <a:r>
              <a:rPr sz="1200" spc="-45" dirty="0">
                <a:solidFill>
                  <a:srgbClr val="87897C"/>
                </a:solidFill>
                <a:latin typeface="Trebuchet MS"/>
                <a:cs typeface="Trebuchet MS"/>
              </a:rPr>
              <a:t>, </a:t>
            </a:r>
            <a:r>
              <a:rPr sz="1200" spc="55" dirty="0">
                <a:solidFill>
                  <a:srgbClr val="87897C"/>
                </a:solidFill>
                <a:latin typeface="Trebuchet MS"/>
                <a:cs typeface="Trebuchet MS"/>
              </a:rPr>
              <a:t>mientras </a:t>
            </a:r>
            <a:r>
              <a:rPr sz="1200" spc="65" dirty="0">
                <a:solidFill>
                  <a:srgbClr val="87897C"/>
                </a:solidFill>
                <a:latin typeface="Trebuchet MS"/>
                <a:cs typeface="Trebuchet MS"/>
              </a:rPr>
              <a:t>que </a:t>
            </a:r>
            <a:r>
              <a:rPr sz="1200" spc="25" dirty="0">
                <a:solidFill>
                  <a:srgbClr val="87897C"/>
                </a:solidFill>
                <a:latin typeface="Trebuchet MS"/>
                <a:cs typeface="Trebuchet MS"/>
              </a:rPr>
              <a:t>el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de </a:t>
            </a:r>
            <a:r>
              <a:rPr sz="1200" spc="45" dirty="0">
                <a:solidFill>
                  <a:srgbClr val="87897C"/>
                </a:solidFill>
                <a:latin typeface="Trebuchet MS"/>
                <a:cs typeface="Trebuchet MS"/>
              </a:rPr>
              <a:t>éxitos </a:t>
            </a:r>
            <a:r>
              <a:rPr sz="1200" i="1" spc="25" dirty="0">
                <a:solidFill>
                  <a:srgbClr val="87897C"/>
                </a:solidFill>
                <a:latin typeface="Trebuchet MS"/>
                <a:cs typeface="Trebuchet MS"/>
              </a:rPr>
              <a:t>varía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de </a:t>
            </a:r>
            <a:r>
              <a:rPr sz="1200" spc="85" dirty="0">
                <a:solidFill>
                  <a:srgbClr val="87897C"/>
                </a:solidFill>
                <a:latin typeface="Trebuchet MS"/>
                <a:cs typeface="Trebuchet MS"/>
              </a:rPr>
              <a:t>un </a:t>
            </a:r>
            <a:r>
              <a:rPr sz="1200" spc="45" dirty="0">
                <a:solidFill>
                  <a:srgbClr val="87897C"/>
                </a:solidFill>
                <a:latin typeface="Trebuchet MS"/>
                <a:cs typeface="Trebuchet MS"/>
              </a:rPr>
              <a:t>experimento a</a:t>
            </a:r>
            <a:r>
              <a:rPr sz="1200" spc="10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200" spc="5" dirty="0">
                <a:solidFill>
                  <a:srgbClr val="87897C"/>
                </a:solidFill>
                <a:latin typeface="Trebuchet MS"/>
                <a:cs typeface="Trebuchet MS"/>
              </a:rPr>
              <a:t>otro.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97838" y="2571979"/>
            <a:ext cx="8070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85" dirty="0">
                <a:solidFill>
                  <a:srgbClr val="87897C"/>
                </a:solidFill>
                <a:latin typeface="Trebuchet MS"/>
                <a:cs typeface="Trebuchet MS"/>
              </a:rPr>
              <a:t>F</a:t>
            </a:r>
            <a:r>
              <a:rPr sz="1200" spc="75" dirty="0">
                <a:solidFill>
                  <a:srgbClr val="87897C"/>
                </a:solidFill>
                <a:latin typeface="Trebuchet MS"/>
                <a:cs typeface="Trebuchet MS"/>
              </a:rPr>
              <a:t>ORMULA: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31756" y="3295878"/>
            <a:ext cx="16776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80" dirty="0">
                <a:solidFill>
                  <a:srgbClr val="87897C"/>
                </a:solidFill>
                <a:latin typeface="Trebuchet MS"/>
                <a:cs typeface="Trebuchet MS"/>
              </a:rPr>
              <a:t>PARAMETROS:</a:t>
            </a:r>
            <a:r>
              <a:rPr sz="1200" spc="370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200" spc="105" dirty="0">
                <a:solidFill>
                  <a:srgbClr val="87897C"/>
                </a:solidFill>
                <a:latin typeface="Trebuchet MS"/>
                <a:cs typeface="Trebuchet MS"/>
              </a:rPr>
              <a:t>MEDIA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56040" y="3295878"/>
            <a:ext cx="8166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87897C"/>
                </a:solidFill>
                <a:latin typeface="Trebuchet MS"/>
                <a:cs typeface="Trebuchet MS"/>
              </a:rPr>
              <a:t>V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ARIANZA: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147718" y="2256770"/>
            <a:ext cx="3095593" cy="80962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147718" y="3330593"/>
            <a:ext cx="1295397" cy="7334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864888" y="3316293"/>
            <a:ext cx="1066797" cy="76199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5049" y="303149"/>
            <a:ext cx="6166485" cy="787400"/>
          </a:xfrm>
          <a:custGeom>
            <a:avLst/>
            <a:gdLst/>
            <a:ahLst/>
            <a:cxnLst/>
            <a:rect l="l" t="t" r="r" b="b"/>
            <a:pathLst>
              <a:path w="6166485" h="787400">
                <a:moveTo>
                  <a:pt x="0" y="0"/>
                </a:moveTo>
                <a:lnTo>
                  <a:pt x="6166187" y="0"/>
                </a:lnTo>
                <a:lnTo>
                  <a:pt x="6166187" y="787198"/>
                </a:lnTo>
                <a:lnTo>
                  <a:pt x="0" y="7871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2D3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61923" y="479325"/>
            <a:ext cx="51562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30" dirty="0"/>
              <a:t>Distribucion</a:t>
            </a:r>
            <a:r>
              <a:rPr sz="2800" spc="-190" dirty="0"/>
              <a:t> </a:t>
            </a:r>
            <a:r>
              <a:rPr sz="2800" spc="55" dirty="0"/>
              <a:t>Hipergeometrica</a:t>
            </a:r>
            <a:endParaRPr sz="2800"/>
          </a:p>
        </p:txBody>
      </p:sp>
      <p:sp>
        <p:nvSpPr>
          <p:cNvPr id="4" name="object 4"/>
          <p:cNvSpPr/>
          <p:nvPr/>
        </p:nvSpPr>
        <p:spPr>
          <a:xfrm>
            <a:off x="1956133" y="1290399"/>
            <a:ext cx="79374" cy="126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877237" y="1919048"/>
            <a:ext cx="79374" cy="126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01173" y="1190705"/>
            <a:ext cx="7527925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200" spc="75" dirty="0">
                <a:solidFill>
                  <a:srgbClr val="87897C"/>
                </a:solidFill>
                <a:latin typeface="Trebuchet MS"/>
                <a:cs typeface="Trebuchet MS"/>
              </a:rPr>
              <a:t>La </a:t>
            </a:r>
            <a:r>
              <a:rPr sz="1200" spc="50" dirty="0">
                <a:solidFill>
                  <a:srgbClr val="87897C"/>
                </a:solidFill>
                <a:latin typeface="Trebuchet MS"/>
                <a:cs typeface="Trebuchet MS"/>
              </a:rPr>
              <a:t>distribución </a:t>
            </a:r>
            <a:r>
              <a:rPr sz="1200" spc="40" dirty="0">
                <a:solidFill>
                  <a:srgbClr val="87897C"/>
                </a:solidFill>
                <a:latin typeface="Trebuchet MS"/>
                <a:cs typeface="Trebuchet MS"/>
              </a:rPr>
              <a:t>hiper </a:t>
            </a:r>
            <a:r>
              <a:rPr sz="1200" spc="45" dirty="0">
                <a:solidFill>
                  <a:srgbClr val="87897C"/>
                </a:solidFill>
                <a:latin typeface="Trebuchet MS"/>
                <a:cs typeface="Trebuchet MS"/>
              </a:rPr>
              <a:t>eométrica </a:t>
            </a:r>
            <a:r>
              <a:rPr sz="1200" spc="90" dirty="0">
                <a:solidFill>
                  <a:srgbClr val="87897C"/>
                </a:solidFill>
                <a:latin typeface="Trebuchet MS"/>
                <a:cs typeface="Trebuchet MS"/>
              </a:rPr>
              <a:t>es </a:t>
            </a:r>
            <a:r>
              <a:rPr sz="1200" spc="45" dirty="0">
                <a:solidFill>
                  <a:srgbClr val="87897C"/>
                </a:solidFill>
                <a:latin typeface="Trebuchet MS"/>
                <a:cs typeface="Trebuchet MS"/>
              </a:rPr>
              <a:t>semejante a </a:t>
            </a:r>
            <a:r>
              <a:rPr sz="1200" spc="30" dirty="0">
                <a:solidFill>
                  <a:srgbClr val="87897C"/>
                </a:solidFill>
                <a:latin typeface="Trebuchet MS"/>
                <a:cs typeface="Trebuchet MS"/>
              </a:rPr>
              <a:t>la binomial, </a:t>
            </a:r>
            <a:r>
              <a:rPr sz="1200" spc="45" dirty="0">
                <a:solidFill>
                  <a:srgbClr val="87897C"/>
                </a:solidFill>
                <a:latin typeface="Trebuchet MS"/>
                <a:cs typeface="Trebuchet MS"/>
              </a:rPr>
              <a:t>excepto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en </a:t>
            </a:r>
            <a:r>
              <a:rPr sz="1200" spc="25" dirty="0">
                <a:solidFill>
                  <a:srgbClr val="87897C"/>
                </a:solidFill>
                <a:latin typeface="Trebuchet MS"/>
                <a:cs typeface="Trebuchet MS"/>
              </a:rPr>
              <a:t>el </a:t>
            </a:r>
            <a:r>
              <a:rPr sz="1200" spc="70" dirty="0">
                <a:solidFill>
                  <a:srgbClr val="87897C"/>
                </a:solidFill>
                <a:latin typeface="Trebuchet MS"/>
                <a:cs typeface="Trebuchet MS"/>
              </a:rPr>
              <a:t>hecho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de </a:t>
            </a:r>
            <a:r>
              <a:rPr sz="1200" spc="65" dirty="0">
                <a:solidFill>
                  <a:srgbClr val="87897C"/>
                </a:solidFill>
                <a:latin typeface="Trebuchet MS"/>
                <a:cs typeface="Trebuchet MS"/>
              </a:rPr>
              <a:t>que las </a:t>
            </a:r>
            <a:r>
              <a:rPr sz="1200" spc="70" dirty="0">
                <a:solidFill>
                  <a:srgbClr val="87897C"/>
                </a:solidFill>
                <a:latin typeface="Trebuchet MS"/>
                <a:cs typeface="Trebuchet MS"/>
              </a:rPr>
              <a:t>pruebas  </a:t>
            </a:r>
            <a:r>
              <a:rPr sz="1200" spc="80" dirty="0">
                <a:solidFill>
                  <a:srgbClr val="87897C"/>
                </a:solidFill>
                <a:latin typeface="Trebuchet MS"/>
                <a:cs typeface="Trebuchet MS"/>
              </a:rPr>
              <a:t>no </a:t>
            </a:r>
            <a:r>
              <a:rPr sz="1200" spc="55" dirty="0">
                <a:solidFill>
                  <a:srgbClr val="87897C"/>
                </a:solidFill>
                <a:latin typeface="Trebuchet MS"/>
                <a:cs typeface="Trebuchet MS"/>
              </a:rPr>
              <a:t>mantienen </a:t>
            </a:r>
            <a:r>
              <a:rPr sz="1200" spc="75" dirty="0">
                <a:solidFill>
                  <a:srgbClr val="87897C"/>
                </a:solidFill>
                <a:latin typeface="Trebuchet MS"/>
                <a:cs typeface="Trebuchet MS"/>
              </a:rPr>
              <a:t>constantes </a:t>
            </a:r>
            <a:r>
              <a:rPr sz="1200" spc="65" dirty="0">
                <a:solidFill>
                  <a:srgbClr val="87897C"/>
                </a:solidFill>
                <a:latin typeface="Trebuchet MS"/>
                <a:cs typeface="Trebuchet MS"/>
              </a:rPr>
              <a:t>las </a:t>
            </a:r>
            <a:r>
              <a:rPr sz="1200" spc="50" dirty="0">
                <a:solidFill>
                  <a:srgbClr val="87897C"/>
                </a:solidFill>
                <a:latin typeface="Trebuchet MS"/>
                <a:cs typeface="Trebuchet MS"/>
              </a:rPr>
              <a:t>probabilidades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de </a:t>
            </a:r>
            <a:r>
              <a:rPr sz="1200" spc="80" dirty="0">
                <a:solidFill>
                  <a:srgbClr val="87897C"/>
                </a:solidFill>
                <a:latin typeface="Trebuchet MS"/>
                <a:cs typeface="Trebuchet MS"/>
              </a:rPr>
              <a:t>A</a:t>
            </a:r>
            <a:r>
              <a:rPr sz="1200" spc="-245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200" spc="25" dirty="0">
                <a:solidFill>
                  <a:srgbClr val="87897C"/>
                </a:solidFill>
                <a:latin typeface="Trebuchet MS"/>
                <a:cs typeface="Trebuchet MS"/>
              </a:rPr>
              <a:t>y </a:t>
            </a:r>
            <a:r>
              <a:rPr sz="1200" spc="80" dirty="0">
                <a:solidFill>
                  <a:srgbClr val="87897C"/>
                </a:solidFill>
                <a:latin typeface="Trebuchet MS"/>
                <a:cs typeface="Trebuchet MS"/>
              </a:rPr>
              <a:t>Ã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400">
              <a:latin typeface="Trebuchet MS"/>
              <a:cs typeface="Trebuchet MS"/>
            </a:endParaRPr>
          </a:p>
          <a:p>
            <a:pPr marL="12700" marR="3417570">
              <a:lnSpc>
                <a:spcPct val="114599"/>
              </a:lnSpc>
            </a:pPr>
            <a:r>
              <a:rPr sz="1200" spc="75" dirty="0">
                <a:solidFill>
                  <a:srgbClr val="87897C"/>
                </a:solidFill>
                <a:latin typeface="Trebuchet MS"/>
                <a:cs typeface="Trebuchet MS"/>
              </a:rPr>
              <a:t>La </a:t>
            </a:r>
            <a:r>
              <a:rPr sz="1200" spc="55" dirty="0">
                <a:solidFill>
                  <a:srgbClr val="87897C"/>
                </a:solidFill>
                <a:latin typeface="Trebuchet MS"/>
                <a:cs typeface="Trebuchet MS"/>
              </a:rPr>
              <a:t>media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de </a:t>
            </a:r>
            <a:r>
              <a:rPr sz="1200" spc="30" dirty="0">
                <a:solidFill>
                  <a:srgbClr val="87897C"/>
                </a:solidFill>
                <a:latin typeface="Trebuchet MS"/>
                <a:cs typeface="Trebuchet MS"/>
              </a:rPr>
              <a:t>la </a:t>
            </a:r>
            <a:r>
              <a:rPr sz="1200" spc="50" dirty="0">
                <a:solidFill>
                  <a:srgbClr val="87897C"/>
                </a:solidFill>
                <a:latin typeface="Trebuchet MS"/>
                <a:cs typeface="Trebuchet MS"/>
              </a:rPr>
              <a:t>distribución </a:t>
            </a:r>
            <a:r>
              <a:rPr sz="1200" spc="40" dirty="0">
                <a:solidFill>
                  <a:srgbClr val="87897C"/>
                </a:solidFill>
                <a:latin typeface="Trebuchet MS"/>
                <a:cs typeface="Trebuchet MS"/>
              </a:rPr>
              <a:t>hiper </a:t>
            </a:r>
            <a:r>
              <a:rPr sz="1200" spc="45" dirty="0">
                <a:solidFill>
                  <a:srgbClr val="87897C"/>
                </a:solidFill>
                <a:latin typeface="Trebuchet MS"/>
                <a:cs typeface="Trebuchet MS"/>
              </a:rPr>
              <a:t>eométrica </a:t>
            </a:r>
            <a:r>
              <a:rPr sz="1200" spc="90" dirty="0">
                <a:solidFill>
                  <a:srgbClr val="87897C"/>
                </a:solidFill>
                <a:latin typeface="Trebuchet MS"/>
                <a:cs typeface="Trebuchet MS"/>
              </a:rPr>
              <a:t>es </a:t>
            </a:r>
            <a:r>
              <a:rPr sz="1200" spc="145" dirty="0">
                <a:solidFill>
                  <a:srgbClr val="87897C"/>
                </a:solidFill>
                <a:latin typeface="Trebuchet MS"/>
                <a:cs typeface="Trebuchet MS"/>
              </a:rPr>
              <a:t>m </a:t>
            </a:r>
            <a:r>
              <a:rPr sz="1200" spc="95" dirty="0">
                <a:solidFill>
                  <a:srgbClr val="87897C"/>
                </a:solidFill>
                <a:latin typeface="Trebuchet MS"/>
                <a:cs typeface="Trebuchet MS"/>
              </a:rPr>
              <a:t>=</a:t>
            </a:r>
            <a:r>
              <a:rPr sz="1200" spc="-40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200" spc="85" dirty="0">
                <a:solidFill>
                  <a:srgbClr val="87897C"/>
                </a:solidFill>
                <a:latin typeface="Trebuchet MS"/>
                <a:cs typeface="Trebuchet MS"/>
              </a:rPr>
              <a:t>np  </a:t>
            </a:r>
            <a:r>
              <a:rPr sz="1200" spc="75" dirty="0">
                <a:solidFill>
                  <a:srgbClr val="87897C"/>
                </a:solidFill>
                <a:latin typeface="Trebuchet MS"/>
                <a:cs typeface="Trebuchet MS"/>
              </a:rPr>
              <a:t>La </a:t>
            </a:r>
            <a:r>
              <a:rPr sz="1200" spc="40" dirty="0">
                <a:solidFill>
                  <a:srgbClr val="87897C"/>
                </a:solidFill>
                <a:latin typeface="Trebuchet MS"/>
                <a:cs typeface="Trebuchet MS"/>
              </a:rPr>
              <a:t>varianza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de </a:t>
            </a:r>
            <a:r>
              <a:rPr sz="1200" spc="30" dirty="0">
                <a:solidFill>
                  <a:srgbClr val="87897C"/>
                </a:solidFill>
                <a:latin typeface="Trebuchet MS"/>
                <a:cs typeface="Trebuchet MS"/>
              </a:rPr>
              <a:t>la </a:t>
            </a:r>
            <a:r>
              <a:rPr sz="1200" spc="50" dirty="0">
                <a:solidFill>
                  <a:srgbClr val="87897C"/>
                </a:solidFill>
                <a:latin typeface="Trebuchet MS"/>
                <a:cs typeface="Trebuchet MS"/>
              </a:rPr>
              <a:t>distribución </a:t>
            </a:r>
            <a:r>
              <a:rPr sz="1200" spc="90" dirty="0">
                <a:solidFill>
                  <a:srgbClr val="87897C"/>
                </a:solidFill>
                <a:latin typeface="Trebuchet MS"/>
                <a:cs typeface="Trebuchet MS"/>
              </a:rPr>
              <a:t>es </a:t>
            </a:r>
            <a:r>
              <a:rPr sz="1200" spc="105" dirty="0">
                <a:solidFill>
                  <a:srgbClr val="87897C"/>
                </a:solidFill>
                <a:latin typeface="Trebuchet MS"/>
                <a:cs typeface="Trebuchet MS"/>
              </a:rPr>
              <a:t>s2 </a:t>
            </a:r>
            <a:r>
              <a:rPr sz="1200" spc="95" dirty="0">
                <a:solidFill>
                  <a:srgbClr val="87897C"/>
                </a:solidFill>
                <a:latin typeface="Trebuchet MS"/>
                <a:cs typeface="Trebuchet MS"/>
              </a:rPr>
              <a:t>= </a:t>
            </a:r>
            <a:r>
              <a:rPr sz="1200" spc="80" dirty="0">
                <a:solidFill>
                  <a:srgbClr val="87897C"/>
                </a:solidFill>
                <a:latin typeface="Trebuchet MS"/>
                <a:cs typeface="Trebuchet MS"/>
              </a:rPr>
              <a:t>npq</a:t>
            </a:r>
            <a:r>
              <a:rPr sz="1200" spc="-240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200" spc="10" dirty="0">
                <a:solidFill>
                  <a:srgbClr val="87897C"/>
                </a:solidFill>
                <a:latin typeface="Trebuchet MS"/>
                <a:cs typeface="Trebuchet MS"/>
              </a:rPr>
              <a:t>(N-1/(N-n))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400">
              <a:latin typeface="Trebuchet MS"/>
              <a:cs typeface="Trebuchet MS"/>
            </a:endParaRPr>
          </a:p>
          <a:p>
            <a:pPr marL="12700" marR="501650">
              <a:lnSpc>
                <a:spcPct val="114599"/>
              </a:lnSpc>
              <a:spcBef>
                <a:spcPts val="1225"/>
              </a:spcBef>
            </a:pPr>
            <a:r>
              <a:rPr sz="1200" spc="30" dirty="0">
                <a:solidFill>
                  <a:srgbClr val="87897C"/>
                </a:solidFill>
                <a:latin typeface="Trebuchet MS"/>
                <a:cs typeface="Trebuchet MS"/>
              </a:rPr>
              <a:t>al </a:t>
            </a:r>
            <a:r>
              <a:rPr sz="1200" spc="50" dirty="0">
                <a:solidFill>
                  <a:srgbClr val="87897C"/>
                </a:solidFill>
                <a:latin typeface="Trebuchet MS"/>
                <a:cs typeface="Trebuchet MS"/>
              </a:rPr>
              <a:t>término </a:t>
            </a:r>
            <a:r>
              <a:rPr sz="1200" spc="10" dirty="0">
                <a:solidFill>
                  <a:srgbClr val="87897C"/>
                </a:solidFill>
                <a:latin typeface="Trebuchet MS"/>
                <a:cs typeface="Trebuchet MS"/>
              </a:rPr>
              <a:t>(N-1/(N-n)) </a:t>
            </a:r>
            <a:r>
              <a:rPr sz="1200" spc="90" dirty="0">
                <a:solidFill>
                  <a:srgbClr val="87897C"/>
                </a:solidFill>
                <a:latin typeface="Trebuchet MS"/>
                <a:cs typeface="Trebuchet MS"/>
              </a:rPr>
              <a:t>se </a:t>
            </a:r>
            <a:r>
              <a:rPr sz="1200" spc="25" dirty="0">
                <a:solidFill>
                  <a:srgbClr val="87897C"/>
                </a:solidFill>
                <a:latin typeface="Trebuchet MS"/>
                <a:cs typeface="Trebuchet MS"/>
              </a:rPr>
              <a:t>le </a:t>
            </a:r>
            <a:r>
              <a:rPr sz="1200" spc="50" dirty="0">
                <a:solidFill>
                  <a:srgbClr val="87897C"/>
                </a:solidFill>
                <a:latin typeface="Trebuchet MS"/>
                <a:cs typeface="Trebuchet MS"/>
              </a:rPr>
              <a:t>llama coeﬁciente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de </a:t>
            </a:r>
            <a:r>
              <a:rPr sz="1200" spc="50" dirty="0">
                <a:solidFill>
                  <a:srgbClr val="87897C"/>
                </a:solidFill>
                <a:latin typeface="Trebuchet MS"/>
                <a:cs typeface="Trebuchet MS"/>
              </a:rPr>
              <a:t>exhaustividad </a:t>
            </a:r>
            <a:r>
              <a:rPr sz="1200" b="1" spc="35" dirty="0">
                <a:solidFill>
                  <a:srgbClr val="87897C"/>
                </a:solidFill>
                <a:latin typeface="Noto Sans Devanagari"/>
                <a:cs typeface="Noto Sans Devanagari"/>
              </a:rPr>
              <a:t>,</a:t>
            </a:r>
            <a:r>
              <a:rPr sz="1200" spc="35" dirty="0">
                <a:solidFill>
                  <a:srgbClr val="87897C"/>
                </a:solidFill>
                <a:latin typeface="Trebuchet MS"/>
                <a:cs typeface="Trebuchet MS"/>
              </a:rPr>
              <a:t>o también, </a:t>
            </a:r>
            <a:r>
              <a:rPr sz="1200" spc="40" dirty="0">
                <a:solidFill>
                  <a:srgbClr val="87897C"/>
                </a:solidFill>
                <a:latin typeface="Trebuchet MS"/>
                <a:cs typeface="Trebuchet MS"/>
              </a:rPr>
              <a:t>factor </a:t>
            </a:r>
            <a:r>
              <a:rPr sz="1200" spc="45" dirty="0">
                <a:solidFill>
                  <a:srgbClr val="87897C"/>
                </a:solidFill>
                <a:latin typeface="Trebuchet MS"/>
                <a:cs typeface="Trebuchet MS"/>
              </a:rPr>
              <a:t>corrector</a:t>
            </a:r>
            <a:r>
              <a:rPr sz="1200" spc="-150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de  poblaciones ﬁnitas</a:t>
            </a:r>
            <a:r>
              <a:rPr sz="1200" spc="-65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200" spc="-90" dirty="0">
                <a:solidFill>
                  <a:srgbClr val="87897C"/>
                </a:solidFill>
                <a:latin typeface="Trebuchet MS"/>
                <a:cs typeface="Trebuchet MS"/>
              </a:rPr>
              <a:t>: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604417" y="3104243"/>
            <a:ext cx="1741146" cy="13839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5049" y="303149"/>
            <a:ext cx="6166485" cy="787400"/>
          </a:xfrm>
          <a:custGeom>
            <a:avLst/>
            <a:gdLst/>
            <a:ahLst/>
            <a:cxnLst/>
            <a:rect l="l" t="t" r="r" b="b"/>
            <a:pathLst>
              <a:path w="6166485" h="787400">
                <a:moveTo>
                  <a:pt x="0" y="0"/>
                </a:moveTo>
                <a:lnTo>
                  <a:pt x="6166187" y="0"/>
                </a:lnTo>
                <a:lnTo>
                  <a:pt x="6166187" y="787198"/>
                </a:lnTo>
                <a:lnTo>
                  <a:pt x="0" y="7871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2D3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61923" y="479325"/>
            <a:ext cx="426148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30" dirty="0"/>
              <a:t>Distribucion</a:t>
            </a:r>
            <a:r>
              <a:rPr sz="2800" spc="-215" dirty="0"/>
              <a:t> </a:t>
            </a:r>
            <a:r>
              <a:rPr sz="2800" spc="55" dirty="0"/>
              <a:t>Geometrica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793023" y="1282678"/>
            <a:ext cx="7046595" cy="57023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>
              <a:lnSpc>
                <a:spcPts val="1420"/>
              </a:lnSpc>
              <a:spcBef>
                <a:spcPts val="160"/>
              </a:spcBef>
            </a:pPr>
            <a:r>
              <a:rPr sz="1200" spc="75" dirty="0">
                <a:solidFill>
                  <a:srgbClr val="87897C"/>
                </a:solidFill>
                <a:latin typeface="Trebuchet MS"/>
                <a:cs typeface="Trebuchet MS"/>
              </a:rPr>
              <a:t>Consideramos </a:t>
            </a:r>
            <a:r>
              <a:rPr sz="1200" spc="70" dirty="0">
                <a:solidFill>
                  <a:srgbClr val="87897C"/>
                </a:solidFill>
                <a:latin typeface="Trebuchet MS"/>
                <a:cs typeface="Trebuchet MS"/>
              </a:rPr>
              <a:t>una </a:t>
            </a:r>
            <a:r>
              <a:rPr sz="1200" spc="75" dirty="0">
                <a:solidFill>
                  <a:srgbClr val="87897C"/>
                </a:solidFill>
                <a:latin typeface="Trebuchet MS"/>
                <a:cs typeface="Trebuchet MS"/>
              </a:rPr>
              <a:t>sucesión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de </a:t>
            </a:r>
            <a:r>
              <a:rPr sz="1200" spc="40" dirty="0">
                <a:solidFill>
                  <a:srgbClr val="87897C"/>
                </a:solidFill>
                <a:latin typeface="Trebuchet MS"/>
                <a:cs typeface="Trebuchet MS"/>
              </a:rPr>
              <a:t>variables aleatorias </a:t>
            </a:r>
            <a:r>
              <a:rPr sz="1200" spc="55" dirty="0">
                <a:solidFill>
                  <a:srgbClr val="87897C"/>
                </a:solidFill>
                <a:latin typeface="Trebuchet MS"/>
                <a:cs typeface="Trebuchet MS"/>
              </a:rPr>
              <a:t>independientes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de </a:t>
            </a:r>
            <a:r>
              <a:rPr sz="1200" spc="20" dirty="0">
                <a:solidFill>
                  <a:srgbClr val="87897C"/>
                </a:solidFill>
                <a:latin typeface="Trebuchet MS"/>
                <a:cs typeface="Trebuchet MS"/>
              </a:rPr>
              <a:t>Bernouilli. </a:t>
            </a:r>
            <a:r>
              <a:rPr sz="1200" spc="130" dirty="0">
                <a:solidFill>
                  <a:srgbClr val="87897C"/>
                </a:solidFill>
                <a:latin typeface="Trebuchet MS"/>
                <a:cs typeface="Trebuchet MS"/>
              </a:rPr>
              <a:t>Es </a:t>
            </a:r>
            <a:r>
              <a:rPr sz="1200" spc="40" dirty="0">
                <a:solidFill>
                  <a:srgbClr val="87897C"/>
                </a:solidFill>
                <a:latin typeface="Trebuchet MS"/>
                <a:cs typeface="Trebuchet MS"/>
              </a:rPr>
              <a:t>decir</a:t>
            </a:r>
            <a:r>
              <a:rPr sz="1200" spc="-85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200" spc="70" dirty="0">
                <a:solidFill>
                  <a:srgbClr val="87897C"/>
                </a:solidFill>
                <a:latin typeface="Trebuchet MS"/>
                <a:cs typeface="Trebuchet MS"/>
              </a:rPr>
              <a:t>una  </a:t>
            </a:r>
            <a:r>
              <a:rPr sz="1200" spc="75" dirty="0">
                <a:solidFill>
                  <a:srgbClr val="87897C"/>
                </a:solidFill>
                <a:latin typeface="Trebuchet MS"/>
                <a:cs typeface="Trebuchet MS"/>
              </a:rPr>
              <a:t>sucesión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de </a:t>
            </a:r>
            <a:r>
              <a:rPr sz="1200" spc="70" dirty="0">
                <a:solidFill>
                  <a:srgbClr val="87897C"/>
                </a:solidFill>
                <a:latin typeface="Trebuchet MS"/>
                <a:cs typeface="Trebuchet MS"/>
              </a:rPr>
              <a:t>pruebas </a:t>
            </a:r>
            <a:r>
              <a:rPr sz="1200" spc="55" dirty="0">
                <a:solidFill>
                  <a:srgbClr val="87897C"/>
                </a:solidFill>
                <a:latin typeface="Trebuchet MS"/>
                <a:cs typeface="Trebuchet MS"/>
              </a:rPr>
              <a:t>independientes </a:t>
            </a:r>
            <a:r>
              <a:rPr sz="1200" spc="80" dirty="0">
                <a:solidFill>
                  <a:srgbClr val="87897C"/>
                </a:solidFill>
                <a:latin typeface="Trebuchet MS"/>
                <a:cs typeface="Trebuchet MS"/>
              </a:rPr>
              <a:t>con </a:t>
            </a:r>
            <a:r>
              <a:rPr sz="1200" spc="100" dirty="0">
                <a:solidFill>
                  <a:srgbClr val="87897C"/>
                </a:solidFill>
                <a:latin typeface="Trebuchet MS"/>
                <a:cs typeface="Trebuchet MS"/>
              </a:rPr>
              <a:t>dos </a:t>
            </a:r>
            <a:r>
              <a:rPr sz="1200" spc="70" dirty="0">
                <a:solidFill>
                  <a:srgbClr val="87897C"/>
                </a:solidFill>
                <a:latin typeface="Trebuchet MS"/>
                <a:cs typeface="Trebuchet MS"/>
              </a:rPr>
              <a:t>posibles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resultados </a:t>
            </a:r>
            <a:r>
              <a:rPr sz="1200" spc="25" dirty="0">
                <a:solidFill>
                  <a:srgbClr val="87897C"/>
                </a:solidFill>
                <a:latin typeface="Trebuchet MS"/>
                <a:cs typeface="Trebuchet MS"/>
              </a:rPr>
              <a:t>y </a:t>
            </a:r>
            <a:r>
              <a:rPr sz="1200" spc="80" dirty="0">
                <a:solidFill>
                  <a:srgbClr val="87897C"/>
                </a:solidFill>
                <a:latin typeface="Trebuchet MS"/>
                <a:cs typeface="Trebuchet MS"/>
              </a:rPr>
              <a:t>con </a:t>
            </a:r>
            <a:r>
              <a:rPr sz="1200" spc="45" dirty="0">
                <a:solidFill>
                  <a:srgbClr val="87897C"/>
                </a:solidFill>
                <a:latin typeface="Trebuchet MS"/>
                <a:cs typeface="Trebuchet MS"/>
              </a:rPr>
              <a:t>probabilidad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de </a:t>
            </a:r>
            <a:r>
              <a:rPr sz="1200" spc="25" dirty="0">
                <a:solidFill>
                  <a:srgbClr val="87897C"/>
                </a:solidFill>
                <a:latin typeface="Trebuchet MS"/>
                <a:cs typeface="Trebuchet MS"/>
              </a:rPr>
              <a:t>éxito  </a:t>
            </a:r>
            <a:r>
              <a:rPr sz="1200" spc="65" dirty="0">
                <a:solidFill>
                  <a:srgbClr val="87897C"/>
                </a:solidFill>
                <a:latin typeface="Trebuchet MS"/>
                <a:cs typeface="Trebuchet MS"/>
              </a:rPr>
              <a:t>constante </a:t>
            </a:r>
            <a:r>
              <a:rPr sz="1200" spc="35" dirty="0">
                <a:solidFill>
                  <a:srgbClr val="87897C"/>
                </a:solidFill>
                <a:latin typeface="Trebuchet MS"/>
                <a:cs typeface="Trebuchet MS"/>
              </a:rPr>
              <a:t>e idéntica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en cada</a:t>
            </a:r>
            <a:r>
              <a:rPr sz="1200" spc="-20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200" spc="30" dirty="0">
                <a:solidFill>
                  <a:srgbClr val="87897C"/>
                </a:solidFill>
                <a:latin typeface="Trebuchet MS"/>
                <a:cs typeface="Trebuchet MS"/>
              </a:rPr>
              <a:t>prueba.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446524" y="2679675"/>
            <a:ext cx="79374" cy="126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3023" y="2425676"/>
            <a:ext cx="7252970" cy="57023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>
              <a:lnSpc>
                <a:spcPts val="1420"/>
              </a:lnSpc>
              <a:spcBef>
                <a:spcPts val="160"/>
              </a:spcBef>
            </a:pPr>
            <a:r>
              <a:rPr sz="1200" spc="85" dirty="0">
                <a:solidFill>
                  <a:srgbClr val="87897C"/>
                </a:solidFill>
                <a:latin typeface="Trebuchet MS"/>
                <a:cs typeface="Trebuchet MS"/>
              </a:rPr>
              <a:t>Esta </a:t>
            </a:r>
            <a:r>
              <a:rPr sz="1200" spc="75" dirty="0">
                <a:solidFill>
                  <a:srgbClr val="87897C"/>
                </a:solidFill>
                <a:latin typeface="Trebuchet MS"/>
                <a:cs typeface="Trebuchet MS"/>
              </a:rPr>
              <a:t>sucesión </a:t>
            </a:r>
            <a:r>
              <a:rPr sz="1200" spc="90" dirty="0">
                <a:solidFill>
                  <a:srgbClr val="87897C"/>
                </a:solidFill>
                <a:latin typeface="Trebuchet MS"/>
                <a:cs typeface="Trebuchet MS"/>
              </a:rPr>
              <a:t>como </a:t>
            </a:r>
            <a:r>
              <a:rPr sz="1200" spc="-10" dirty="0">
                <a:solidFill>
                  <a:srgbClr val="87897C"/>
                </a:solidFill>
                <a:latin typeface="Trebuchet MS"/>
                <a:cs typeface="Trebuchet MS"/>
              </a:rPr>
              <a:t>tal, </a:t>
            </a:r>
            <a:r>
              <a:rPr sz="1200" spc="30" dirty="0">
                <a:solidFill>
                  <a:srgbClr val="87897C"/>
                </a:solidFill>
                <a:latin typeface="Trebuchet MS"/>
                <a:cs typeface="Trebuchet MS"/>
              </a:rPr>
              <a:t>al </a:t>
            </a:r>
            <a:r>
              <a:rPr sz="1200" spc="95" dirty="0">
                <a:solidFill>
                  <a:srgbClr val="87897C"/>
                </a:solidFill>
                <a:latin typeface="Trebuchet MS"/>
                <a:cs typeface="Trebuchet MS"/>
              </a:rPr>
              <a:t>menos </a:t>
            </a:r>
            <a:r>
              <a:rPr sz="1200" spc="35" dirty="0">
                <a:solidFill>
                  <a:srgbClr val="87897C"/>
                </a:solidFill>
                <a:latin typeface="Trebuchet MS"/>
                <a:cs typeface="Trebuchet MS"/>
              </a:rPr>
              <a:t>teóricamente, </a:t>
            </a:r>
            <a:r>
              <a:rPr sz="1200" spc="65" dirty="0">
                <a:solidFill>
                  <a:srgbClr val="87897C"/>
                </a:solidFill>
                <a:latin typeface="Trebuchet MS"/>
                <a:cs typeface="Trebuchet MS"/>
              </a:rPr>
              <a:t>puede ser </a:t>
            </a:r>
            <a:r>
              <a:rPr sz="1200" spc="20" dirty="0">
                <a:solidFill>
                  <a:srgbClr val="87897C"/>
                </a:solidFill>
                <a:latin typeface="Trebuchet MS"/>
                <a:cs typeface="Trebuchet MS"/>
              </a:rPr>
              <a:t>inﬁnita. </a:t>
            </a:r>
            <a:r>
              <a:rPr sz="1200" spc="75" dirty="0">
                <a:solidFill>
                  <a:srgbClr val="87897C"/>
                </a:solidFill>
                <a:latin typeface="Trebuchet MS"/>
                <a:cs typeface="Trebuchet MS"/>
              </a:rPr>
              <a:t>Si consideramos </a:t>
            </a:r>
            <a:r>
              <a:rPr sz="1200" spc="30" dirty="0">
                <a:solidFill>
                  <a:srgbClr val="87897C"/>
                </a:solidFill>
                <a:latin typeface="Trebuchet MS"/>
                <a:cs typeface="Trebuchet MS"/>
              </a:rPr>
              <a:t>la variable  aleatoria </a:t>
            </a:r>
            <a:r>
              <a:rPr sz="1200" i="1" spc="35" dirty="0">
                <a:solidFill>
                  <a:srgbClr val="87897C"/>
                </a:solidFill>
                <a:latin typeface="Trebuchet MS"/>
                <a:cs typeface="Trebuchet MS"/>
              </a:rPr>
              <a:t>X </a:t>
            </a:r>
            <a:r>
              <a:rPr sz="1200" i="1" spc="95" dirty="0">
                <a:solidFill>
                  <a:srgbClr val="87897C"/>
                </a:solidFill>
                <a:latin typeface="Trebuchet MS"/>
                <a:cs typeface="Trebuchet MS"/>
              </a:rPr>
              <a:t>= </a:t>
            </a:r>
            <a:r>
              <a:rPr sz="1200" i="1" spc="-65" dirty="0">
                <a:solidFill>
                  <a:srgbClr val="87897C"/>
                </a:solidFill>
                <a:latin typeface="Trebuchet MS"/>
                <a:cs typeface="Trebuchet MS"/>
              </a:rPr>
              <a:t>“nº </a:t>
            </a:r>
            <a:r>
              <a:rPr sz="1200" i="1" spc="55" dirty="0">
                <a:solidFill>
                  <a:srgbClr val="87897C"/>
                </a:solidFill>
                <a:latin typeface="Trebuchet MS"/>
                <a:cs typeface="Trebuchet MS"/>
              </a:rPr>
              <a:t>de </a:t>
            </a:r>
            <a:r>
              <a:rPr sz="1200" i="1" spc="35" dirty="0">
                <a:solidFill>
                  <a:srgbClr val="87897C"/>
                </a:solidFill>
                <a:latin typeface="Trebuchet MS"/>
                <a:cs typeface="Trebuchet MS"/>
              </a:rPr>
              <a:t>experiencias </a:t>
            </a:r>
            <a:r>
              <a:rPr sz="1200" i="1" spc="40" dirty="0">
                <a:solidFill>
                  <a:srgbClr val="87897C"/>
                </a:solidFill>
                <a:latin typeface="Trebuchet MS"/>
                <a:cs typeface="Trebuchet MS"/>
              </a:rPr>
              <a:t>realizadas </a:t>
            </a:r>
            <a:r>
              <a:rPr sz="1200" i="1" spc="70" dirty="0">
                <a:solidFill>
                  <a:srgbClr val="87897C"/>
                </a:solidFill>
                <a:latin typeface="Trebuchet MS"/>
                <a:cs typeface="Trebuchet MS"/>
              </a:rPr>
              <a:t>hasta </a:t>
            </a:r>
            <a:r>
              <a:rPr sz="1200" i="1" spc="25" dirty="0">
                <a:solidFill>
                  <a:srgbClr val="87897C"/>
                </a:solidFill>
                <a:latin typeface="Trebuchet MS"/>
                <a:cs typeface="Trebuchet MS"/>
              </a:rPr>
              <a:t>obtener </a:t>
            </a:r>
            <a:r>
              <a:rPr sz="1200" i="1" spc="10" dirty="0">
                <a:solidFill>
                  <a:srgbClr val="87897C"/>
                </a:solidFill>
                <a:latin typeface="Trebuchet MS"/>
                <a:cs typeface="Trebuchet MS"/>
              </a:rPr>
              <a:t>el </a:t>
            </a:r>
            <a:r>
              <a:rPr sz="1200" i="1" spc="15" dirty="0">
                <a:solidFill>
                  <a:srgbClr val="87897C"/>
                </a:solidFill>
                <a:latin typeface="Trebuchet MS"/>
                <a:cs typeface="Trebuchet MS"/>
              </a:rPr>
              <a:t>primer </a:t>
            </a:r>
            <a:r>
              <a:rPr sz="1200" i="1" spc="-50" dirty="0">
                <a:solidFill>
                  <a:srgbClr val="87897C"/>
                </a:solidFill>
                <a:latin typeface="Trebuchet MS"/>
                <a:cs typeface="Trebuchet MS"/>
              </a:rPr>
              <a:t>éxito”</a:t>
            </a:r>
            <a:r>
              <a:rPr sz="1200" spc="-50" dirty="0">
                <a:solidFill>
                  <a:srgbClr val="87897C"/>
                </a:solidFill>
                <a:latin typeface="Trebuchet MS"/>
                <a:cs typeface="Trebuchet MS"/>
              </a:rPr>
              <a:t>, </a:t>
            </a:r>
            <a:r>
              <a:rPr sz="1200" spc="65" dirty="0">
                <a:solidFill>
                  <a:srgbClr val="87897C"/>
                </a:solidFill>
                <a:latin typeface="Trebuchet MS"/>
                <a:cs typeface="Trebuchet MS"/>
              </a:rPr>
              <a:t>diremos que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si ue </a:t>
            </a:r>
            <a:r>
              <a:rPr sz="1200" spc="70" dirty="0">
                <a:solidFill>
                  <a:srgbClr val="87897C"/>
                </a:solidFill>
                <a:latin typeface="Trebuchet MS"/>
                <a:cs typeface="Trebuchet MS"/>
              </a:rPr>
              <a:t>una  </a:t>
            </a:r>
            <a:r>
              <a:rPr sz="1200" i="1" spc="20" dirty="0">
                <a:solidFill>
                  <a:srgbClr val="87897C"/>
                </a:solidFill>
                <a:latin typeface="Trebuchet MS"/>
                <a:cs typeface="Trebuchet MS"/>
              </a:rPr>
              <a:t>distribución</a:t>
            </a:r>
            <a:r>
              <a:rPr sz="1200" i="1" spc="40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200" i="1" spc="25" dirty="0">
                <a:solidFill>
                  <a:srgbClr val="87897C"/>
                </a:solidFill>
                <a:latin typeface="Trebuchet MS"/>
                <a:cs typeface="Trebuchet MS"/>
              </a:rPr>
              <a:t>geométrica</a:t>
            </a:r>
            <a:r>
              <a:rPr sz="1200" spc="25" dirty="0">
                <a:solidFill>
                  <a:srgbClr val="87897C"/>
                </a:solidFill>
                <a:latin typeface="Trebuchet MS"/>
                <a:cs typeface="Trebuchet MS"/>
              </a:rPr>
              <a:t>.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122520" y="2000821"/>
            <a:ext cx="5031189" cy="32387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24169" y="3432543"/>
            <a:ext cx="3295643" cy="7715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5049" y="303149"/>
            <a:ext cx="6166485" cy="787400"/>
          </a:xfrm>
          <a:custGeom>
            <a:avLst/>
            <a:gdLst/>
            <a:ahLst/>
            <a:cxnLst/>
            <a:rect l="l" t="t" r="r" b="b"/>
            <a:pathLst>
              <a:path w="6166485" h="787400">
                <a:moveTo>
                  <a:pt x="0" y="0"/>
                </a:moveTo>
                <a:lnTo>
                  <a:pt x="6166187" y="0"/>
                </a:lnTo>
                <a:lnTo>
                  <a:pt x="6166187" y="787198"/>
                </a:lnTo>
                <a:lnTo>
                  <a:pt x="0" y="7871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2D3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61923" y="479325"/>
            <a:ext cx="426148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30" dirty="0">
                <a:solidFill>
                  <a:srgbClr val="2D3F3F"/>
                </a:solidFill>
                <a:latin typeface="Arial"/>
                <a:cs typeface="Arial"/>
              </a:rPr>
              <a:t>Distribucion</a:t>
            </a:r>
            <a:r>
              <a:rPr sz="2800" b="1" spc="-215" dirty="0">
                <a:solidFill>
                  <a:srgbClr val="2D3F3F"/>
                </a:solidFill>
                <a:latin typeface="Arial"/>
                <a:cs typeface="Arial"/>
              </a:rPr>
              <a:t> </a:t>
            </a:r>
            <a:r>
              <a:rPr sz="2800" b="1" spc="55" dirty="0">
                <a:solidFill>
                  <a:srgbClr val="2D3F3F"/>
                </a:solidFill>
                <a:latin typeface="Arial"/>
                <a:cs typeface="Arial"/>
              </a:rPr>
              <a:t>Geometrica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5326" y="1355703"/>
            <a:ext cx="79374" cy="126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93023" y="1282678"/>
            <a:ext cx="7395209" cy="38925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>
              <a:lnSpc>
                <a:spcPts val="1420"/>
              </a:lnSpc>
              <a:spcBef>
                <a:spcPts val="160"/>
              </a:spcBef>
            </a:pPr>
            <a:r>
              <a:rPr sz="1200" spc="105" dirty="0">
                <a:solidFill>
                  <a:srgbClr val="87897C"/>
                </a:solidFill>
                <a:latin typeface="Trebuchet MS"/>
                <a:cs typeface="Trebuchet MS"/>
              </a:rPr>
              <a:t>En </a:t>
            </a:r>
            <a:r>
              <a:rPr sz="1200" spc="30" dirty="0">
                <a:solidFill>
                  <a:srgbClr val="87897C"/>
                </a:solidFill>
                <a:latin typeface="Trebuchet MS"/>
                <a:cs typeface="Trebuchet MS"/>
              </a:rPr>
              <a:t>al </a:t>
            </a:r>
            <a:r>
              <a:rPr sz="1200" spc="95" dirty="0">
                <a:solidFill>
                  <a:srgbClr val="87897C"/>
                </a:solidFill>
                <a:latin typeface="Trebuchet MS"/>
                <a:cs typeface="Trebuchet MS"/>
              </a:rPr>
              <a:t>unos </a:t>
            </a:r>
            <a:r>
              <a:rPr sz="1200" spc="50" dirty="0">
                <a:solidFill>
                  <a:srgbClr val="87897C"/>
                </a:solidFill>
                <a:latin typeface="Trebuchet MS"/>
                <a:cs typeface="Trebuchet MS"/>
              </a:rPr>
              <a:t>textos </a:t>
            </a:r>
            <a:r>
              <a:rPr sz="1200" spc="90" dirty="0">
                <a:solidFill>
                  <a:srgbClr val="87897C"/>
                </a:solidFill>
                <a:latin typeface="Trebuchet MS"/>
                <a:cs typeface="Trebuchet MS"/>
              </a:rPr>
              <a:t>se </a:t>
            </a:r>
            <a:r>
              <a:rPr sz="1200" spc="55" dirty="0">
                <a:solidFill>
                  <a:srgbClr val="87897C"/>
                </a:solidFill>
                <a:latin typeface="Trebuchet MS"/>
                <a:cs typeface="Trebuchet MS"/>
              </a:rPr>
              <a:t>considera </a:t>
            </a:r>
            <a:r>
              <a:rPr sz="1200" spc="30" dirty="0">
                <a:solidFill>
                  <a:srgbClr val="87897C"/>
                </a:solidFill>
                <a:latin typeface="Trebuchet MS"/>
                <a:cs typeface="Trebuchet MS"/>
              </a:rPr>
              <a:t>la variable </a:t>
            </a:r>
            <a:r>
              <a:rPr sz="1200" i="1" spc="-65" dirty="0">
                <a:solidFill>
                  <a:srgbClr val="87897C"/>
                </a:solidFill>
                <a:latin typeface="Trebuchet MS"/>
                <a:cs typeface="Trebuchet MS"/>
              </a:rPr>
              <a:t>“nº </a:t>
            </a:r>
            <a:r>
              <a:rPr sz="1200" i="1" spc="55" dirty="0">
                <a:solidFill>
                  <a:srgbClr val="87897C"/>
                </a:solidFill>
                <a:latin typeface="Trebuchet MS"/>
                <a:cs typeface="Trebuchet MS"/>
              </a:rPr>
              <a:t>de </a:t>
            </a:r>
            <a:r>
              <a:rPr sz="1200" i="1" spc="65" dirty="0">
                <a:solidFill>
                  <a:srgbClr val="87897C"/>
                </a:solidFill>
                <a:latin typeface="Trebuchet MS"/>
                <a:cs typeface="Trebuchet MS"/>
              </a:rPr>
              <a:t>fracasos </a:t>
            </a:r>
            <a:r>
              <a:rPr sz="1200" i="1" spc="45" dirty="0">
                <a:solidFill>
                  <a:srgbClr val="87897C"/>
                </a:solidFill>
                <a:latin typeface="Trebuchet MS"/>
                <a:cs typeface="Trebuchet MS"/>
              </a:rPr>
              <a:t>obtenidos </a:t>
            </a:r>
            <a:r>
              <a:rPr sz="1200" i="1" spc="70" dirty="0">
                <a:solidFill>
                  <a:srgbClr val="87897C"/>
                </a:solidFill>
                <a:latin typeface="Trebuchet MS"/>
                <a:cs typeface="Trebuchet MS"/>
              </a:rPr>
              <a:t>hasta </a:t>
            </a:r>
            <a:r>
              <a:rPr sz="1200" i="1" spc="10" dirty="0">
                <a:solidFill>
                  <a:srgbClr val="87897C"/>
                </a:solidFill>
                <a:latin typeface="Trebuchet MS"/>
                <a:cs typeface="Trebuchet MS"/>
              </a:rPr>
              <a:t>el </a:t>
            </a:r>
            <a:r>
              <a:rPr sz="1200" i="1" spc="15" dirty="0">
                <a:solidFill>
                  <a:srgbClr val="87897C"/>
                </a:solidFill>
                <a:latin typeface="Trebuchet MS"/>
                <a:cs typeface="Trebuchet MS"/>
              </a:rPr>
              <a:t>primer </a:t>
            </a:r>
            <a:r>
              <a:rPr sz="1200" i="1" spc="-50" dirty="0">
                <a:solidFill>
                  <a:srgbClr val="87897C"/>
                </a:solidFill>
                <a:latin typeface="Trebuchet MS"/>
                <a:cs typeface="Trebuchet MS"/>
              </a:rPr>
              <a:t>éxito”</a:t>
            </a:r>
            <a:r>
              <a:rPr sz="1200" spc="-50" dirty="0">
                <a:solidFill>
                  <a:srgbClr val="87897C"/>
                </a:solidFill>
                <a:latin typeface="Trebuchet MS"/>
                <a:cs typeface="Trebuchet MS"/>
              </a:rPr>
              <a:t>. </a:t>
            </a:r>
            <a:r>
              <a:rPr sz="1200" spc="105" dirty="0">
                <a:solidFill>
                  <a:srgbClr val="87897C"/>
                </a:solidFill>
                <a:latin typeface="Trebuchet MS"/>
                <a:cs typeface="Trebuchet MS"/>
              </a:rPr>
              <a:t>En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este  </a:t>
            </a:r>
            <a:r>
              <a:rPr sz="1200" spc="85" dirty="0">
                <a:solidFill>
                  <a:srgbClr val="87897C"/>
                </a:solidFill>
                <a:latin typeface="Trebuchet MS"/>
                <a:cs typeface="Trebuchet MS"/>
              </a:rPr>
              <a:t>caso</a:t>
            </a:r>
            <a:r>
              <a:rPr sz="1200" spc="45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200" spc="25" dirty="0">
                <a:solidFill>
                  <a:srgbClr val="87897C"/>
                </a:solidFill>
                <a:latin typeface="Trebuchet MS"/>
                <a:cs typeface="Trebuchet MS"/>
              </a:rPr>
              <a:t>el</a:t>
            </a:r>
            <a:r>
              <a:rPr sz="1200" spc="-20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200" spc="35" dirty="0">
                <a:solidFill>
                  <a:srgbClr val="87897C"/>
                </a:solidFill>
                <a:latin typeface="Trebuchet MS"/>
                <a:cs typeface="Trebuchet MS"/>
              </a:rPr>
              <a:t>valor</a:t>
            </a:r>
            <a:r>
              <a:rPr sz="1200" spc="25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200" spc="110" dirty="0">
                <a:solidFill>
                  <a:srgbClr val="87897C"/>
                </a:solidFill>
                <a:latin typeface="Trebuchet MS"/>
                <a:cs typeface="Trebuchet MS"/>
              </a:rPr>
              <a:t>más</a:t>
            </a:r>
            <a:r>
              <a:rPr sz="1200" spc="45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200" spc="70" dirty="0">
                <a:solidFill>
                  <a:srgbClr val="87897C"/>
                </a:solidFill>
                <a:latin typeface="Trebuchet MS"/>
                <a:cs typeface="Trebuchet MS"/>
              </a:rPr>
              <a:t>pequeño</a:t>
            </a:r>
            <a:r>
              <a:rPr sz="1200" spc="50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200" spc="65" dirty="0">
                <a:solidFill>
                  <a:srgbClr val="87897C"/>
                </a:solidFill>
                <a:latin typeface="Trebuchet MS"/>
                <a:cs typeface="Trebuchet MS"/>
              </a:rPr>
              <a:t>que</a:t>
            </a:r>
            <a:r>
              <a:rPr sz="1200" spc="50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200" spc="65" dirty="0">
                <a:solidFill>
                  <a:srgbClr val="87897C"/>
                </a:solidFill>
                <a:latin typeface="Trebuchet MS"/>
                <a:cs typeface="Trebuchet MS"/>
              </a:rPr>
              <a:t>puede</a:t>
            </a:r>
            <a:r>
              <a:rPr sz="1200" spc="20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tomar</a:t>
            </a:r>
            <a:r>
              <a:rPr sz="1200" spc="25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200" spc="30" dirty="0">
                <a:solidFill>
                  <a:srgbClr val="87897C"/>
                </a:solidFill>
                <a:latin typeface="Trebuchet MS"/>
                <a:cs typeface="Trebuchet MS"/>
              </a:rPr>
              <a:t>la</a:t>
            </a:r>
            <a:r>
              <a:rPr sz="1200" spc="-5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200" spc="30" dirty="0">
                <a:solidFill>
                  <a:srgbClr val="87897C"/>
                </a:solidFill>
                <a:latin typeface="Trebuchet MS"/>
                <a:cs typeface="Trebuchet MS"/>
              </a:rPr>
              <a:t>variable</a:t>
            </a:r>
            <a:r>
              <a:rPr sz="1200" spc="50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200" spc="90" dirty="0">
                <a:solidFill>
                  <a:srgbClr val="87897C"/>
                </a:solidFill>
                <a:latin typeface="Trebuchet MS"/>
                <a:cs typeface="Trebuchet MS"/>
              </a:rPr>
              <a:t>es</a:t>
            </a:r>
            <a:r>
              <a:rPr sz="1200" spc="45" dirty="0">
                <a:solidFill>
                  <a:srgbClr val="87897C"/>
                </a:solidFill>
                <a:latin typeface="Trebuchet MS"/>
                <a:cs typeface="Trebuchet MS"/>
              </a:rPr>
              <a:t> cero</a:t>
            </a:r>
            <a:r>
              <a:rPr sz="1200" spc="20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200" spc="25" dirty="0">
                <a:solidFill>
                  <a:srgbClr val="87897C"/>
                </a:solidFill>
                <a:latin typeface="Trebuchet MS"/>
                <a:cs typeface="Trebuchet MS"/>
              </a:rPr>
              <a:t>y</a:t>
            </a:r>
            <a:r>
              <a:rPr sz="1200" spc="20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200" spc="30" dirty="0">
                <a:solidFill>
                  <a:srgbClr val="87897C"/>
                </a:solidFill>
                <a:latin typeface="Trebuchet MS"/>
                <a:cs typeface="Trebuchet MS"/>
              </a:rPr>
              <a:t>la</a:t>
            </a:r>
            <a:r>
              <a:rPr sz="1200" spc="-5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200" spc="55" dirty="0">
                <a:solidFill>
                  <a:srgbClr val="87897C"/>
                </a:solidFill>
                <a:latin typeface="Trebuchet MS"/>
                <a:cs typeface="Trebuchet MS"/>
              </a:rPr>
              <a:t>formulación</a:t>
            </a:r>
            <a:r>
              <a:rPr sz="1200" spc="50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cambia</a:t>
            </a:r>
            <a:r>
              <a:rPr sz="1200" spc="25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200" spc="85" dirty="0">
                <a:solidFill>
                  <a:srgbClr val="87897C"/>
                </a:solidFill>
                <a:latin typeface="Trebuchet MS"/>
                <a:cs typeface="Trebuchet MS"/>
              </a:rPr>
              <a:t>un</a:t>
            </a:r>
            <a:r>
              <a:rPr sz="1200" spc="45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200" spc="30" dirty="0">
                <a:solidFill>
                  <a:srgbClr val="87897C"/>
                </a:solidFill>
                <a:latin typeface="Trebuchet MS"/>
                <a:cs typeface="Trebuchet MS"/>
              </a:rPr>
              <a:t>poco.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3023" y="3025750"/>
            <a:ext cx="673163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100" dirty="0">
                <a:solidFill>
                  <a:srgbClr val="87897C"/>
                </a:solidFill>
                <a:latin typeface="Trebuchet MS"/>
                <a:cs typeface="Trebuchet MS"/>
              </a:rPr>
              <a:t>Los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parámetros </a:t>
            </a:r>
            <a:r>
              <a:rPr sz="1200" spc="25" dirty="0">
                <a:solidFill>
                  <a:srgbClr val="87897C"/>
                </a:solidFill>
                <a:latin typeface="Trebuchet MS"/>
                <a:cs typeface="Trebuchet MS"/>
              </a:rPr>
              <a:t>media, </a:t>
            </a:r>
            <a:r>
              <a:rPr sz="1200" spc="40" dirty="0">
                <a:solidFill>
                  <a:srgbClr val="87897C"/>
                </a:solidFill>
                <a:latin typeface="Trebuchet MS"/>
                <a:cs typeface="Trebuchet MS"/>
              </a:rPr>
              <a:t>varianza </a:t>
            </a:r>
            <a:r>
              <a:rPr sz="1200" spc="25" dirty="0">
                <a:solidFill>
                  <a:srgbClr val="87897C"/>
                </a:solidFill>
                <a:latin typeface="Trebuchet MS"/>
                <a:cs typeface="Trebuchet MS"/>
              </a:rPr>
              <a:t>y </a:t>
            </a:r>
            <a:r>
              <a:rPr sz="1200" spc="50" dirty="0">
                <a:solidFill>
                  <a:srgbClr val="87897C"/>
                </a:solidFill>
                <a:latin typeface="Trebuchet MS"/>
                <a:cs typeface="Trebuchet MS"/>
              </a:rPr>
              <a:t>desviación </a:t>
            </a:r>
            <a:r>
              <a:rPr sz="1200" spc="30" dirty="0">
                <a:solidFill>
                  <a:srgbClr val="87897C"/>
                </a:solidFill>
                <a:latin typeface="Trebuchet MS"/>
                <a:cs typeface="Trebuchet MS"/>
              </a:rPr>
              <a:t>típica </a:t>
            </a:r>
            <a:r>
              <a:rPr sz="1200" spc="60" dirty="0">
                <a:solidFill>
                  <a:srgbClr val="87897C"/>
                </a:solidFill>
                <a:latin typeface="Trebuchet MS"/>
                <a:cs typeface="Trebuchet MS"/>
              </a:rPr>
              <a:t>de </a:t>
            </a:r>
            <a:r>
              <a:rPr sz="1200" spc="65" dirty="0">
                <a:solidFill>
                  <a:srgbClr val="87897C"/>
                </a:solidFill>
                <a:latin typeface="Trebuchet MS"/>
                <a:cs typeface="Trebuchet MS"/>
              </a:rPr>
              <a:t>esta </a:t>
            </a:r>
            <a:r>
              <a:rPr sz="1200" spc="50" dirty="0">
                <a:solidFill>
                  <a:srgbClr val="87897C"/>
                </a:solidFill>
                <a:latin typeface="Trebuchet MS"/>
                <a:cs typeface="Trebuchet MS"/>
              </a:rPr>
              <a:t>distribución </a:t>
            </a:r>
            <a:r>
              <a:rPr sz="1200" spc="40" dirty="0">
                <a:solidFill>
                  <a:srgbClr val="87897C"/>
                </a:solidFill>
                <a:latin typeface="Trebuchet MS"/>
                <a:cs typeface="Trebuchet MS"/>
              </a:rPr>
              <a:t>vienen </a:t>
            </a:r>
            <a:r>
              <a:rPr sz="1200" spc="85" dirty="0">
                <a:solidFill>
                  <a:srgbClr val="87897C"/>
                </a:solidFill>
                <a:latin typeface="Trebuchet MS"/>
                <a:cs typeface="Trebuchet MS"/>
              </a:rPr>
              <a:t>dados</a:t>
            </a:r>
            <a:r>
              <a:rPr sz="1200" spc="-160" dirty="0">
                <a:solidFill>
                  <a:srgbClr val="87897C"/>
                </a:solidFill>
                <a:latin typeface="Trebuchet MS"/>
                <a:cs typeface="Trebuchet MS"/>
              </a:rPr>
              <a:t> </a:t>
            </a:r>
            <a:r>
              <a:rPr sz="1200" spc="20" dirty="0">
                <a:solidFill>
                  <a:srgbClr val="87897C"/>
                </a:solidFill>
                <a:latin typeface="Trebuchet MS"/>
                <a:cs typeface="Trebuchet MS"/>
              </a:rPr>
              <a:t>por: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905119" y="1930746"/>
            <a:ext cx="3333743" cy="7429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664594" y="3514092"/>
            <a:ext cx="3814767" cy="9473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914658" y="0"/>
            <a:ext cx="1238885" cy="2053589"/>
            <a:chOff x="7914658" y="0"/>
            <a:chExt cx="1238885" cy="2053589"/>
          </a:xfrm>
        </p:grpSpPr>
        <p:sp>
          <p:nvSpPr>
            <p:cNvPr id="3" name="object 3"/>
            <p:cNvSpPr/>
            <p:nvPr/>
          </p:nvSpPr>
          <p:spPr>
            <a:xfrm>
              <a:off x="7924183" y="0"/>
              <a:ext cx="1219835" cy="2034539"/>
            </a:xfrm>
            <a:custGeom>
              <a:avLst/>
              <a:gdLst/>
              <a:ahLst/>
              <a:cxnLst/>
              <a:rect l="l" t="t" r="r" b="b"/>
              <a:pathLst>
                <a:path w="1219834" h="2034539">
                  <a:moveTo>
                    <a:pt x="1036047" y="2033986"/>
                  </a:moveTo>
                  <a:lnTo>
                    <a:pt x="987261" y="2032858"/>
                  </a:lnTo>
                  <a:lnTo>
                    <a:pt x="939057" y="2029510"/>
                  </a:lnTo>
                  <a:lnTo>
                    <a:pt x="891485" y="2023990"/>
                  </a:lnTo>
                  <a:lnTo>
                    <a:pt x="844594" y="2016349"/>
                  </a:lnTo>
                  <a:lnTo>
                    <a:pt x="798434" y="2006635"/>
                  </a:lnTo>
                  <a:lnTo>
                    <a:pt x="753055" y="1994898"/>
                  </a:lnTo>
                  <a:lnTo>
                    <a:pt x="708507" y="1981189"/>
                  </a:lnTo>
                  <a:lnTo>
                    <a:pt x="664839" y="1965556"/>
                  </a:lnTo>
                  <a:lnTo>
                    <a:pt x="622100" y="1948050"/>
                  </a:lnTo>
                  <a:lnTo>
                    <a:pt x="580341" y="1928720"/>
                  </a:lnTo>
                  <a:lnTo>
                    <a:pt x="539611" y="1907616"/>
                  </a:lnTo>
                  <a:lnTo>
                    <a:pt x="499960" y="1884787"/>
                  </a:lnTo>
                  <a:lnTo>
                    <a:pt x="461437" y="1860283"/>
                  </a:lnTo>
                  <a:lnTo>
                    <a:pt x="424093" y="1834154"/>
                  </a:lnTo>
                  <a:lnTo>
                    <a:pt x="387977" y="1806449"/>
                  </a:lnTo>
                  <a:lnTo>
                    <a:pt x="353138" y="1777218"/>
                  </a:lnTo>
                  <a:lnTo>
                    <a:pt x="319626" y="1746511"/>
                  </a:lnTo>
                  <a:lnTo>
                    <a:pt x="287491" y="1714377"/>
                  </a:lnTo>
                  <a:lnTo>
                    <a:pt x="256783" y="1680867"/>
                  </a:lnTo>
                  <a:lnTo>
                    <a:pt x="227551" y="1646028"/>
                  </a:lnTo>
                  <a:lnTo>
                    <a:pt x="199845" y="1609913"/>
                  </a:lnTo>
                  <a:lnTo>
                    <a:pt x="173714" y="1572569"/>
                  </a:lnTo>
                  <a:lnTo>
                    <a:pt x="149209" y="1534046"/>
                  </a:lnTo>
                  <a:lnTo>
                    <a:pt x="126379" y="1494395"/>
                  </a:lnTo>
                  <a:lnTo>
                    <a:pt x="105273" y="1453665"/>
                  </a:lnTo>
                  <a:lnTo>
                    <a:pt x="85942" y="1411905"/>
                  </a:lnTo>
                  <a:lnTo>
                    <a:pt x="68434" y="1369166"/>
                  </a:lnTo>
                  <a:lnTo>
                    <a:pt x="52801" y="1325496"/>
                  </a:lnTo>
                  <a:lnTo>
                    <a:pt x="39090" y="1280946"/>
                  </a:lnTo>
                  <a:lnTo>
                    <a:pt x="27353" y="1235566"/>
                  </a:lnTo>
                  <a:lnTo>
                    <a:pt x="17638" y="1189404"/>
                  </a:lnTo>
                  <a:lnTo>
                    <a:pt x="9996" y="1142510"/>
                  </a:lnTo>
                  <a:lnTo>
                    <a:pt x="4475" y="1094935"/>
                  </a:lnTo>
                  <a:lnTo>
                    <a:pt x="1127" y="1046728"/>
                  </a:lnTo>
                  <a:lnTo>
                    <a:pt x="0" y="997938"/>
                  </a:lnTo>
                  <a:lnTo>
                    <a:pt x="1127" y="949194"/>
                  </a:lnTo>
                  <a:lnTo>
                    <a:pt x="4475" y="901029"/>
                  </a:lnTo>
                  <a:lnTo>
                    <a:pt x="9996" y="853494"/>
                  </a:lnTo>
                  <a:lnTo>
                    <a:pt x="17638" y="806639"/>
                  </a:lnTo>
                  <a:lnTo>
                    <a:pt x="27353" y="760512"/>
                  </a:lnTo>
                  <a:lnTo>
                    <a:pt x="39090" y="715164"/>
                  </a:lnTo>
                  <a:lnTo>
                    <a:pt x="52801" y="670644"/>
                  </a:lnTo>
                  <a:lnTo>
                    <a:pt x="68434" y="627003"/>
                  </a:lnTo>
                  <a:lnTo>
                    <a:pt x="85942" y="584289"/>
                  </a:lnTo>
                  <a:lnTo>
                    <a:pt x="105273" y="542553"/>
                  </a:lnTo>
                  <a:lnTo>
                    <a:pt x="126379" y="501845"/>
                  </a:lnTo>
                  <a:lnTo>
                    <a:pt x="149209" y="462213"/>
                  </a:lnTo>
                  <a:lnTo>
                    <a:pt x="173714" y="423709"/>
                  </a:lnTo>
                  <a:lnTo>
                    <a:pt x="199845" y="386381"/>
                  </a:lnTo>
                  <a:lnTo>
                    <a:pt x="227551" y="350279"/>
                  </a:lnTo>
                  <a:lnTo>
                    <a:pt x="256783" y="315454"/>
                  </a:lnTo>
                  <a:lnTo>
                    <a:pt x="287491" y="281955"/>
                  </a:lnTo>
                  <a:lnTo>
                    <a:pt x="319626" y="249831"/>
                  </a:lnTo>
                  <a:lnTo>
                    <a:pt x="353138" y="219133"/>
                  </a:lnTo>
                  <a:lnTo>
                    <a:pt x="387977" y="189909"/>
                  </a:lnTo>
                  <a:lnTo>
                    <a:pt x="424093" y="162211"/>
                  </a:lnTo>
                  <a:lnTo>
                    <a:pt x="461437" y="136087"/>
                  </a:lnTo>
                  <a:lnTo>
                    <a:pt x="499960" y="111587"/>
                  </a:lnTo>
                  <a:lnTo>
                    <a:pt x="539611" y="88762"/>
                  </a:lnTo>
                  <a:lnTo>
                    <a:pt x="580341" y="67660"/>
                  </a:lnTo>
                  <a:lnTo>
                    <a:pt x="622100" y="48332"/>
                  </a:lnTo>
                  <a:lnTo>
                    <a:pt x="664839" y="30828"/>
                  </a:lnTo>
                  <a:lnTo>
                    <a:pt x="708507" y="15196"/>
                  </a:lnTo>
                  <a:lnTo>
                    <a:pt x="753055" y="1487"/>
                  </a:lnTo>
                  <a:lnTo>
                    <a:pt x="1219797" y="0"/>
                  </a:lnTo>
                  <a:lnTo>
                    <a:pt x="1219797" y="2017581"/>
                  </a:lnTo>
                  <a:lnTo>
                    <a:pt x="1180498" y="2023990"/>
                  </a:lnTo>
                  <a:lnTo>
                    <a:pt x="1132961" y="2029510"/>
                  </a:lnTo>
                  <a:lnTo>
                    <a:pt x="1084794" y="2032858"/>
                  </a:lnTo>
                  <a:lnTo>
                    <a:pt x="1036047" y="2033986"/>
                  </a:lnTo>
                  <a:close/>
                </a:path>
              </a:pathLst>
            </a:custGeom>
            <a:solidFill>
              <a:srgbClr val="BCDA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24183" y="0"/>
              <a:ext cx="1219835" cy="2034539"/>
            </a:xfrm>
            <a:custGeom>
              <a:avLst/>
              <a:gdLst/>
              <a:ahLst/>
              <a:cxnLst/>
              <a:rect l="l" t="t" r="r" b="b"/>
              <a:pathLst>
                <a:path w="1219834" h="2034539">
                  <a:moveTo>
                    <a:pt x="758809" y="0"/>
                  </a:moveTo>
                  <a:lnTo>
                    <a:pt x="708507" y="15196"/>
                  </a:lnTo>
                  <a:lnTo>
                    <a:pt x="664839" y="30828"/>
                  </a:lnTo>
                  <a:lnTo>
                    <a:pt x="622100" y="48332"/>
                  </a:lnTo>
                  <a:lnTo>
                    <a:pt x="580341" y="67660"/>
                  </a:lnTo>
                  <a:lnTo>
                    <a:pt x="539611" y="88762"/>
                  </a:lnTo>
                  <a:lnTo>
                    <a:pt x="499960" y="111587"/>
                  </a:lnTo>
                  <a:lnTo>
                    <a:pt x="461437" y="136087"/>
                  </a:lnTo>
                  <a:lnTo>
                    <a:pt x="424093" y="162211"/>
                  </a:lnTo>
                  <a:lnTo>
                    <a:pt x="387977" y="189909"/>
                  </a:lnTo>
                  <a:lnTo>
                    <a:pt x="353138" y="219133"/>
                  </a:lnTo>
                  <a:lnTo>
                    <a:pt x="319626" y="249831"/>
                  </a:lnTo>
                  <a:lnTo>
                    <a:pt x="287491" y="281955"/>
                  </a:lnTo>
                  <a:lnTo>
                    <a:pt x="256783" y="315454"/>
                  </a:lnTo>
                  <a:lnTo>
                    <a:pt x="227551" y="350279"/>
                  </a:lnTo>
                  <a:lnTo>
                    <a:pt x="199845" y="386381"/>
                  </a:lnTo>
                  <a:lnTo>
                    <a:pt x="173714" y="423709"/>
                  </a:lnTo>
                  <a:lnTo>
                    <a:pt x="149209" y="462213"/>
                  </a:lnTo>
                  <a:lnTo>
                    <a:pt x="126379" y="501845"/>
                  </a:lnTo>
                  <a:lnTo>
                    <a:pt x="105273" y="542553"/>
                  </a:lnTo>
                  <a:lnTo>
                    <a:pt x="85942" y="584289"/>
                  </a:lnTo>
                  <a:lnTo>
                    <a:pt x="68434" y="627003"/>
                  </a:lnTo>
                  <a:lnTo>
                    <a:pt x="52801" y="670644"/>
                  </a:lnTo>
                  <a:lnTo>
                    <a:pt x="39090" y="715164"/>
                  </a:lnTo>
                  <a:lnTo>
                    <a:pt x="27353" y="760512"/>
                  </a:lnTo>
                  <a:lnTo>
                    <a:pt x="17638" y="806639"/>
                  </a:lnTo>
                  <a:lnTo>
                    <a:pt x="9996" y="853494"/>
                  </a:lnTo>
                  <a:lnTo>
                    <a:pt x="4475" y="901029"/>
                  </a:lnTo>
                  <a:lnTo>
                    <a:pt x="1127" y="949194"/>
                  </a:lnTo>
                  <a:lnTo>
                    <a:pt x="0" y="997938"/>
                  </a:lnTo>
                  <a:lnTo>
                    <a:pt x="1127" y="1046728"/>
                  </a:lnTo>
                  <a:lnTo>
                    <a:pt x="4475" y="1094935"/>
                  </a:lnTo>
                  <a:lnTo>
                    <a:pt x="9996" y="1142510"/>
                  </a:lnTo>
                  <a:lnTo>
                    <a:pt x="17638" y="1189404"/>
                  </a:lnTo>
                  <a:lnTo>
                    <a:pt x="27353" y="1235566"/>
                  </a:lnTo>
                  <a:lnTo>
                    <a:pt x="39090" y="1280946"/>
                  </a:lnTo>
                  <a:lnTo>
                    <a:pt x="52801" y="1325496"/>
                  </a:lnTo>
                  <a:lnTo>
                    <a:pt x="68434" y="1369166"/>
                  </a:lnTo>
                  <a:lnTo>
                    <a:pt x="85942" y="1411905"/>
                  </a:lnTo>
                  <a:lnTo>
                    <a:pt x="105273" y="1453665"/>
                  </a:lnTo>
                  <a:lnTo>
                    <a:pt x="126379" y="1494395"/>
                  </a:lnTo>
                  <a:lnTo>
                    <a:pt x="149209" y="1534046"/>
                  </a:lnTo>
                  <a:lnTo>
                    <a:pt x="173714" y="1572569"/>
                  </a:lnTo>
                  <a:lnTo>
                    <a:pt x="199845" y="1609912"/>
                  </a:lnTo>
                  <a:lnTo>
                    <a:pt x="227551" y="1646028"/>
                  </a:lnTo>
                  <a:lnTo>
                    <a:pt x="256783" y="1680867"/>
                  </a:lnTo>
                  <a:lnTo>
                    <a:pt x="287491" y="1714377"/>
                  </a:lnTo>
                  <a:lnTo>
                    <a:pt x="319626" y="1746511"/>
                  </a:lnTo>
                  <a:lnTo>
                    <a:pt x="353138" y="1777218"/>
                  </a:lnTo>
                  <a:lnTo>
                    <a:pt x="387977" y="1806449"/>
                  </a:lnTo>
                  <a:lnTo>
                    <a:pt x="424093" y="1834154"/>
                  </a:lnTo>
                  <a:lnTo>
                    <a:pt x="461437" y="1860283"/>
                  </a:lnTo>
                  <a:lnTo>
                    <a:pt x="499960" y="1884787"/>
                  </a:lnTo>
                  <a:lnTo>
                    <a:pt x="539611" y="1907616"/>
                  </a:lnTo>
                  <a:lnTo>
                    <a:pt x="580341" y="1928720"/>
                  </a:lnTo>
                  <a:lnTo>
                    <a:pt x="622100" y="1948050"/>
                  </a:lnTo>
                  <a:lnTo>
                    <a:pt x="664839" y="1965556"/>
                  </a:lnTo>
                  <a:lnTo>
                    <a:pt x="708507" y="1981189"/>
                  </a:lnTo>
                  <a:lnTo>
                    <a:pt x="753055" y="1994898"/>
                  </a:lnTo>
                  <a:lnTo>
                    <a:pt x="798434" y="2006635"/>
                  </a:lnTo>
                  <a:lnTo>
                    <a:pt x="844594" y="2016349"/>
                  </a:lnTo>
                  <a:lnTo>
                    <a:pt x="891485" y="2023990"/>
                  </a:lnTo>
                  <a:lnTo>
                    <a:pt x="939057" y="2029510"/>
                  </a:lnTo>
                  <a:lnTo>
                    <a:pt x="987261" y="2032858"/>
                  </a:lnTo>
                  <a:lnTo>
                    <a:pt x="1036047" y="2033986"/>
                  </a:lnTo>
                  <a:lnTo>
                    <a:pt x="1084794" y="2032858"/>
                  </a:lnTo>
                  <a:lnTo>
                    <a:pt x="1132961" y="2029510"/>
                  </a:lnTo>
                  <a:lnTo>
                    <a:pt x="1180498" y="2023990"/>
                  </a:lnTo>
                  <a:lnTo>
                    <a:pt x="1219797" y="2017581"/>
                  </a:lnTo>
                </a:path>
              </a:pathLst>
            </a:custGeom>
            <a:ln w="19049">
              <a:solidFill>
                <a:srgbClr val="2D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-9524" y="0"/>
            <a:ext cx="3555365" cy="1163320"/>
            <a:chOff x="-9524" y="0"/>
            <a:chExt cx="3555365" cy="1163320"/>
          </a:xfrm>
        </p:grpSpPr>
        <p:sp>
          <p:nvSpPr>
            <p:cNvPr id="6" name="object 6"/>
            <p:cNvSpPr/>
            <p:nvPr/>
          </p:nvSpPr>
          <p:spPr>
            <a:xfrm>
              <a:off x="0" y="0"/>
              <a:ext cx="3536315" cy="1144270"/>
            </a:xfrm>
            <a:custGeom>
              <a:avLst/>
              <a:gdLst/>
              <a:ahLst/>
              <a:cxnLst/>
              <a:rect l="l" t="t" r="r" b="b"/>
              <a:pathLst>
                <a:path w="3536315" h="1144270">
                  <a:moveTo>
                    <a:pt x="0" y="277822"/>
                  </a:moveTo>
                  <a:lnTo>
                    <a:pt x="0" y="0"/>
                  </a:lnTo>
                  <a:lnTo>
                    <a:pt x="3535724" y="0"/>
                  </a:lnTo>
                  <a:lnTo>
                    <a:pt x="3516515" y="167102"/>
                  </a:lnTo>
                  <a:lnTo>
                    <a:pt x="3455520" y="277544"/>
                  </a:lnTo>
                  <a:lnTo>
                    <a:pt x="43932" y="277544"/>
                  </a:lnTo>
                  <a:lnTo>
                    <a:pt x="0" y="277822"/>
                  </a:lnTo>
                  <a:close/>
                </a:path>
                <a:path w="3536315" h="1144270">
                  <a:moveTo>
                    <a:pt x="2207588" y="1144187"/>
                  </a:moveTo>
                  <a:lnTo>
                    <a:pt x="2165600" y="1143405"/>
                  </a:lnTo>
                  <a:lnTo>
                    <a:pt x="2123258" y="1141028"/>
                  </a:lnTo>
                  <a:lnTo>
                    <a:pt x="2080576" y="1137012"/>
                  </a:lnTo>
                  <a:lnTo>
                    <a:pt x="2037568" y="1131316"/>
                  </a:lnTo>
                  <a:lnTo>
                    <a:pt x="1994248" y="1123893"/>
                  </a:lnTo>
                  <a:lnTo>
                    <a:pt x="1950630" y="1114702"/>
                  </a:lnTo>
                  <a:lnTo>
                    <a:pt x="1906728" y="1103697"/>
                  </a:lnTo>
                  <a:lnTo>
                    <a:pt x="1862556" y="1090836"/>
                  </a:lnTo>
                  <a:lnTo>
                    <a:pt x="1818128" y="1076075"/>
                  </a:lnTo>
                  <a:lnTo>
                    <a:pt x="1773458" y="1059370"/>
                  </a:lnTo>
                  <a:lnTo>
                    <a:pt x="1728560" y="1040678"/>
                  </a:lnTo>
                  <a:lnTo>
                    <a:pt x="1683449" y="1019954"/>
                  </a:lnTo>
                  <a:lnTo>
                    <a:pt x="1638138" y="997155"/>
                  </a:lnTo>
                  <a:lnTo>
                    <a:pt x="1592641" y="972238"/>
                  </a:lnTo>
                  <a:lnTo>
                    <a:pt x="1546973" y="945158"/>
                  </a:lnTo>
                  <a:lnTo>
                    <a:pt x="1501146" y="915873"/>
                  </a:lnTo>
                  <a:lnTo>
                    <a:pt x="1455176" y="884337"/>
                  </a:lnTo>
                  <a:lnTo>
                    <a:pt x="1409077" y="850509"/>
                  </a:lnTo>
                  <a:lnTo>
                    <a:pt x="1306536" y="769879"/>
                  </a:lnTo>
                  <a:lnTo>
                    <a:pt x="1250788" y="727826"/>
                  </a:lnTo>
                  <a:lnTo>
                    <a:pt x="1195642" y="688121"/>
                  </a:lnTo>
                  <a:lnTo>
                    <a:pt x="1141119" y="650703"/>
                  </a:lnTo>
                  <a:lnTo>
                    <a:pt x="1087239" y="615510"/>
                  </a:lnTo>
                  <a:lnTo>
                    <a:pt x="1034026" y="582480"/>
                  </a:lnTo>
                  <a:lnTo>
                    <a:pt x="981501" y="551551"/>
                  </a:lnTo>
                  <a:lnTo>
                    <a:pt x="929685" y="522662"/>
                  </a:lnTo>
                  <a:lnTo>
                    <a:pt x="878601" y="495750"/>
                  </a:lnTo>
                  <a:lnTo>
                    <a:pt x="828269" y="470754"/>
                  </a:lnTo>
                  <a:lnTo>
                    <a:pt x="778712" y="447611"/>
                  </a:lnTo>
                  <a:lnTo>
                    <a:pt x="729952" y="426261"/>
                  </a:lnTo>
                  <a:lnTo>
                    <a:pt x="682010" y="406640"/>
                  </a:lnTo>
                  <a:lnTo>
                    <a:pt x="634907" y="388688"/>
                  </a:lnTo>
                  <a:lnTo>
                    <a:pt x="588666" y="372343"/>
                  </a:lnTo>
                  <a:lnTo>
                    <a:pt x="543309" y="357542"/>
                  </a:lnTo>
                  <a:lnTo>
                    <a:pt x="498857" y="344223"/>
                  </a:lnTo>
                  <a:lnTo>
                    <a:pt x="455331" y="332326"/>
                  </a:lnTo>
                  <a:lnTo>
                    <a:pt x="412754" y="321787"/>
                  </a:lnTo>
                  <a:lnTo>
                    <a:pt x="371147" y="312546"/>
                  </a:lnTo>
                  <a:lnTo>
                    <a:pt x="330532" y="304540"/>
                  </a:lnTo>
                  <a:lnTo>
                    <a:pt x="290931" y="297708"/>
                  </a:lnTo>
                  <a:lnTo>
                    <a:pt x="252366" y="291987"/>
                  </a:lnTo>
                  <a:lnTo>
                    <a:pt x="178427" y="283633"/>
                  </a:lnTo>
                  <a:lnTo>
                    <a:pt x="108892" y="278984"/>
                  </a:lnTo>
                  <a:lnTo>
                    <a:pt x="43932" y="277544"/>
                  </a:lnTo>
                  <a:lnTo>
                    <a:pt x="3455520" y="277544"/>
                  </a:lnTo>
                  <a:lnTo>
                    <a:pt x="3290893" y="575631"/>
                  </a:lnTo>
                  <a:lnTo>
                    <a:pt x="3262206" y="609676"/>
                  </a:lnTo>
                  <a:lnTo>
                    <a:pt x="3232262" y="643426"/>
                  </a:lnTo>
                  <a:lnTo>
                    <a:pt x="3201089" y="676796"/>
                  </a:lnTo>
                  <a:lnTo>
                    <a:pt x="3168713" y="709703"/>
                  </a:lnTo>
                  <a:lnTo>
                    <a:pt x="3135163" y="742059"/>
                  </a:lnTo>
                  <a:lnTo>
                    <a:pt x="3100466" y="773782"/>
                  </a:lnTo>
                  <a:lnTo>
                    <a:pt x="3064649" y="804785"/>
                  </a:lnTo>
                  <a:lnTo>
                    <a:pt x="3027738" y="834984"/>
                  </a:lnTo>
                  <a:lnTo>
                    <a:pt x="2989762" y="864293"/>
                  </a:lnTo>
                  <a:lnTo>
                    <a:pt x="2950748" y="892629"/>
                  </a:lnTo>
                  <a:lnTo>
                    <a:pt x="2910723" y="919905"/>
                  </a:lnTo>
                  <a:lnTo>
                    <a:pt x="2869714" y="946038"/>
                  </a:lnTo>
                  <a:lnTo>
                    <a:pt x="2827749" y="970941"/>
                  </a:lnTo>
                  <a:lnTo>
                    <a:pt x="2784855" y="994530"/>
                  </a:lnTo>
                  <a:lnTo>
                    <a:pt x="2741059" y="1016720"/>
                  </a:lnTo>
                  <a:lnTo>
                    <a:pt x="2696388" y="1037427"/>
                  </a:lnTo>
                  <a:lnTo>
                    <a:pt x="2650870" y="1056564"/>
                  </a:lnTo>
                  <a:lnTo>
                    <a:pt x="2604533" y="1074048"/>
                  </a:lnTo>
                  <a:lnTo>
                    <a:pt x="2557402" y="1089793"/>
                  </a:lnTo>
                  <a:lnTo>
                    <a:pt x="2509506" y="1103715"/>
                  </a:lnTo>
                  <a:lnTo>
                    <a:pt x="2460873" y="1115727"/>
                  </a:lnTo>
                  <a:lnTo>
                    <a:pt x="2411528" y="1125746"/>
                  </a:lnTo>
                  <a:lnTo>
                    <a:pt x="2361500" y="1133687"/>
                  </a:lnTo>
                  <a:lnTo>
                    <a:pt x="2310816" y="1139464"/>
                  </a:lnTo>
                  <a:lnTo>
                    <a:pt x="2259502" y="1142992"/>
                  </a:lnTo>
                  <a:lnTo>
                    <a:pt x="2207588" y="1144187"/>
                  </a:lnTo>
                  <a:close/>
                </a:path>
              </a:pathLst>
            </a:custGeom>
            <a:solidFill>
              <a:srgbClr val="87B3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0"/>
              <a:ext cx="3536315" cy="1144270"/>
            </a:xfrm>
            <a:custGeom>
              <a:avLst/>
              <a:gdLst/>
              <a:ahLst/>
              <a:cxnLst/>
              <a:rect l="l" t="t" r="r" b="b"/>
              <a:pathLst>
                <a:path w="3536315" h="1144270">
                  <a:moveTo>
                    <a:pt x="0" y="277822"/>
                  </a:moveTo>
                  <a:lnTo>
                    <a:pt x="43932" y="277544"/>
                  </a:lnTo>
                  <a:lnTo>
                    <a:pt x="108892" y="278984"/>
                  </a:lnTo>
                  <a:lnTo>
                    <a:pt x="178427" y="283633"/>
                  </a:lnTo>
                  <a:lnTo>
                    <a:pt x="252366" y="291987"/>
                  </a:lnTo>
                  <a:lnTo>
                    <a:pt x="290931" y="297708"/>
                  </a:lnTo>
                  <a:lnTo>
                    <a:pt x="330532" y="304540"/>
                  </a:lnTo>
                  <a:lnTo>
                    <a:pt x="371147" y="312546"/>
                  </a:lnTo>
                  <a:lnTo>
                    <a:pt x="412754" y="321787"/>
                  </a:lnTo>
                  <a:lnTo>
                    <a:pt x="455331" y="332326"/>
                  </a:lnTo>
                  <a:lnTo>
                    <a:pt x="498857" y="344223"/>
                  </a:lnTo>
                  <a:lnTo>
                    <a:pt x="543309" y="357542"/>
                  </a:lnTo>
                  <a:lnTo>
                    <a:pt x="588666" y="372343"/>
                  </a:lnTo>
                  <a:lnTo>
                    <a:pt x="634907" y="388688"/>
                  </a:lnTo>
                  <a:lnTo>
                    <a:pt x="682009" y="406640"/>
                  </a:lnTo>
                  <a:lnTo>
                    <a:pt x="729952" y="426261"/>
                  </a:lnTo>
                  <a:lnTo>
                    <a:pt x="778712" y="447611"/>
                  </a:lnTo>
                  <a:lnTo>
                    <a:pt x="828269" y="470754"/>
                  </a:lnTo>
                  <a:lnTo>
                    <a:pt x="878601" y="495750"/>
                  </a:lnTo>
                  <a:lnTo>
                    <a:pt x="929685" y="522662"/>
                  </a:lnTo>
                  <a:lnTo>
                    <a:pt x="981501" y="551551"/>
                  </a:lnTo>
                  <a:lnTo>
                    <a:pt x="1034026" y="582480"/>
                  </a:lnTo>
                  <a:lnTo>
                    <a:pt x="1087239" y="615510"/>
                  </a:lnTo>
                  <a:lnTo>
                    <a:pt x="1141119" y="650703"/>
                  </a:lnTo>
                  <a:lnTo>
                    <a:pt x="1195642" y="688121"/>
                  </a:lnTo>
                  <a:lnTo>
                    <a:pt x="1250788" y="727826"/>
                  </a:lnTo>
                  <a:lnTo>
                    <a:pt x="1306536" y="769879"/>
                  </a:lnTo>
                  <a:lnTo>
                    <a:pt x="1362862" y="814343"/>
                  </a:lnTo>
                  <a:lnTo>
                    <a:pt x="1409077" y="850509"/>
                  </a:lnTo>
                  <a:lnTo>
                    <a:pt x="1455176" y="884337"/>
                  </a:lnTo>
                  <a:lnTo>
                    <a:pt x="1501146" y="915873"/>
                  </a:lnTo>
                  <a:lnTo>
                    <a:pt x="1546972" y="945158"/>
                  </a:lnTo>
                  <a:lnTo>
                    <a:pt x="1592641" y="972238"/>
                  </a:lnTo>
                  <a:lnTo>
                    <a:pt x="1638138" y="997155"/>
                  </a:lnTo>
                  <a:lnTo>
                    <a:pt x="1683449" y="1019954"/>
                  </a:lnTo>
                  <a:lnTo>
                    <a:pt x="1728560" y="1040678"/>
                  </a:lnTo>
                  <a:lnTo>
                    <a:pt x="1773458" y="1059370"/>
                  </a:lnTo>
                  <a:lnTo>
                    <a:pt x="1818128" y="1076075"/>
                  </a:lnTo>
                  <a:lnTo>
                    <a:pt x="1862555" y="1090836"/>
                  </a:lnTo>
                  <a:lnTo>
                    <a:pt x="1906727" y="1103697"/>
                  </a:lnTo>
                  <a:lnTo>
                    <a:pt x="1950629" y="1114702"/>
                  </a:lnTo>
                  <a:lnTo>
                    <a:pt x="1994248" y="1123893"/>
                  </a:lnTo>
                  <a:lnTo>
                    <a:pt x="2037568" y="1131315"/>
                  </a:lnTo>
                  <a:lnTo>
                    <a:pt x="2080576" y="1137012"/>
                  </a:lnTo>
                  <a:lnTo>
                    <a:pt x="2123258" y="1141028"/>
                  </a:lnTo>
                  <a:lnTo>
                    <a:pt x="2165600" y="1143405"/>
                  </a:lnTo>
                  <a:lnTo>
                    <a:pt x="2207588" y="1144187"/>
                  </a:lnTo>
                  <a:lnTo>
                    <a:pt x="2259502" y="1142992"/>
                  </a:lnTo>
                  <a:lnTo>
                    <a:pt x="2310816" y="1139464"/>
                  </a:lnTo>
                  <a:lnTo>
                    <a:pt x="2361500" y="1133687"/>
                  </a:lnTo>
                  <a:lnTo>
                    <a:pt x="2411528" y="1125746"/>
                  </a:lnTo>
                  <a:lnTo>
                    <a:pt x="2460873" y="1115727"/>
                  </a:lnTo>
                  <a:lnTo>
                    <a:pt x="2509506" y="1103715"/>
                  </a:lnTo>
                  <a:lnTo>
                    <a:pt x="2557402" y="1089793"/>
                  </a:lnTo>
                  <a:lnTo>
                    <a:pt x="2604533" y="1074048"/>
                  </a:lnTo>
                  <a:lnTo>
                    <a:pt x="2650870" y="1056564"/>
                  </a:lnTo>
                  <a:lnTo>
                    <a:pt x="2696388" y="1037427"/>
                  </a:lnTo>
                  <a:lnTo>
                    <a:pt x="2741059" y="1016720"/>
                  </a:lnTo>
                  <a:lnTo>
                    <a:pt x="2784855" y="994530"/>
                  </a:lnTo>
                  <a:lnTo>
                    <a:pt x="2827749" y="970941"/>
                  </a:lnTo>
                  <a:lnTo>
                    <a:pt x="2869714" y="946038"/>
                  </a:lnTo>
                  <a:lnTo>
                    <a:pt x="2910723" y="919905"/>
                  </a:lnTo>
                  <a:lnTo>
                    <a:pt x="2950748" y="892629"/>
                  </a:lnTo>
                  <a:lnTo>
                    <a:pt x="2989762" y="864293"/>
                  </a:lnTo>
                  <a:lnTo>
                    <a:pt x="3027738" y="834984"/>
                  </a:lnTo>
                  <a:lnTo>
                    <a:pt x="3064648" y="804785"/>
                  </a:lnTo>
                  <a:lnTo>
                    <a:pt x="3100466" y="773782"/>
                  </a:lnTo>
                  <a:lnTo>
                    <a:pt x="3135163" y="742059"/>
                  </a:lnTo>
                  <a:lnTo>
                    <a:pt x="3168713" y="709702"/>
                  </a:lnTo>
                  <a:lnTo>
                    <a:pt x="3201088" y="676796"/>
                  </a:lnTo>
                  <a:lnTo>
                    <a:pt x="3232262" y="643426"/>
                  </a:lnTo>
                  <a:lnTo>
                    <a:pt x="3262206" y="609676"/>
                  </a:lnTo>
                  <a:lnTo>
                    <a:pt x="3290893" y="575631"/>
                  </a:lnTo>
                  <a:lnTo>
                    <a:pt x="3516515" y="167102"/>
                  </a:lnTo>
                  <a:lnTo>
                    <a:pt x="3535724" y="0"/>
                  </a:lnTo>
                </a:path>
              </a:pathLst>
            </a:custGeom>
            <a:ln w="19049">
              <a:solidFill>
                <a:srgbClr val="2D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0" y="3295668"/>
            <a:ext cx="1484372" cy="184782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6743361" y="1859051"/>
            <a:ext cx="2410460" cy="3294379"/>
            <a:chOff x="6743361" y="1859051"/>
            <a:chExt cx="2410460" cy="3294379"/>
          </a:xfrm>
        </p:grpSpPr>
        <p:sp>
          <p:nvSpPr>
            <p:cNvPr id="10" name="object 10"/>
            <p:cNvSpPr/>
            <p:nvPr/>
          </p:nvSpPr>
          <p:spPr>
            <a:xfrm>
              <a:off x="6752886" y="1868576"/>
              <a:ext cx="2391410" cy="3275329"/>
            </a:xfrm>
            <a:custGeom>
              <a:avLst/>
              <a:gdLst/>
              <a:ahLst/>
              <a:cxnLst/>
              <a:rect l="l" t="t" r="r" b="b"/>
              <a:pathLst>
                <a:path w="2391409" h="3275329">
                  <a:moveTo>
                    <a:pt x="2391094" y="3274913"/>
                  </a:moveTo>
                  <a:lnTo>
                    <a:pt x="26830" y="3274913"/>
                  </a:lnTo>
                  <a:lnTo>
                    <a:pt x="21687" y="3254110"/>
                  </a:lnTo>
                  <a:lnTo>
                    <a:pt x="6777" y="3159096"/>
                  </a:lnTo>
                  <a:lnTo>
                    <a:pt x="0" y="3033863"/>
                  </a:lnTo>
                  <a:lnTo>
                    <a:pt x="529" y="2998371"/>
                  </a:lnTo>
                  <a:lnTo>
                    <a:pt x="5146" y="2922849"/>
                  </a:lnTo>
                  <a:lnTo>
                    <a:pt x="9487" y="2882959"/>
                  </a:lnTo>
                  <a:lnTo>
                    <a:pt x="15352" y="2841744"/>
                  </a:lnTo>
                  <a:lnTo>
                    <a:pt x="22868" y="2799274"/>
                  </a:lnTo>
                  <a:lnTo>
                    <a:pt x="32162" y="2755619"/>
                  </a:lnTo>
                  <a:lnTo>
                    <a:pt x="43361" y="2710850"/>
                  </a:lnTo>
                  <a:lnTo>
                    <a:pt x="56592" y="2665035"/>
                  </a:lnTo>
                  <a:lnTo>
                    <a:pt x="71981" y="2618246"/>
                  </a:lnTo>
                  <a:lnTo>
                    <a:pt x="89656" y="2570553"/>
                  </a:lnTo>
                  <a:lnTo>
                    <a:pt x="109742" y="2522025"/>
                  </a:lnTo>
                  <a:lnTo>
                    <a:pt x="132368" y="2472733"/>
                  </a:lnTo>
                  <a:lnTo>
                    <a:pt x="157660" y="2422747"/>
                  </a:lnTo>
                  <a:lnTo>
                    <a:pt x="185745" y="2372138"/>
                  </a:lnTo>
                  <a:lnTo>
                    <a:pt x="216749" y="2320975"/>
                  </a:lnTo>
                  <a:lnTo>
                    <a:pt x="250800" y="2269328"/>
                  </a:lnTo>
                  <a:lnTo>
                    <a:pt x="288024" y="2217268"/>
                  </a:lnTo>
                  <a:lnTo>
                    <a:pt x="328549" y="2164865"/>
                  </a:lnTo>
                  <a:lnTo>
                    <a:pt x="365597" y="2119823"/>
                  </a:lnTo>
                  <a:lnTo>
                    <a:pt x="402427" y="2077142"/>
                  </a:lnTo>
                  <a:lnTo>
                    <a:pt x="439055" y="2036710"/>
                  </a:lnTo>
                  <a:lnTo>
                    <a:pt x="475496" y="1998415"/>
                  </a:lnTo>
                  <a:lnTo>
                    <a:pt x="511767" y="1962144"/>
                  </a:lnTo>
                  <a:lnTo>
                    <a:pt x="547884" y="1927786"/>
                  </a:lnTo>
                  <a:lnTo>
                    <a:pt x="583863" y="1895228"/>
                  </a:lnTo>
                  <a:lnTo>
                    <a:pt x="619719" y="1864357"/>
                  </a:lnTo>
                  <a:lnTo>
                    <a:pt x="655469" y="1835062"/>
                  </a:lnTo>
                  <a:lnTo>
                    <a:pt x="691128" y="1807229"/>
                  </a:lnTo>
                  <a:lnTo>
                    <a:pt x="726713" y="1780748"/>
                  </a:lnTo>
                  <a:lnTo>
                    <a:pt x="762239" y="1755505"/>
                  </a:lnTo>
                  <a:lnTo>
                    <a:pt x="797723" y="1731388"/>
                  </a:lnTo>
                  <a:lnTo>
                    <a:pt x="833180" y="1708286"/>
                  </a:lnTo>
                  <a:lnTo>
                    <a:pt x="868627" y="1686084"/>
                  </a:lnTo>
                  <a:lnTo>
                    <a:pt x="904078" y="1664672"/>
                  </a:lnTo>
                  <a:lnTo>
                    <a:pt x="939552" y="1643938"/>
                  </a:lnTo>
                  <a:lnTo>
                    <a:pt x="975062" y="1623768"/>
                  </a:lnTo>
                  <a:lnTo>
                    <a:pt x="1010625" y="1604050"/>
                  </a:lnTo>
                  <a:lnTo>
                    <a:pt x="1046258" y="1584672"/>
                  </a:lnTo>
                  <a:lnTo>
                    <a:pt x="1226016" y="1488957"/>
                  </a:lnTo>
                  <a:lnTo>
                    <a:pt x="1298962" y="1449121"/>
                  </a:lnTo>
                  <a:lnTo>
                    <a:pt x="1335723" y="1428422"/>
                  </a:lnTo>
                  <a:lnTo>
                    <a:pt x="1372696" y="1407053"/>
                  </a:lnTo>
                  <a:lnTo>
                    <a:pt x="1409898" y="1384901"/>
                  </a:lnTo>
                  <a:lnTo>
                    <a:pt x="1447344" y="1361853"/>
                  </a:lnTo>
                  <a:lnTo>
                    <a:pt x="1485051" y="1337799"/>
                  </a:lnTo>
                  <a:lnTo>
                    <a:pt x="1523035" y="1312624"/>
                  </a:lnTo>
                  <a:lnTo>
                    <a:pt x="1561312" y="1286218"/>
                  </a:lnTo>
                  <a:lnTo>
                    <a:pt x="1599896" y="1258468"/>
                  </a:lnTo>
                  <a:lnTo>
                    <a:pt x="1638806" y="1229261"/>
                  </a:lnTo>
                  <a:lnTo>
                    <a:pt x="1678056" y="1198485"/>
                  </a:lnTo>
                  <a:lnTo>
                    <a:pt x="1717662" y="1166028"/>
                  </a:lnTo>
                  <a:lnTo>
                    <a:pt x="1757641" y="1131777"/>
                  </a:lnTo>
                  <a:lnTo>
                    <a:pt x="1798008" y="1095621"/>
                  </a:lnTo>
                  <a:lnTo>
                    <a:pt x="1838779" y="1057447"/>
                  </a:lnTo>
                  <a:lnTo>
                    <a:pt x="1879971" y="1017142"/>
                  </a:lnTo>
                  <a:lnTo>
                    <a:pt x="1932555" y="962860"/>
                  </a:lnTo>
                  <a:lnTo>
                    <a:pt x="1980848" y="909473"/>
                  </a:lnTo>
                  <a:lnTo>
                    <a:pt x="2025021" y="857038"/>
                  </a:lnTo>
                  <a:lnTo>
                    <a:pt x="2065248" y="805610"/>
                  </a:lnTo>
                  <a:lnTo>
                    <a:pt x="2101701" y="755245"/>
                  </a:lnTo>
                  <a:lnTo>
                    <a:pt x="2134552" y="705999"/>
                  </a:lnTo>
                  <a:lnTo>
                    <a:pt x="2163974" y="657926"/>
                  </a:lnTo>
                  <a:lnTo>
                    <a:pt x="2190139" y="611083"/>
                  </a:lnTo>
                  <a:lnTo>
                    <a:pt x="2213220" y="565525"/>
                  </a:lnTo>
                  <a:lnTo>
                    <a:pt x="2233389" y="521308"/>
                  </a:lnTo>
                  <a:lnTo>
                    <a:pt x="2250818" y="478486"/>
                  </a:lnTo>
                  <a:lnTo>
                    <a:pt x="2265681" y="437116"/>
                  </a:lnTo>
                  <a:lnTo>
                    <a:pt x="2278149" y="397254"/>
                  </a:lnTo>
                  <a:lnTo>
                    <a:pt x="2288396" y="358954"/>
                  </a:lnTo>
                  <a:lnTo>
                    <a:pt x="2302912" y="287266"/>
                  </a:lnTo>
                  <a:lnTo>
                    <a:pt x="2310610" y="222495"/>
                  </a:lnTo>
                  <a:lnTo>
                    <a:pt x="2312870" y="165087"/>
                  </a:lnTo>
                  <a:lnTo>
                    <a:pt x="2312504" y="103419"/>
                  </a:lnTo>
                  <a:lnTo>
                    <a:pt x="2309945" y="65667"/>
                  </a:lnTo>
                  <a:lnTo>
                    <a:pt x="2302998" y="36353"/>
                  </a:lnTo>
                  <a:lnTo>
                    <a:pt x="2289470" y="0"/>
                  </a:lnTo>
                  <a:lnTo>
                    <a:pt x="2391094" y="0"/>
                  </a:lnTo>
                  <a:lnTo>
                    <a:pt x="2391094" y="3274913"/>
                  </a:lnTo>
                  <a:close/>
                </a:path>
              </a:pathLst>
            </a:custGeom>
            <a:solidFill>
              <a:srgbClr val="8789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752886" y="1868576"/>
              <a:ext cx="2391410" cy="3275329"/>
            </a:xfrm>
            <a:custGeom>
              <a:avLst/>
              <a:gdLst/>
              <a:ahLst/>
              <a:cxnLst/>
              <a:rect l="l" t="t" r="r" b="b"/>
              <a:pathLst>
                <a:path w="2391409" h="3275329">
                  <a:moveTo>
                    <a:pt x="0" y="3033863"/>
                  </a:moveTo>
                  <a:lnTo>
                    <a:pt x="6777" y="3159096"/>
                  </a:lnTo>
                  <a:lnTo>
                    <a:pt x="21687" y="3254110"/>
                  </a:lnTo>
                  <a:lnTo>
                    <a:pt x="26830" y="3274913"/>
                  </a:lnTo>
                </a:path>
                <a:path w="2391409" h="3275329">
                  <a:moveTo>
                    <a:pt x="2391094" y="0"/>
                  </a:moveTo>
                  <a:lnTo>
                    <a:pt x="2289470" y="0"/>
                  </a:lnTo>
                  <a:lnTo>
                    <a:pt x="2302998" y="36353"/>
                  </a:lnTo>
                  <a:lnTo>
                    <a:pt x="2309945" y="65667"/>
                  </a:lnTo>
                  <a:lnTo>
                    <a:pt x="2312504" y="103419"/>
                  </a:lnTo>
                  <a:lnTo>
                    <a:pt x="2312870" y="165087"/>
                  </a:lnTo>
                  <a:lnTo>
                    <a:pt x="2312334" y="192843"/>
                  </a:lnTo>
                  <a:lnTo>
                    <a:pt x="2307527" y="253988"/>
                  </a:lnTo>
                  <a:lnTo>
                    <a:pt x="2296593" y="322273"/>
                  </a:lnTo>
                  <a:lnTo>
                    <a:pt x="2278149" y="397254"/>
                  </a:lnTo>
                  <a:lnTo>
                    <a:pt x="2265681" y="437116"/>
                  </a:lnTo>
                  <a:lnTo>
                    <a:pt x="2250818" y="478486"/>
                  </a:lnTo>
                  <a:lnTo>
                    <a:pt x="2233389" y="521308"/>
                  </a:lnTo>
                  <a:lnTo>
                    <a:pt x="2213220" y="565525"/>
                  </a:lnTo>
                  <a:lnTo>
                    <a:pt x="2190139" y="611083"/>
                  </a:lnTo>
                  <a:lnTo>
                    <a:pt x="2163974" y="657926"/>
                  </a:lnTo>
                  <a:lnTo>
                    <a:pt x="2134552" y="705999"/>
                  </a:lnTo>
                  <a:lnTo>
                    <a:pt x="2101701" y="755245"/>
                  </a:lnTo>
                  <a:lnTo>
                    <a:pt x="2065248" y="805610"/>
                  </a:lnTo>
                  <a:lnTo>
                    <a:pt x="2025021" y="857038"/>
                  </a:lnTo>
                  <a:lnTo>
                    <a:pt x="1980847" y="909473"/>
                  </a:lnTo>
                  <a:lnTo>
                    <a:pt x="1932555" y="962860"/>
                  </a:lnTo>
                  <a:lnTo>
                    <a:pt x="1879971" y="1017142"/>
                  </a:lnTo>
                  <a:lnTo>
                    <a:pt x="1838779" y="1057447"/>
                  </a:lnTo>
                  <a:lnTo>
                    <a:pt x="1798008" y="1095621"/>
                  </a:lnTo>
                  <a:lnTo>
                    <a:pt x="1757641" y="1131777"/>
                  </a:lnTo>
                  <a:lnTo>
                    <a:pt x="1717662" y="1166028"/>
                  </a:lnTo>
                  <a:lnTo>
                    <a:pt x="1678056" y="1198485"/>
                  </a:lnTo>
                  <a:lnTo>
                    <a:pt x="1638806" y="1229261"/>
                  </a:lnTo>
                  <a:lnTo>
                    <a:pt x="1599896" y="1258468"/>
                  </a:lnTo>
                  <a:lnTo>
                    <a:pt x="1561311" y="1286218"/>
                  </a:lnTo>
                  <a:lnTo>
                    <a:pt x="1523035" y="1312624"/>
                  </a:lnTo>
                  <a:lnTo>
                    <a:pt x="1485051" y="1337799"/>
                  </a:lnTo>
                  <a:lnTo>
                    <a:pt x="1447344" y="1361853"/>
                  </a:lnTo>
                  <a:lnTo>
                    <a:pt x="1409898" y="1384901"/>
                  </a:lnTo>
                  <a:lnTo>
                    <a:pt x="1372696" y="1407053"/>
                  </a:lnTo>
                  <a:lnTo>
                    <a:pt x="1335723" y="1428422"/>
                  </a:lnTo>
                  <a:lnTo>
                    <a:pt x="1298962" y="1449121"/>
                  </a:lnTo>
                  <a:lnTo>
                    <a:pt x="1262399" y="1469262"/>
                  </a:lnTo>
                  <a:lnTo>
                    <a:pt x="1226016" y="1488957"/>
                  </a:lnTo>
                  <a:lnTo>
                    <a:pt x="1189799" y="1508318"/>
                  </a:lnTo>
                  <a:lnTo>
                    <a:pt x="1153730" y="1527458"/>
                  </a:lnTo>
                  <a:lnTo>
                    <a:pt x="1117794" y="1546488"/>
                  </a:lnTo>
                  <a:lnTo>
                    <a:pt x="1081975" y="1565523"/>
                  </a:lnTo>
                  <a:lnTo>
                    <a:pt x="1046258" y="1584672"/>
                  </a:lnTo>
                  <a:lnTo>
                    <a:pt x="1010625" y="1604050"/>
                  </a:lnTo>
                  <a:lnTo>
                    <a:pt x="975062" y="1623767"/>
                  </a:lnTo>
                  <a:lnTo>
                    <a:pt x="939551" y="1643938"/>
                  </a:lnTo>
                  <a:lnTo>
                    <a:pt x="904078" y="1664672"/>
                  </a:lnTo>
                  <a:lnTo>
                    <a:pt x="868627" y="1686084"/>
                  </a:lnTo>
                  <a:lnTo>
                    <a:pt x="833180" y="1708286"/>
                  </a:lnTo>
                  <a:lnTo>
                    <a:pt x="797723" y="1731388"/>
                  </a:lnTo>
                  <a:lnTo>
                    <a:pt x="762239" y="1755505"/>
                  </a:lnTo>
                  <a:lnTo>
                    <a:pt x="726713" y="1780748"/>
                  </a:lnTo>
                  <a:lnTo>
                    <a:pt x="691128" y="1807229"/>
                  </a:lnTo>
                  <a:lnTo>
                    <a:pt x="655469" y="1835062"/>
                  </a:lnTo>
                  <a:lnTo>
                    <a:pt x="619719" y="1864357"/>
                  </a:lnTo>
                  <a:lnTo>
                    <a:pt x="583863" y="1895227"/>
                  </a:lnTo>
                  <a:lnTo>
                    <a:pt x="547884" y="1927786"/>
                  </a:lnTo>
                  <a:lnTo>
                    <a:pt x="511767" y="1962144"/>
                  </a:lnTo>
                  <a:lnTo>
                    <a:pt x="475496" y="1998415"/>
                  </a:lnTo>
                  <a:lnTo>
                    <a:pt x="439054" y="2036710"/>
                  </a:lnTo>
                  <a:lnTo>
                    <a:pt x="402427" y="2077142"/>
                  </a:lnTo>
                  <a:lnTo>
                    <a:pt x="365597" y="2119823"/>
                  </a:lnTo>
                  <a:lnTo>
                    <a:pt x="328549" y="2164865"/>
                  </a:lnTo>
                  <a:lnTo>
                    <a:pt x="288024" y="2217268"/>
                  </a:lnTo>
                  <a:lnTo>
                    <a:pt x="250800" y="2269328"/>
                  </a:lnTo>
                  <a:lnTo>
                    <a:pt x="216749" y="2320975"/>
                  </a:lnTo>
                  <a:lnTo>
                    <a:pt x="185745" y="2372138"/>
                  </a:lnTo>
                  <a:lnTo>
                    <a:pt x="157660" y="2422747"/>
                  </a:lnTo>
                  <a:lnTo>
                    <a:pt x="132368" y="2472733"/>
                  </a:lnTo>
                  <a:lnTo>
                    <a:pt x="109742" y="2522025"/>
                  </a:lnTo>
                  <a:lnTo>
                    <a:pt x="89656" y="2570552"/>
                  </a:lnTo>
                  <a:lnTo>
                    <a:pt x="71981" y="2618246"/>
                  </a:lnTo>
                  <a:lnTo>
                    <a:pt x="56592" y="2665035"/>
                  </a:lnTo>
                  <a:lnTo>
                    <a:pt x="43361" y="2710850"/>
                  </a:lnTo>
                  <a:lnTo>
                    <a:pt x="32162" y="2755619"/>
                  </a:lnTo>
                  <a:lnTo>
                    <a:pt x="22868" y="2799274"/>
                  </a:lnTo>
                  <a:lnTo>
                    <a:pt x="15352" y="2841744"/>
                  </a:lnTo>
                  <a:lnTo>
                    <a:pt x="9487" y="2882959"/>
                  </a:lnTo>
                  <a:lnTo>
                    <a:pt x="5146" y="2922849"/>
                  </a:lnTo>
                  <a:lnTo>
                    <a:pt x="2202" y="2961343"/>
                  </a:lnTo>
                  <a:lnTo>
                    <a:pt x="529" y="2998371"/>
                  </a:lnTo>
                  <a:lnTo>
                    <a:pt x="0" y="3033863"/>
                  </a:lnTo>
                </a:path>
              </a:pathLst>
            </a:custGeom>
            <a:ln w="19049">
              <a:solidFill>
                <a:srgbClr val="2D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1474844" y="1638744"/>
            <a:ext cx="665480" cy="665480"/>
            <a:chOff x="1474844" y="1638744"/>
            <a:chExt cx="665480" cy="665480"/>
          </a:xfrm>
        </p:grpSpPr>
        <p:sp>
          <p:nvSpPr>
            <p:cNvPr id="13" name="object 13"/>
            <p:cNvSpPr/>
            <p:nvPr/>
          </p:nvSpPr>
          <p:spPr>
            <a:xfrm>
              <a:off x="1484369" y="1648269"/>
              <a:ext cx="646430" cy="646430"/>
            </a:xfrm>
            <a:custGeom>
              <a:avLst/>
              <a:gdLst/>
              <a:ahLst/>
              <a:cxnLst/>
              <a:rect l="l" t="t" r="r" b="b"/>
              <a:pathLst>
                <a:path w="646430" h="646430">
                  <a:moveTo>
                    <a:pt x="323009" y="645861"/>
                  </a:moveTo>
                  <a:lnTo>
                    <a:pt x="275264" y="642360"/>
                  </a:lnTo>
                  <a:lnTo>
                    <a:pt x="229698" y="632191"/>
                  </a:lnTo>
                  <a:lnTo>
                    <a:pt x="186811" y="615851"/>
                  </a:lnTo>
                  <a:lnTo>
                    <a:pt x="147101" y="593840"/>
                  </a:lnTo>
                  <a:lnTo>
                    <a:pt x="111067" y="566656"/>
                  </a:lnTo>
                  <a:lnTo>
                    <a:pt x="79208" y="534798"/>
                  </a:lnTo>
                  <a:lnTo>
                    <a:pt x="52023" y="498765"/>
                  </a:lnTo>
                  <a:lnTo>
                    <a:pt x="30011" y="459055"/>
                  </a:lnTo>
                  <a:lnTo>
                    <a:pt x="13671" y="416167"/>
                  </a:lnTo>
                  <a:lnTo>
                    <a:pt x="3500" y="370599"/>
                  </a:lnTo>
                  <a:lnTo>
                    <a:pt x="0" y="322851"/>
                  </a:lnTo>
                  <a:lnTo>
                    <a:pt x="3500" y="275146"/>
                  </a:lnTo>
                  <a:lnTo>
                    <a:pt x="13671" y="229613"/>
                  </a:lnTo>
                  <a:lnTo>
                    <a:pt x="30011" y="186751"/>
                  </a:lnTo>
                  <a:lnTo>
                    <a:pt x="52023" y="147061"/>
                  </a:lnTo>
                  <a:lnTo>
                    <a:pt x="79208" y="111043"/>
                  </a:lnTo>
                  <a:lnTo>
                    <a:pt x="111067" y="79194"/>
                  </a:lnTo>
                  <a:lnTo>
                    <a:pt x="147101" y="52016"/>
                  </a:lnTo>
                  <a:lnTo>
                    <a:pt x="186811" y="30008"/>
                  </a:lnTo>
                  <a:lnTo>
                    <a:pt x="229698" y="13670"/>
                  </a:lnTo>
                  <a:lnTo>
                    <a:pt x="275264" y="3500"/>
                  </a:lnTo>
                  <a:lnTo>
                    <a:pt x="323009" y="0"/>
                  </a:lnTo>
                  <a:lnTo>
                    <a:pt x="370717" y="3500"/>
                  </a:lnTo>
                  <a:lnTo>
                    <a:pt x="416253" y="13670"/>
                  </a:lnTo>
                  <a:lnTo>
                    <a:pt x="459117" y="30008"/>
                  </a:lnTo>
                  <a:lnTo>
                    <a:pt x="498808" y="52016"/>
                  </a:lnTo>
                  <a:lnTo>
                    <a:pt x="534828" y="79194"/>
                  </a:lnTo>
                  <a:lnTo>
                    <a:pt x="566677" y="111043"/>
                  </a:lnTo>
                  <a:lnTo>
                    <a:pt x="593856" y="147061"/>
                  </a:lnTo>
                  <a:lnTo>
                    <a:pt x="615864" y="186751"/>
                  </a:lnTo>
                  <a:lnTo>
                    <a:pt x="632203" y="229613"/>
                  </a:lnTo>
                  <a:lnTo>
                    <a:pt x="642372" y="275146"/>
                  </a:lnTo>
                  <a:lnTo>
                    <a:pt x="645873" y="322851"/>
                  </a:lnTo>
                  <a:lnTo>
                    <a:pt x="642372" y="370599"/>
                  </a:lnTo>
                  <a:lnTo>
                    <a:pt x="632203" y="416167"/>
                  </a:lnTo>
                  <a:lnTo>
                    <a:pt x="615864" y="459055"/>
                  </a:lnTo>
                  <a:lnTo>
                    <a:pt x="593856" y="498765"/>
                  </a:lnTo>
                  <a:lnTo>
                    <a:pt x="566677" y="534798"/>
                  </a:lnTo>
                  <a:lnTo>
                    <a:pt x="534828" y="566656"/>
                  </a:lnTo>
                  <a:lnTo>
                    <a:pt x="498808" y="593840"/>
                  </a:lnTo>
                  <a:lnTo>
                    <a:pt x="459117" y="615851"/>
                  </a:lnTo>
                  <a:lnTo>
                    <a:pt x="416253" y="632191"/>
                  </a:lnTo>
                  <a:lnTo>
                    <a:pt x="370717" y="642360"/>
                  </a:lnTo>
                  <a:lnTo>
                    <a:pt x="323009" y="645861"/>
                  </a:lnTo>
                  <a:close/>
                </a:path>
              </a:pathLst>
            </a:custGeom>
            <a:solidFill>
              <a:srgbClr val="8789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484369" y="1648269"/>
              <a:ext cx="646430" cy="646430"/>
            </a:xfrm>
            <a:custGeom>
              <a:avLst/>
              <a:gdLst/>
              <a:ahLst/>
              <a:cxnLst/>
              <a:rect l="l" t="t" r="r" b="b"/>
              <a:pathLst>
                <a:path w="646430" h="646430">
                  <a:moveTo>
                    <a:pt x="323009" y="0"/>
                  </a:moveTo>
                  <a:lnTo>
                    <a:pt x="275264" y="3500"/>
                  </a:lnTo>
                  <a:lnTo>
                    <a:pt x="229698" y="13670"/>
                  </a:lnTo>
                  <a:lnTo>
                    <a:pt x="186811" y="30008"/>
                  </a:lnTo>
                  <a:lnTo>
                    <a:pt x="147101" y="52016"/>
                  </a:lnTo>
                  <a:lnTo>
                    <a:pt x="111067" y="79194"/>
                  </a:lnTo>
                  <a:lnTo>
                    <a:pt x="79208" y="111043"/>
                  </a:lnTo>
                  <a:lnTo>
                    <a:pt x="52023" y="147061"/>
                  </a:lnTo>
                  <a:lnTo>
                    <a:pt x="30011" y="186751"/>
                  </a:lnTo>
                  <a:lnTo>
                    <a:pt x="13671" y="229613"/>
                  </a:lnTo>
                  <a:lnTo>
                    <a:pt x="3500" y="275146"/>
                  </a:lnTo>
                  <a:lnTo>
                    <a:pt x="0" y="322851"/>
                  </a:lnTo>
                  <a:lnTo>
                    <a:pt x="3500" y="370599"/>
                  </a:lnTo>
                  <a:lnTo>
                    <a:pt x="13671" y="416167"/>
                  </a:lnTo>
                  <a:lnTo>
                    <a:pt x="30011" y="459055"/>
                  </a:lnTo>
                  <a:lnTo>
                    <a:pt x="52023" y="498765"/>
                  </a:lnTo>
                  <a:lnTo>
                    <a:pt x="79208" y="534798"/>
                  </a:lnTo>
                  <a:lnTo>
                    <a:pt x="111067" y="566656"/>
                  </a:lnTo>
                  <a:lnTo>
                    <a:pt x="147101" y="593840"/>
                  </a:lnTo>
                  <a:lnTo>
                    <a:pt x="186811" y="615851"/>
                  </a:lnTo>
                  <a:lnTo>
                    <a:pt x="229698" y="632191"/>
                  </a:lnTo>
                  <a:lnTo>
                    <a:pt x="275264" y="642360"/>
                  </a:lnTo>
                  <a:lnTo>
                    <a:pt x="323009" y="645861"/>
                  </a:lnTo>
                  <a:lnTo>
                    <a:pt x="370717" y="642360"/>
                  </a:lnTo>
                  <a:lnTo>
                    <a:pt x="416253" y="632191"/>
                  </a:lnTo>
                  <a:lnTo>
                    <a:pt x="459117" y="615851"/>
                  </a:lnTo>
                  <a:lnTo>
                    <a:pt x="498808" y="593840"/>
                  </a:lnTo>
                  <a:lnTo>
                    <a:pt x="534828" y="566656"/>
                  </a:lnTo>
                  <a:lnTo>
                    <a:pt x="566677" y="534798"/>
                  </a:lnTo>
                  <a:lnTo>
                    <a:pt x="593856" y="498765"/>
                  </a:lnTo>
                  <a:lnTo>
                    <a:pt x="615864" y="459055"/>
                  </a:lnTo>
                  <a:lnTo>
                    <a:pt x="632203" y="416167"/>
                  </a:lnTo>
                  <a:lnTo>
                    <a:pt x="642372" y="370599"/>
                  </a:lnTo>
                  <a:lnTo>
                    <a:pt x="645873" y="322851"/>
                  </a:lnTo>
                  <a:lnTo>
                    <a:pt x="642372" y="275146"/>
                  </a:lnTo>
                  <a:lnTo>
                    <a:pt x="632203" y="229613"/>
                  </a:lnTo>
                  <a:lnTo>
                    <a:pt x="615864" y="186751"/>
                  </a:lnTo>
                  <a:lnTo>
                    <a:pt x="593856" y="147061"/>
                  </a:lnTo>
                  <a:lnTo>
                    <a:pt x="566677" y="111043"/>
                  </a:lnTo>
                  <a:lnTo>
                    <a:pt x="534828" y="79194"/>
                  </a:lnTo>
                  <a:lnTo>
                    <a:pt x="498808" y="52016"/>
                  </a:lnTo>
                  <a:lnTo>
                    <a:pt x="459117" y="30008"/>
                  </a:lnTo>
                  <a:lnTo>
                    <a:pt x="416253" y="13670"/>
                  </a:lnTo>
                  <a:lnTo>
                    <a:pt x="370717" y="3500"/>
                  </a:lnTo>
                  <a:lnTo>
                    <a:pt x="323009" y="0"/>
                  </a:lnTo>
                  <a:close/>
                </a:path>
              </a:pathLst>
            </a:custGeom>
            <a:ln w="19049">
              <a:solidFill>
                <a:srgbClr val="2D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6519812" y="3286143"/>
            <a:ext cx="371475" cy="371475"/>
            <a:chOff x="6519812" y="3286143"/>
            <a:chExt cx="371475" cy="371475"/>
          </a:xfrm>
        </p:grpSpPr>
        <p:sp>
          <p:nvSpPr>
            <p:cNvPr id="16" name="object 16"/>
            <p:cNvSpPr/>
            <p:nvPr/>
          </p:nvSpPr>
          <p:spPr>
            <a:xfrm>
              <a:off x="6529337" y="3295668"/>
              <a:ext cx="352425" cy="352425"/>
            </a:xfrm>
            <a:custGeom>
              <a:avLst/>
              <a:gdLst/>
              <a:ahLst/>
              <a:cxnLst/>
              <a:rect l="l" t="t" r="r" b="b"/>
              <a:pathLst>
                <a:path w="352425" h="352425">
                  <a:moveTo>
                    <a:pt x="176174" y="352274"/>
                  </a:moveTo>
                  <a:lnTo>
                    <a:pt x="129331" y="345982"/>
                  </a:lnTo>
                  <a:lnTo>
                    <a:pt x="87244" y="328227"/>
                  </a:lnTo>
                  <a:lnTo>
                    <a:pt x="51590" y="300683"/>
                  </a:lnTo>
                  <a:lnTo>
                    <a:pt x="24047" y="265030"/>
                  </a:lnTo>
                  <a:lnTo>
                    <a:pt x="6291" y="222942"/>
                  </a:lnTo>
                  <a:lnTo>
                    <a:pt x="0" y="176099"/>
                  </a:lnTo>
                  <a:lnTo>
                    <a:pt x="6291" y="129287"/>
                  </a:lnTo>
                  <a:lnTo>
                    <a:pt x="24047" y="87222"/>
                  </a:lnTo>
                  <a:lnTo>
                    <a:pt x="51590" y="51581"/>
                  </a:lnTo>
                  <a:lnTo>
                    <a:pt x="87244" y="24044"/>
                  </a:lnTo>
                  <a:lnTo>
                    <a:pt x="129331" y="6290"/>
                  </a:lnTo>
                  <a:lnTo>
                    <a:pt x="176174" y="0"/>
                  </a:lnTo>
                  <a:lnTo>
                    <a:pt x="222986" y="6290"/>
                  </a:lnTo>
                  <a:lnTo>
                    <a:pt x="265052" y="24044"/>
                  </a:lnTo>
                  <a:lnTo>
                    <a:pt x="300693" y="51581"/>
                  </a:lnTo>
                  <a:lnTo>
                    <a:pt x="328229" y="87222"/>
                  </a:lnTo>
                  <a:lnTo>
                    <a:pt x="345983" y="129287"/>
                  </a:lnTo>
                  <a:lnTo>
                    <a:pt x="352274" y="176099"/>
                  </a:lnTo>
                  <a:lnTo>
                    <a:pt x="345983" y="222942"/>
                  </a:lnTo>
                  <a:lnTo>
                    <a:pt x="328229" y="265030"/>
                  </a:lnTo>
                  <a:lnTo>
                    <a:pt x="300693" y="300683"/>
                  </a:lnTo>
                  <a:lnTo>
                    <a:pt x="265052" y="328227"/>
                  </a:lnTo>
                  <a:lnTo>
                    <a:pt x="222986" y="345982"/>
                  </a:lnTo>
                  <a:lnTo>
                    <a:pt x="176174" y="352274"/>
                  </a:lnTo>
                  <a:close/>
                </a:path>
              </a:pathLst>
            </a:custGeom>
            <a:solidFill>
              <a:srgbClr val="BCDA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529337" y="3295668"/>
              <a:ext cx="352425" cy="352425"/>
            </a:xfrm>
            <a:custGeom>
              <a:avLst/>
              <a:gdLst/>
              <a:ahLst/>
              <a:cxnLst/>
              <a:rect l="l" t="t" r="r" b="b"/>
              <a:pathLst>
                <a:path w="352425" h="352425">
                  <a:moveTo>
                    <a:pt x="176174" y="0"/>
                  </a:moveTo>
                  <a:lnTo>
                    <a:pt x="129331" y="6290"/>
                  </a:lnTo>
                  <a:lnTo>
                    <a:pt x="87244" y="24044"/>
                  </a:lnTo>
                  <a:lnTo>
                    <a:pt x="51590" y="51581"/>
                  </a:lnTo>
                  <a:lnTo>
                    <a:pt x="24047" y="87222"/>
                  </a:lnTo>
                  <a:lnTo>
                    <a:pt x="6291" y="129287"/>
                  </a:lnTo>
                  <a:lnTo>
                    <a:pt x="0" y="176099"/>
                  </a:lnTo>
                  <a:lnTo>
                    <a:pt x="6291" y="222942"/>
                  </a:lnTo>
                  <a:lnTo>
                    <a:pt x="24047" y="265030"/>
                  </a:lnTo>
                  <a:lnTo>
                    <a:pt x="51590" y="300683"/>
                  </a:lnTo>
                  <a:lnTo>
                    <a:pt x="87244" y="328227"/>
                  </a:lnTo>
                  <a:lnTo>
                    <a:pt x="129331" y="345982"/>
                  </a:lnTo>
                  <a:lnTo>
                    <a:pt x="176174" y="352274"/>
                  </a:lnTo>
                  <a:lnTo>
                    <a:pt x="222986" y="345982"/>
                  </a:lnTo>
                  <a:lnTo>
                    <a:pt x="265052" y="328227"/>
                  </a:lnTo>
                  <a:lnTo>
                    <a:pt x="300693" y="300683"/>
                  </a:lnTo>
                  <a:lnTo>
                    <a:pt x="328229" y="265030"/>
                  </a:lnTo>
                  <a:lnTo>
                    <a:pt x="345983" y="222942"/>
                  </a:lnTo>
                  <a:lnTo>
                    <a:pt x="352274" y="176099"/>
                  </a:lnTo>
                  <a:lnTo>
                    <a:pt x="345983" y="129287"/>
                  </a:lnTo>
                  <a:lnTo>
                    <a:pt x="328229" y="87222"/>
                  </a:lnTo>
                  <a:lnTo>
                    <a:pt x="300693" y="51581"/>
                  </a:lnTo>
                  <a:lnTo>
                    <a:pt x="265052" y="24044"/>
                  </a:lnTo>
                  <a:lnTo>
                    <a:pt x="222986" y="6290"/>
                  </a:lnTo>
                  <a:lnTo>
                    <a:pt x="176174" y="0"/>
                  </a:lnTo>
                  <a:close/>
                </a:path>
              </a:pathLst>
            </a:custGeom>
            <a:ln w="19049">
              <a:solidFill>
                <a:srgbClr val="2D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1340247" y="0"/>
            <a:ext cx="5143489" cy="122901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000245" y="1648271"/>
            <a:ext cx="5143500" cy="1890395"/>
          </a:xfrm>
          <a:custGeom>
            <a:avLst/>
            <a:gdLst/>
            <a:ahLst/>
            <a:cxnLst/>
            <a:rect l="l" t="t" r="r" b="b"/>
            <a:pathLst>
              <a:path w="5143500" h="1890395">
                <a:moveTo>
                  <a:pt x="5143489" y="1890296"/>
                </a:moveTo>
                <a:lnTo>
                  <a:pt x="0" y="1890296"/>
                </a:lnTo>
                <a:lnTo>
                  <a:pt x="0" y="0"/>
                </a:lnTo>
                <a:lnTo>
                  <a:pt x="5143489" y="0"/>
                </a:lnTo>
                <a:lnTo>
                  <a:pt x="5143489" y="1890296"/>
                </a:lnTo>
                <a:close/>
              </a:path>
            </a:pathLst>
          </a:custGeom>
          <a:solidFill>
            <a:srgbClr val="EDF7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2000245" y="1648271"/>
            <a:ext cx="5143500" cy="1890395"/>
          </a:xfrm>
          <a:prstGeom prst="rect">
            <a:avLst/>
          </a:prstGeom>
          <a:ln w="19049">
            <a:solidFill>
              <a:srgbClr val="2D3F3F"/>
            </a:solidFill>
          </a:ln>
        </p:spPr>
        <p:txBody>
          <a:bodyPr vert="horz" wrap="square" lIns="0" tIns="3098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440"/>
              </a:spcBef>
            </a:pPr>
            <a:r>
              <a:rPr spc="60" dirty="0"/>
              <a:t>Gracias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4225846-9EC0-4B2F-83AE-BDF1E8F3F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00" y="1648275"/>
            <a:ext cx="6731000" cy="1890300"/>
          </a:xfrm>
        </p:spPr>
        <p:txBody>
          <a:bodyPr/>
          <a:lstStyle/>
          <a:p>
            <a:r>
              <a:rPr lang="es-PE" dirty="0"/>
              <a:t>Distribución normal </a:t>
            </a:r>
          </a:p>
        </p:txBody>
      </p:sp>
    </p:spTree>
    <p:extLst>
      <p:ext uri="{BB962C8B-B14F-4D97-AF65-F5344CB8AC3E}">
        <p14:creationId xmlns:p14="http://schemas.microsoft.com/office/powerpoint/2010/main" val="4416465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69D2DB-F0AF-4F6B-8105-FF974F2F3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Propósito: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AD75DE5-27C8-4427-8EDC-71EBFD8D87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400" indent="0">
              <a:buNone/>
            </a:pPr>
            <a:r>
              <a:rPr lang="es-ES" b="1" dirty="0">
                <a:latin typeface="+mn-lt"/>
              </a:rPr>
              <a:t>General: </a:t>
            </a:r>
            <a:r>
              <a:rPr lang="es-ES" dirty="0">
                <a:latin typeface="+mn-lt"/>
              </a:rPr>
              <a:t>Interpretar los indicadores de comportamiento de una distribución normal en la resolución de problemas del ámbito educativo.</a:t>
            </a:r>
          </a:p>
          <a:p>
            <a:pPr marL="152400" indent="0">
              <a:buNone/>
            </a:pPr>
            <a:endParaRPr lang="es-ES" dirty="0">
              <a:latin typeface="+mn-lt"/>
            </a:endParaRPr>
          </a:p>
          <a:p>
            <a:pPr marL="152400" indent="0">
              <a:buNone/>
            </a:pPr>
            <a:r>
              <a:rPr lang="es-ES" dirty="0">
                <a:latin typeface="+mn-lt"/>
              </a:rPr>
              <a:t> Identificar las características de la distribución normal. </a:t>
            </a:r>
          </a:p>
          <a:p>
            <a:pPr marL="152400" indent="0">
              <a:buNone/>
            </a:pPr>
            <a:endParaRPr lang="es-ES" dirty="0">
              <a:latin typeface="+mn-lt"/>
            </a:endParaRPr>
          </a:p>
          <a:p>
            <a:pPr marL="152400" indent="0">
              <a:buNone/>
            </a:pPr>
            <a:r>
              <a:rPr lang="es-ES" dirty="0">
                <a:latin typeface="+mn-lt"/>
              </a:rPr>
              <a:t>Comprender el proceso de estandarización de una distribución normal.</a:t>
            </a:r>
          </a:p>
          <a:p>
            <a:pPr marL="152400" indent="0">
              <a:buNone/>
            </a:pPr>
            <a:endParaRPr lang="es-ES" dirty="0">
              <a:latin typeface="+mn-lt"/>
            </a:endParaRPr>
          </a:p>
          <a:p>
            <a:pPr marL="152400" indent="0">
              <a:buNone/>
            </a:pPr>
            <a:r>
              <a:rPr lang="es-ES" dirty="0">
                <a:latin typeface="+mn-lt"/>
              </a:rPr>
              <a:t> Reconocer las aplicaciones de la curva normal z en la medición de fenómenos educativos.</a:t>
            </a:r>
          </a:p>
          <a:p>
            <a:pPr marL="152400" indent="0">
              <a:buNone/>
            </a:pPr>
            <a:endParaRPr lang="es-ES" dirty="0">
              <a:latin typeface="+mn-lt"/>
            </a:endParaRPr>
          </a:p>
          <a:p>
            <a:pPr marL="152400" indent="0">
              <a:buNone/>
            </a:pPr>
            <a:r>
              <a:rPr lang="es-ES" dirty="0">
                <a:latin typeface="+mn-lt"/>
              </a:rPr>
              <a:t> Aplicar el proceso de estandarización de una distribución normal para resolver problemas del ámbito educativo. </a:t>
            </a:r>
            <a:endParaRPr lang="es-PE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455638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9F6EED50-364D-4770-95D0-384D4CB3EB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334" y="1414345"/>
            <a:ext cx="2836000" cy="2748900"/>
          </a:xfrm>
          <a:prstGeom prst="rect">
            <a:avLst/>
          </a:prstGeom>
        </p:spPr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EE975A2-5210-4163-81E9-4C1F68BCC9D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453824" y="1414345"/>
            <a:ext cx="3733800" cy="3214805"/>
          </a:xfrm>
        </p:spPr>
        <p:txBody>
          <a:bodyPr/>
          <a:lstStyle/>
          <a:p>
            <a:r>
              <a:rPr lang="es-ES" dirty="0"/>
              <a:t>La distribución normal fue reconocida por primera vez por el Francés Abraham de Moivre (1667-1754). </a:t>
            </a:r>
          </a:p>
          <a:p>
            <a:r>
              <a:rPr lang="es-ES" dirty="0"/>
              <a:t>Posteriormente Carl Friedrich Gauss (1777-1855) elaboró desarrollos más profundos y elaboró la ecuación de la curva de ahí que también se le conozca como: </a:t>
            </a:r>
          </a:p>
          <a:p>
            <a:r>
              <a:rPr lang="es-ES" dirty="0"/>
              <a:t> CAMPANA DE GAUSS</a:t>
            </a:r>
            <a:endParaRPr lang="es-PE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3AED86D-BAA8-42EE-9AD0-0DF35E568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050" y="303150"/>
            <a:ext cx="6135750" cy="787200"/>
          </a:xfrm>
        </p:spPr>
        <p:txBody>
          <a:bodyPr/>
          <a:lstStyle/>
          <a:p>
            <a:r>
              <a:rPr lang="es-PE" dirty="0"/>
              <a:t>Curva de distribución normal.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3161F0A-6BBB-4434-B112-E1F2BF02B7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9755" y="2808304"/>
            <a:ext cx="1460500" cy="104745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5DD61D43-CBDF-47B5-A5F7-4DEE0BD750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5431" y="1328046"/>
            <a:ext cx="1054100" cy="114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0215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p36"/>
          <p:cNvSpPr txBox="1">
            <a:spLocks noGrp="1"/>
          </p:cNvSpPr>
          <p:nvPr>
            <p:ph type="title"/>
          </p:nvPr>
        </p:nvSpPr>
        <p:spPr>
          <a:xfrm>
            <a:off x="276050" y="877824"/>
            <a:ext cx="6285008" cy="113357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Distribución Normal</a:t>
            </a:r>
            <a:endParaRPr dirty="0"/>
          </a:p>
        </p:txBody>
      </p:sp>
      <p:sp>
        <p:nvSpPr>
          <p:cNvPr id="1539" name="Google Shape;1539;p36"/>
          <p:cNvSpPr txBox="1">
            <a:spLocks noGrp="1"/>
          </p:cNvSpPr>
          <p:nvPr>
            <p:ph type="subTitle" idx="1"/>
          </p:nvPr>
        </p:nvSpPr>
        <p:spPr>
          <a:xfrm>
            <a:off x="463296" y="2145792"/>
            <a:ext cx="5364480" cy="240182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sz="1200" b="0" dirty="0">
                <a:solidFill>
                  <a:srgbClr val="333333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definición</a:t>
            </a:r>
            <a:r>
              <a:rPr lang="es-PE" sz="1200" dirty="0">
                <a:solidFill>
                  <a:srgbClr val="333333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s-PE" sz="1200" b="0" dirty="0">
              <a:solidFill>
                <a:srgbClr val="333333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sz="1200" b="0" dirty="0">
                <a:solidFill>
                  <a:srgbClr val="333333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La distribución normal es un modelo teórico capaz de aproximar satisfactoriamente el valor de una </a:t>
            </a:r>
            <a:r>
              <a:rPr lang="es-PE" sz="1200" b="1" u="none" strike="noStrike" dirty="0">
                <a:solidFill>
                  <a:srgbClr val="333333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variable aleatoria</a:t>
            </a:r>
            <a:r>
              <a:rPr lang="es-PE" sz="1200" b="0" dirty="0">
                <a:solidFill>
                  <a:srgbClr val="333333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 a una situación ideal.</a:t>
            </a:r>
            <a:endParaRPr lang="es-PE" sz="12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sz="1200" dirty="0">
                <a:solidFill>
                  <a:srgbClr val="333333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 En otras palabras, la distribución normal adapta una variable aleatoria a una función que depende de la </a:t>
            </a:r>
            <a:r>
              <a:rPr lang="es-PE" sz="1200" b="1" u="sng" dirty="0">
                <a:solidFill>
                  <a:srgbClr val="0000FF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media</a:t>
            </a:r>
            <a:r>
              <a:rPr lang="es-PE" sz="1200" dirty="0">
                <a:solidFill>
                  <a:srgbClr val="333333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 y la </a:t>
            </a:r>
            <a:r>
              <a:rPr lang="es-PE" sz="1200" b="1" u="sng" dirty="0">
                <a:solidFill>
                  <a:srgbClr val="0000FF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  <a:hlinkClick r:id="rId5"/>
              </a:rPr>
              <a:t>desviación típica.</a:t>
            </a:r>
            <a:r>
              <a:rPr lang="es-PE" sz="1200" dirty="0">
                <a:solidFill>
                  <a:srgbClr val="333333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 Es decir, la </a:t>
            </a:r>
            <a:r>
              <a:rPr lang="es-PE" sz="1200" b="1" u="sng" dirty="0">
                <a:solidFill>
                  <a:srgbClr val="0000FF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  <a:hlinkClick r:id="rId6"/>
              </a:rPr>
              <a:t>función</a:t>
            </a:r>
            <a:r>
              <a:rPr lang="es-PE" sz="1200" dirty="0">
                <a:solidFill>
                  <a:srgbClr val="333333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 y la variable aleatoria tendrán la misma representación pero con ligeras diferencias. </a:t>
            </a:r>
            <a:endParaRPr sz="1200" dirty="0">
              <a:latin typeface="+mj-lt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2B2D398-0149-4A20-9AF9-6311356A2A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3214" y="2145792"/>
            <a:ext cx="3143794" cy="2257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6778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p37"/>
          <p:cNvSpPr txBox="1">
            <a:spLocks noGrp="1"/>
          </p:cNvSpPr>
          <p:nvPr>
            <p:ph type="title"/>
          </p:nvPr>
        </p:nvSpPr>
        <p:spPr>
          <a:xfrm>
            <a:off x="265050" y="303150"/>
            <a:ext cx="7513446" cy="787200"/>
          </a:xfrm>
          <a:prstGeom prst="rect">
            <a:avLst/>
          </a:prstGeom>
        </p:spPr>
        <p:txBody>
          <a:bodyPr spcFirstLastPara="1" wrap="square" lIns="411475" tIns="91425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dirty="0"/>
              <a:t>Propiedades de la distribución  normal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45" name="Google Shape;1545;p37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720000" y="1215752"/>
                <a:ext cx="7704000" cy="34164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71450" lvl="0" indent="-171450" algn="l" rtl="0">
                  <a:spcBef>
                    <a:spcPts val="0"/>
                  </a:spcBef>
                  <a:spcAft>
                    <a:spcPts val="1600"/>
                  </a:spcAft>
                  <a:buFont typeface="Arial" panose="020B0604020202020204" pitchFamily="34" charset="0"/>
                  <a:buChar char="•"/>
                </a:pPr>
                <a:r>
                  <a:rPr lang="es-ES" dirty="0">
                    <a:latin typeface="+mj-lt"/>
                  </a:rPr>
                  <a:t>La forma de la campana de Gauss depende de los parámetros </a:t>
                </a:r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s-ES" dirty="0">
                    <a:latin typeface="+mj-lt"/>
                  </a:rPr>
                  <a:t> y </a:t>
                </a:r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s-ES" dirty="0">
                    <a:latin typeface="+mj-lt"/>
                  </a:rPr>
                  <a:t>  los que se pueden designar utilizando N(</a:t>
                </a:r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s-P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s-E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s-ES" dirty="0">
                    <a:latin typeface="+mj-lt"/>
                  </a:rPr>
                  <a:t>).</a:t>
                </a:r>
              </a:p>
              <a:p>
                <a:pPr marL="171450" lvl="0" indent="-171450" algn="l" rtl="0">
                  <a:spcBef>
                    <a:spcPts val="0"/>
                  </a:spcBef>
                  <a:spcAft>
                    <a:spcPts val="1600"/>
                  </a:spcAft>
                  <a:buFont typeface="Arial" panose="020B0604020202020204" pitchFamily="34" charset="0"/>
                  <a:buChar char="•"/>
                </a:pPr>
                <a:r>
                  <a:rPr lang="es-ES" dirty="0">
                    <a:latin typeface="+mj-lt"/>
                  </a:rPr>
                  <a:t>Tiene una única moda, que coincide con su media y su mediana.</a:t>
                </a:r>
              </a:p>
              <a:p>
                <a:pPr marL="171450" lvl="0" indent="-171450" algn="l" rtl="0">
                  <a:spcBef>
                    <a:spcPts val="0"/>
                  </a:spcBef>
                  <a:spcAft>
                    <a:spcPts val="1600"/>
                  </a:spcAft>
                  <a:buFont typeface="Arial" panose="020B0604020202020204" pitchFamily="34" charset="0"/>
                  <a:buChar char="•"/>
                </a:pPr>
                <a:r>
                  <a:rPr lang="es-ES" dirty="0">
                    <a:latin typeface="+mj-lt"/>
                  </a:rPr>
                  <a:t>La curva normal es asintótica al eje de X.</a:t>
                </a:r>
              </a:p>
              <a:p>
                <a:pPr marL="171450" lvl="0" indent="-171450" algn="l" rtl="0">
                  <a:spcBef>
                    <a:spcPts val="0"/>
                  </a:spcBef>
                  <a:spcAft>
                    <a:spcPts val="1600"/>
                  </a:spcAft>
                  <a:buFont typeface="Arial" panose="020B0604020202020204" pitchFamily="34" charset="0"/>
                  <a:buChar char="•"/>
                </a:pPr>
                <a:r>
                  <a:rPr lang="es-ES" dirty="0">
                    <a:latin typeface="+mj-lt"/>
                  </a:rPr>
                  <a:t>Es simétrica con respecto a su media </a:t>
                </a:r>
                <a14:m>
                  <m:oMath xmlns:m="http://schemas.openxmlformats.org/officeDocument/2006/math">
                    <m:r>
                      <a:rPr lang="es-PE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s-PE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s-ES" dirty="0">
                    <a:latin typeface="+mj-lt"/>
                  </a:rPr>
                  <a:t>. Según esto, para este tipo de variables existe una probabilidad de un 50% de observar un dato mayor que la media, y un 50% de observar un dato menor.</a:t>
                </a:r>
                <a:endParaRPr lang="es-PE" dirty="0">
                  <a:latin typeface="+mj-lt"/>
                </a:endParaRPr>
              </a:p>
            </p:txBody>
          </p:sp>
        </mc:Choice>
        <mc:Fallback xmlns="">
          <p:sp>
            <p:nvSpPr>
              <p:cNvPr id="1545" name="Google Shape;1545;p37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20000" y="1215752"/>
                <a:ext cx="7704000" cy="3416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agen 7">
            <a:extLst>
              <a:ext uri="{FF2B5EF4-FFF2-40B4-BE49-F238E27FC236}">
                <a16:creationId xmlns:a16="http://schemas.microsoft.com/office/drawing/2014/main" id="{995A3905-7DEB-4266-AFFD-750A95D5AE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6268" y="3193766"/>
            <a:ext cx="2731009" cy="1467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6639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4D6B57-A73B-40E3-AC4D-1E4AA4960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Aplicaciones de la distribución normal.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texto 2">
                <a:extLst>
                  <a:ext uri="{FF2B5EF4-FFF2-40B4-BE49-F238E27FC236}">
                    <a16:creationId xmlns:a16="http://schemas.microsoft.com/office/drawing/2014/main" id="{5E1C0BDB-655E-4F4B-8147-FB6A71081E0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s-ES" dirty="0">
                    <a:latin typeface="+mn-lt"/>
                  </a:rPr>
                  <a:t>Cuando se trabaja con una distribución normal, es necesario conocer su media μ y su desviación estándar a. Entonces, cualquier valor de la variable aleatoria x puede ser convertida fácilmente en el valor z estándar utilizando la siguiente fórmula.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endParaRPr lang="es-ES" dirty="0">
                  <a:latin typeface="+mn-lt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s-PE" dirty="0"/>
                  <a:t>                                    </a:t>
                </a:r>
                <a14:m>
                  <m:oMath xmlns:m="http://schemas.openxmlformats.org/officeDocument/2006/math">
                    <m:r>
                      <a:rPr lang="es-PE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s-PE" i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PE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PE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PE" i="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PE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>
                          <a:rPr lang="es-PE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den>
                    </m:f>
                  </m:oMath>
                </a14:m>
                <a:r>
                  <a:rPr lang="es-PE" dirty="0">
                    <a:solidFill>
                      <a:srgbClr val="0070C0"/>
                    </a:solidFill>
                    <a:latin typeface="+mn-lt"/>
                  </a:rPr>
                  <a:t> </a:t>
                </a:r>
                <a:r>
                  <a:rPr lang="es-PE" dirty="0">
                    <a:latin typeface="+mn-lt"/>
                  </a:rPr>
                  <a:t>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endParaRPr lang="es-PE" dirty="0">
                  <a:latin typeface="+mn-lt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endParaRPr lang="es-PE" dirty="0">
                  <a:latin typeface="+mn-lt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s-ES" dirty="0">
                    <a:latin typeface="+mn-lt"/>
                  </a:rPr>
                  <a:t>Donde: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s-ES" dirty="0">
                    <a:solidFill>
                      <a:srgbClr val="0070C0"/>
                    </a:solidFill>
                    <a:latin typeface="+mn-lt"/>
                  </a:rPr>
                  <a:t>x</a:t>
                </a:r>
                <a:r>
                  <a:rPr lang="es-ES" dirty="0">
                    <a:latin typeface="+mn-lt"/>
                  </a:rPr>
                  <a:t> = valor de la variable aleatoria a estudiar.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s-ES" dirty="0">
                    <a:solidFill>
                      <a:srgbClr val="0070C0"/>
                    </a:solidFill>
                    <a:latin typeface="+mn-lt"/>
                  </a:rPr>
                  <a:t>μ</a:t>
                </a:r>
                <a:r>
                  <a:rPr lang="es-ES" dirty="0">
                    <a:latin typeface="+mn-lt"/>
                  </a:rPr>
                  <a:t> = media de la distribución de la variable aleatoria.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ES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s-ES" dirty="0">
                    <a:latin typeface="+mn-lt"/>
                  </a:rPr>
                  <a:t>=desviación estándar de la distribución.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s-ES" dirty="0">
                    <a:solidFill>
                      <a:srgbClr val="0070C0"/>
                    </a:solidFill>
                    <a:latin typeface="+mn-lt"/>
                  </a:rPr>
                  <a:t>z</a:t>
                </a:r>
                <a:r>
                  <a:rPr lang="es-ES" dirty="0">
                    <a:latin typeface="+mn-lt"/>
                  </a:rPr>
                  <a:t>-número de desviaciones estándar que hay desde x hasta la media de la distribución</a:t>
                </a:r>
                <a:endParaRPr lang="es-PE" dirty="0">
                  <a:latin typeface="+mn-lt"/>
                </a:endParaRPr>
              </a:p>
              <a:p>
                <a:endParaRPr lang="es-PE" dirty="0">
                  <a:latin typeface="+mn-lt"/>
                </a:endParaRPr>
              </a:p>
              <a:p>
                <a:endParaRPr lang="es-PE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Marcador de texto 2">
                <a:extLst>
                  <a:ext uri="{FF2B5EF4-FFF2-40B4-BE49-F238E27FC236}">
                    <a16:creationId xmlns:a16="http://schemas.microsoft.com/office/drawing/2014/main" id="{5E1C0BDB-655E-4F4B-8147-FB6A71081E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47559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7E1F2D-419A-4384-8AF9-49B67216F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Función de distribución normal.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5A6A596-5BDE-4519-801F-A0B0098FF7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Puede tomar cualquier valor (- </a:t>
            </a:r>
            <a:r>
              <a:rPr lang="es-ES" b="0" i="0" dirty="0">
                <a:solidFill>
                  <a:srgbClr val="000000"/>
                </a:solidFill>
                <a:effectLst/>
                <a:latin typeface="Symbol" panose="05050102010706020507" pitchFamily="18" charset="2"/>
              </a:rPr>
              <a:t>¥</a:t>
            </a:r>
            <a:r>
              <a:rPr lang="es-E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+ </a:t>
            </a:r>
            <a:r>
              <a:rPr lang="es-ES" b="0" i="0" dirty="0">
                <a:solidFill>
                  <a:srgbClr val="000000"/>
                </a:solidFill>
                <a:effectLst/>
                <a:latin typeface="Symbol" panose="05050102010706020507" pitchFamily="18" charset="2"/>
              </a:rPr>
              <a:t>¥</a:t>
            </a:r>
            <a:r>
              <a:rPr lang="es-E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s-ES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Son más probables los valores cercanos a uno central que llamamos media  </a:t>
            </a:r>
            <a:r>
              <a:rPr lang="es-ES" b="0" i="0" dirty="0">
                <a:solidFill>
                  <a:srgbClr val="000000"/>
                </a:solidFill>
                <a:effectLst/>
                <a:latin typeface="Symbol" panose="05050102010706020507" pitchFamily="18" charset="2"/>
              </a:rPr>
              <a:t>m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s-ES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Conforme nos separamos de ese valor </a:t>
            </a:r>
            <a:r>
              <a:rPr lang="es-ES" b="0" i="0" dirty="0">
                <a:solidFill>
                  <a:srgbClr val="000000"/>
                </a:solidFill>
                <a:effectLst/>
                <a:latin typeface="Symbol" panose="05050102010706020507" pitchFamily="18" charset="2"/>
              </a:rPr>
              <a:t>m </a:t>
            </a:r>
            <a:r>
              <a:rPr lang="es-E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la probabilidad va decreciendo de igual forma a derecha e izquierda (es simétrica).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s-ES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Conforme nos separamos de ese valor </a:t>
            </a:r>
            <a:r>
              <a:rPr lang="es-ES" b="0" i="0" dirty="0">
                <a:solidFill>
                  <a:srgbClr val="000000"/>
                </a:solidFill>
                <a:effectLst/>
                <a:latin typeface="Symbol" panose="05050102010706020507" pitchFamily="18" charset="2"/>
              </a:rPr>
              <a:t>m </a:t>
            </a:r>
            <a:r>
              <a:rPr lang="es-E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la probabilidad va decreciendo de forma más o menos rápida dependiendo de un parámetro </a:t>
            </a:r>
            <a:r>
              <a:rPr lang="es-ES" b="0" i="0" dirty="0">
                <a:solidFill>
                  <a:srgbClr val="000000"/>
                </a:solidFill>
                <a:effectLst/>
                <a:latin typeface="Symbol" panose="05050102010706020507" pitchFamily="18" charset="2"/>
              </a:rPr>
              <a:t>s </a:t>
            </a:r>
            <a:r>
              <a:rPr lang="es-E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que es la desviación típica.</a:t>
            </a:r>
          </a:p>
          <a:p>
            <a:endParaRPr lang="es-PE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43D93A3-8082-47D4-92C6-4AD2A9755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3164582"/>
            <a:ext cx="2221992" cy="159297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B948F8D-F8C3-4BE6-B416-DF9C225CA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0134" y="3160567"/>
            <a:ext cx="3235831" cy="153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0255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DA86B3-879E-4215-A636-DFC05F666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Tipificación: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8E6EB780-8FE1-4253-ADE9-2B1E8F423EC1}"/>
                  </a:ext>
                </a:extLst>
              </p:cNvPr>
              <p:cNvSpPr txBox="1"/>
              <p:nvPr/>
            </p:nvSpPr>
            <p:spPr>
              <a:xfrm>
                <a:off x="609600" y="1330415"/>
                <a:ext cx="8147304" cy="35099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" b="0" i="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Si la variable X es </a:t>
                </a:r>
                <a14:m>
                  <m:oMath xmlns:m="http://schemas.openxmlformats.org/officeDocument/2006/math">
                    <m:r>
                      <a:rPr lang="es-ES" b="0" i="0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s-ES" b="0" i="1" dirty="0" smtClean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0" dirty="0" smtClean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s-ES" b="0" i="0" dirty="0" smtClean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ES" b="0" i="0" dirty="0" smtClean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d>
                    <m:r>
                      <a:rPr lang="es-PE" b="0" i="0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es-PE" b="0" i="0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entonces</m:t>
                    </m:r>
                    <m:r>
                      <a:rPr lang="es-PE" b="0" i="0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PE" b="0" i="0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la</m:t>
                    </m:r>
                    <m:r>
                      <a:rPr lang="es-PE" b="0" i="0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PE" b="0" i="0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variable</m:t>
                    </m:r>
                    <m:r>
                      <a:rPr lang="es-PE" b="0" i="0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PE" b="0" i="0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tipificada</m:t>
                    </m:r>
                    <m:r>
                      <a:rPr lang="es-PE" b="0" i="0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b="0" i="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de X es  </a:t>
                </a:r>
                <a14:m>
                  <m:oMath xmlns:m="http://schemas.openxmlformats.org/officeDocument/2006/math">
                    <m:r>
                      <a:rPr lang="es-ES" b="0" i="0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𝑧</m:t>
                    </m:r>
                    <m:r>
                      <a:rPr lang="es-ES" b="0" i="0" dirty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dirty="0" smtClean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0" dirty="0" smtClean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ES" b="0" i="0" dirty="0" smtClean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b="0" i="0" dirty="0" smtClean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>
                          <a:rPr lang="es-ES" b="0" i="0" dirty="0" smtClean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𝜎</m:t>
                        </m:r>
                      </m:den>
                    </m:f>
                  </m:oMath>
                </a14:m>
                <a:endParaRPr lang="es-PE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endParaRPr>
              </a:p>
              <a:p>
                <a:r>
                  <a:rPr lang="es-ES" b="0" i="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Y sigue también una distribución normal pero de </a:t>
                </a:r>
                <a14:m>
                  <m:oMath xmlns:m="http://schemas.openxmlformats.org/officeDocument/2006/math">
                    <m:r>
                      <a:rPr lang="es-ES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𝜇</m:t>
                    </m:r>
                    <m:r>
                      <a:rPr lang="es-ES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=0 </m:t>
                    </m:r>
                    <m:r>
                      <a:rPr lang="es-PE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  <m:r>
                      <a:rPr lang="es-PE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0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𝜎</m:t>
                    </m:r>
                    <m:r>
                      <a:rPr lang="es-ES" b="0" i="0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=1 </m:t>
                    </m:r>
                    <m:r>
                      <m:rPr>
                        <m:sty m:val="p"/>
                      </m:rPr>
                      <a:rPr lang="es-PE" b="0" i="0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es</m:t>
                    </m:r>
                    <m:r>
                      <a:rPr lang="es-PE" b="0" i="0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PE" b="0" i="0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decir</m:t>
                    </m:r>
                    <m:r>
                      <a:rPr lang="es-PE" b="0" i="0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s-ES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endParaRPr>
              </a:p>
              <a:p>
                <a:r>
                  <a:rPr lang="es-ES" dirty="0">
                    <a:latin typeface="Times New Roman" panose="02020603050405020304" pitchFamily="18" charset="0"/>
                  </a:rPr>
                  <a:t>N (0,1)</a:t>
                </a:r>
              </a:p>
              <a:p>
                <a:r>
                  <a:rPr lang="es-ES" b="0" i="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Por tanto su función de densidad es</a:t>
                </a:r>
              </a:p>
              <a:p>
                <a:endParaRPr lang="es-ES" dirty="0">
                  <a:latin typeface="Times New Roman" panose="02020603050405020304" pitchFamily="18" charset="0"/>
                </a:endParaRPr>
              </a:p>
              <a:p>
                <a:endParaRPr lang="es-ES" dirty="0">
                  <a:latin typeface="Times New Roman" panose="02020603050405020304" pitchFamily="18" charset="0"/>
                </a:endParaRPr>
              </a:p>
              <a:p>
                <a:endParaRPr lang="es-ES" dirty="0">
                  <a:latin typeface="Times New Roman" panose="02020603050405020304" pitchFamily="18" charset="0"/>
                </a:endParaRPr>
              </a:p>
              <a:p>
                <a:endParaRPr lang="es-ES" dirty="0">
                  <a:latin typeface="Times New Roman" panose="02020603050405020304" pitchFamily="18" charset="0"/>
                </a:endParaRPr>
              </a:p>
              <a:p>
                <a:r>
                  <a:rPr lang="es-ES" dirty="0">
                    <a:latin typeface="Times New Roman" panose="02020603050405020304" pitchFamily="18" charset="0"/>
                  </a:rPr>
                  <a:t>Y su función de distribución es </a:t>
                </a:r>
              </a:p>
              <a:p>
                <a:endParaRPr lang="es-ES" dirty="0">
                  <a:latin typeface="Times New Roman" panose="02020603050405020304" pitchFamily="18" charset="0"/>
                </a:endParaRPr>
              </a:p>
              <a:p>
                <a:endParaRPr lang="es-ES" dirty="0">
                  <a:latin typeface="Times New Roman" panose="02020603050405020304" pitchFamily="18" charset="0"/>
                </a:endParaRPr>
              </a:p>
              <a:p>
                <a:endParaRPr lang="es-PE" dirty="0"/>
              </a:p>
            </p:txBody>
          </p:sp>
        </mc:Choice>
        <mc:Fallback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8E6EB780-8FE1-4253-ADE9-2B1E8F423E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330415"/>
                <a:ext cx="8147304" cy="3509935"/>
              </a:xfrm>
              <a:prstGeom prst="rect">
                <a:avLst/>
              </a:prstGeom>
              <a:blipFill>
                <a:blip r:embed="rId2"/>
                <a:stretch>
                  <a:fillRect l="-598"/>
                </a:stretch>
              </a:blipFill>
            </p:spPr>
            <p:txBody>
              <a:bodyPr/>
              <a:lstStyle/>
              <a:p>
                <a:r>
                  <a:rPr lang="es-H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n 5">
            <a:extLst>
              <a:ext uri="{FF2B5EF4-FFF2-40B4-BE49-F238E27FC236}">
                <a16:creationId xmlns:a16="http://schemas.microsoft.com/office/drawing/2014/main" id="{9E98DC97-D6FA-4661-9EA1-EFDF2A61A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2713827"/>
            <a:ext cx="3076575" cy="6096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6962433-EB24-4387-A811-667764B7A4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3888520"/>
            <a:ext cx="3343275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6497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356073A5-D4D1-4AF9-9083-19143E416DB6}"/>
              </a:ext>
            </a:extLst>
          </p:cNvPr>
          <p:cNvSpPr txBox="1"/>
          <p:nvPr/>
        </p:nvSpPr>
        <p:spPr>
          <a:xfrm>
            <a:off x="658368" y="548640"/>
            <a:ext cx="713232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siendo la representación gráfica de esta función</a:t>
            </a:r>
          </a:p>
          <a:p>
            <a:pPr algn="l"/>
            <a:endParaRPr lang="es-ES" dirty="0">
              <a:latin typeface="Times New Roman" panose="02020603050405020304" pitchFamily="18" charset="0"/>
            </a:endParaRPr>
          </a:p>
          <a:p>
            <a:pPr algn="l"/>
            <a:endParaRPr lang="es-ES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/>
            <a:endParaRPr lang="es-ES" dirty="0">
              <a:latin typeface="Times New Roman" panose="02020603050405020304" pitchFamily="18" charset="0"/>
            </a:endParaRPr>
          </a:p>
          <a:p>
            <a:pPr algn="l"/>
            <a:endParaRPr lang="es-ES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/>
            <a:endParaRPr lang="es-ES" dirty="0">
              <a:latin typeface="Times New Roman" panose="02020603050405020304" pitchFamily="18" charset="0"/>
            </a:endParaRPr>
          </a:p>
          <a:p>
            <a:pPr algn="l"/>
            <a:endParaRPr lang="es-ES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/>
            <a:endParaRPr lang="es-ES" dirty="0">
              <a:latin typeface="Times New Roman" panose="02020603050405020304" pitchFamily="18" charset="0"/>
            </a:endParaRPr>
          </a:p>
          <a:p>
            <a:pPr algn="l"/>
            <a:endParaRPr lang="es-ES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/>
            <a:endParaRPr lang="es-ES" dirty="0">
              <a:latin typeface="Times New Roman" panose="02020603050405020304" pitchFamily="18" charset="0"/>
            </a:endParaRPr>
          </a:p>
          <a:p>
            <a:pPr algn="l"/>
            <a:endParaRPr lang="es-ES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br>
              <a:rPr lang="es-ES" dirty="0"/>
            </a:br>
            <a:endParaRPr lang="es-P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EC57973-E165-435C-8112-088572466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664" y="967710"/>
            <a:ext cx="3889248" cy="2486025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BDF2FE94-2B77-402D-BB24-E21718B91E96}"/>
              </a:ext>
            </a:extLst>
          </p:cNvPr>
          <p:cNvSpPr txBox="1"/>
          <p:nvPr/>
        </p:nvSpPr>
        <p:spPr>
          <a:xfrm rot="10800000" flipV="1">
            <a:off x="755904" y="3482381"/>
            <a:ext cx="602284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ES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r>
              <a:rPr lang="es-E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 la variable Z se la denomina </a:t>
            </a:r>
            <a:r>
              <a:rPr lang="es-E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variable tipificada de X</a:t>
            </a:r>
            <a:r>
              <a:rPr lang="es-E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y a la curva de su función de densidad </a:t>
            </a:r>
            <a:r>
              <a:rPr lang="es-E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curva normal tipificada</a:t>
            </a:r>
            <a:r>
              <a:rPr lang="es-E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3175690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2EC370-B26A-4E85-A6CA-7430A1453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050" y="303150"/>
            <a:ext cx="7489062" cy="787200"/>
          </a:xfrm>
        </p:spPr>
        <p:txBody>
          <a:bodyPr/>
          <a:lstStyle/>
          <a:p>
            <a:r>
              <a:rPr lang="es-PE" dirty="0"/>
              <a:t>Características de la distribución normal tipificada.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8F6D04A-0448-4C1D-9BBE-512F52F58C56}"/>
              </a:ext>
            </a:extLst>
          </p:cNvPr>
          <p:cNvSpPr txBox="1"/>
          <p:nvPr/>
        </p:nvSpPr>
        <p:spPr>
          <a:xfrm>
            <a:off x="573024" y="1292353"/>
            <a:ext cx="721766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No depende de ningún parámetro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s-ES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Su media es 0, su varianza es 1 y su desviación típica es 1.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s-ES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La curva  </a:t>
            </a:r>
            <a:r>
              <a:rPr lang="es-E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f(x)</a:t>
            </a:r>
            <a:r>
              <a:rPr lang="es-E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 es simétrica respecto del eje OY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s-ES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Tiene un máximo en este eje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s-ES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Tiene dos puntos de inflexión en  z =1 y  z = -1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s-ES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21841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p38"/>
          <p:cNvSpPr/>
          <p:nvPr/>
        </p:nvSpPr>
        <p:spPr>
          <a:xfrm>
            <a:off x="1484371" y="1648272"/>
            <a:ext cx="645877" cy="645877"/>
          </a:xfrm>
          <a:custGeom>
            <a:avLst/>
            <a:gdLst/>
            <a:ahLst/>
            <a:cxnLst/>
            <a:rect l="l" t="t" r="r" b="b"/>
            <a:pathLst>
              <a:path w="48995" h="48995" extrusionOk="0">
                <a:moveTo>
                  <a:pt x="24503" y="0"/>
                </a:moveTo>
                <a:cubicBezTo>
                  <a:pt x="10966" y="0"/>
                  <a:pt x="0" y="10966"/>
                  <a:pt x="0" y="24491"/>
                </a:cubicBezTo>
                <a:cubicBezTo>
                  <a:pt x="0" y="38029"/>
                  <a:pt x="10966" y="48994"/>
                  <a:pt x="24503" y="48994"/>
                </a:cubicBezTo>
                <a:cubicBezTo>
                  <a:pt x="38029" y="48994"/>
                  <a:pt x="48995" y="38029"/>
                  <a:pt x="48995" y="24491"/>
                </a:cubicBezTo>
                <a:cubicBezTo>
                  <a:pt x="48995" y="10966"/>
                  <a:pt x="38029" y="0"/>
                  <a:pt x="24503" y="0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1" name="Google Shape;1551;p38"/>
          <p:cNvSpPr/>
          <p:nvPr/>
        </p:nvSpPr>
        <p:spPr>
          <a:xfrm>
            <a:off x="6529348" y="3295674"/>
            <a:ext cx="352274" cy="352274"/>
          </a:xfrm>
          <a:custGeom>
            <a:avLst/>
            <a:gdLst/>
            <a:ahLst/>
            <a:cxnLst/>
            <a:rect l="l" t="t" r="r" b="b"/>
            <a:pathLst>
              <a:path w="48995" h="48995" extrusionOk="0">
                <a:moveTo>
                  <a:pt x="24503" y="0"/>
                </a:moveTo>
                <a:cubicBezTo>
                  <a:pt x="10966" y="0"/>
                  <a:pt x="0" y="10966"/>
                  <a:pt x="0" y="24491"/>
                </a:cubicBezTo>
                <a:cubicBezTo>
                  <a:pt x="0" y="38029"/>
                  <a:pt x="10966" y="48994"/>
                  <a:pt x="24503" y="48994"/>
                </a:cubicBezTo>
                <a:cubicBezTo>
                  <a:pt x="38029" y="48994"/>
                  <a:pt x="48995" y="38029"/>
                  <a:pt x="48995" y="24491"/>
                </a:cubicBezTo>
                <a:cubicBezTo>
                  <a:pt x="48995" y="10966"/>
                  <a:pt x="38029" y="0"/>
                  <a:pt x="24503" y="0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52" name="Google Shape;155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 flipH="1">
            <a:off x="2521350" y="-2733387"/>
            <a:ext cx="27813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3" name="Google Shape;1553;p38"/>
          <p:cNvSpPr txBox="1">
            <a:spLocks noGrp="1"/>
          </p:cNvSpPr>
          <p:nvPr>
            <p:ph type="title"/>
          </p:nvPr>
        </p:nvSpPr>
        <p:spPr>
          <a:xfrm>
            <a:off x="2000250" y="1648275"/>
            <a:ext cx="5143500" cy="189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Gracias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631229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08B4B300-F6AB-41F8-A4BE-1A7CD7C166A4}"/>
              </a:ext>
            </a:extLst>
          </p:cNvPr>
          <p:cNvSpPr/>
          <p:nvPr/>
        </p:nvSpPr>
        <p:spPr>
          <a:xfrm>
            <a:off x="1605516" y="1790257"/>
            <a:ext cx="5932968" cy="15629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4000" b="1" dirty="0">
                <a:solidFill>
                  <a:schemeClr val="bg2">
                    <a:lumMod val="10000"/>
                  </a:schemeClr>
                </a:solidFill>
              </a:rPr>
              <a:t>PROBLEMAS PROPUESTOS</a:t>
            </a:r>
            <a:endParaRPr lang="es-HN" sz="4000" b="1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94062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n 16">
            <a:extLst>
              <a:ext uri="{FF2B5EF4-FFF2-40B4-BE49-F238E27FC236}">
                <a16:creationId xmlns:a16="http://schemas.microsoft.com/office/drawing/2014/main" id="{0C13093A-CE58-4A0C-B23D-448EEC4A91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689" y="585488"/>
            <a:ext cx="6735725" cy="1620784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8A6FD225-7C38-48EB-AAF5-E698969742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689" y="2571750"/>
            <a:ext cx="5932967" cy="1677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529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n 20">
            <a:extLst>
              <a:ext uri="{FF2B5EF4-FFF2-40B4-BE49-F238E27FC236}">
                <a16:creationId xmlns:a16="http://schemas.microsoft.com/office/drawing/2014/main" id="{C38D8E8D-FAAF-49BA-AD7D-D0047064D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857" y="668429"/>
            <a:ext cx="5509719" cy="3533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0439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08B4B300-F6AB-41F8-A4BE-1A7CD7C166A4}"/>
              </a:ext>
            </a:extLst>
          </p:cNvPr>
          <p:cNvSpPr/>
          <p:nvPr/>
        </p:nvSpPr>
        <p:spPr>
          <a:xfrm>
            <a:off x="1648046" y="1848736"/>
            <a:ext cx="5847907" cy="14460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4000" b="1" dirty="0">
                <a:solidFill>
                  <a:schemeClr val="bg2">
                    <a:lumMod val="10000"/>
                  </a:schemeClr>
                </a:solidFill>
              </a:rPr>
              <a:t>RESOLUCIÓN DE LOS PROBLEMAS</a:t>
            </a:r>
            <a:endParaRPr lang="es-HN" sz="4000" b="1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72986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FA7FF3D-214F-49BA-A608-C135D2ED129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1705"/>
          <a:stretch/>
        </p:blipFill>
        <p:spPr>
          <a:xfrm>
            <a:off x="407332" y="716630"/>
            <a:ext cx="4067955" cy="3710239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A1FFB539-EFF5-4418-9FA0-11C0F6BDED0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6847"/>
          <a:stretch/>
        </p:blipFill>
        <p:spPr>
          <a:xfrm>
            <a:off x="4572000" y="1198501"/>
            <a:ext cx="4067955" cy="2746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1947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1A7751F-DB2C-4512-A479-E6C2AC4C179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3902"/>
          <a:stretch/>
        </p:blipFill>
        <p:spPr>
          <a:xfrm>
            <a:off x="445952" y="937119"/>
            <a:ext cx="4303931" cy="326926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5A2819F-942B-484B-9469-714741B76C2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4651"/>
          <a:stretch/>
        </p:blipFill>
        <p:spPr>
          <a:xfrm>
            <a:off x="4856896" y="937119"/>
            <a:ext cx="3841152" cy="350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9630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B15207B-5255-4D5B-9191-3F02D09291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4987"/>
          <a:stretch/>
        </p:blipFill>
        <p:spPr>
          <a:xfrm>
            <a:off x="4739332" y="1434066"/>
            <a:ext cx="4063683" cy="268223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D9239840-069C-4CBC-A416-BF29D41F5F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3153"/>
          <a:stretch/>
        </p:blipFill>
        <p:spPr>
          <a:xfrm>
            <a:off x="397985" y="1027203"/>
            <a:ext cx="4174015" cy="3476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917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AE4F7B8-8E2D-4C03-8BAE-B3E4C8AE19F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0000"/>
          <a:stretch/>
        </p:blipFill>
        <p:spPr>
          <a:xfrm>
            <a:off x="473680" y="808596"/>
            <a:ext cx="3949464" cy="3526307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AEDC75BE-EBE4-4D41-A7C6-AAF7793EAF6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0000"/>
          <a:stretch/>
        </p:blipFill>
        <p:spPr>
          <a:xfrm>
            <a:off x="4816549" y="827201"/>
            <a:ext cx="3949463" cy="3526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127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Words>1131</Words>
  <Application>Microsoft Office PowerPoint</Application>
  <PresentationFormat>Presentación en pantalla (16:9)</PresentationFormat>
  <Paragraphs>136</Paragraphs>
  <Slides>31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11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31</vt:i4>
      </vt:variant>
    </vt:vector>
  </HeadingPairs>
  <TitlesOfParts>
    <vt:vector size="43" baseType="lpstr">
      <vt:lpstr>AoyagiKouzanFontT</vt:lpstr>
      <vt:lpstr>Arial</vt:lpstr>
      <vt:lpstr>Calibri</vt:lpstr>
      <vt:lpstr>Cambria Math</vt:lpstr>
      <vt:lpstr>Inter</vt:lpstr>
      <vt:lpstr>Noto Sans Devanagari</vt:lpstr>
      <vt:lpstr>Roboto Condensed Light</vt:lpstr>
      <vt:lpstr>Symbol</vt:lpstr>
      <vt:lpstr>Times New Roman</vt:lpstr>
      <vt:lpstr>Trebuchet MS</vt:lpstr>
      <vt:lpstr>Verdana</vt:lpstr>
      <vt:lpstr>Office Theme</vt:lpstr>
      <vt:lpstr>DISTRIBUCIONES  DE PROBABILIDAD</vt:lpstr>
      <vt:lpstr>RECOMMENDATIONS</vt:lpstr>
      <vt:lpstr>Distribución  uniforme discreta</vt:lpstr>
      <vt:lpstr>Distribución Binomial</vt:lpstr>
      <vt:lpstr>Presentación de PowerPoint</vt:lpstr>
      <vt:lpstr>Distribución de Bernoulli</vt:lpstr>
      <vt:lpstr>Distribución de Poisson</vt:lpstr>
      <vt:lpstr>Distribucion Binomial Negativa</vt:lpstr>
      <vt:lpstr>Distribucion Hipergeometrica</vt:lpstr>
      <vt:lpstr>Distribucion Geometrica</vt:lpstr>
      <vt:lpstr>Presentación de PowerPoint</vt:lpstr>
      <vt:lpstr>Gracias</vt:lpstr>
      <vt:lpstr>Distribución normal </vt:lpstr>
      <vt:lpstr>Propósito:</vt:lpstr>
      <vt:lpstr>Curva de distribución normal.</vt:lpstr>
      <vt:lpstr>Distribución Normal</vt:lpstr>
      <vt:lpstr>Propiedades de la distribución  normal</vt:lpstr>
      <vt:lpstr>Aplicaciones de la distribución normal.</vt:lpstr>
      <vt:lpstr>Función de distribución normal.</vt:lpstr>
      <vt:lpstr>Tipificación:</vt:lpstr>
      <vt:lpstr>Presentación de PowerPoint</vt:lpstr>
      <vt:lpstr>Características de la distribución normal tipificada.</vt:lpstr>
      <vt:lpstr>Gracias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Copia de Vaccine Side Effects by Slidesgo</dc:title>
  <cp:lastModifiedBy>Sofia Dextre</cp:lastModifiedBy>
  <cp:revision>3</cp:revision>
  <dcterms:created xsi:type="dcterms:W3CDTF">2022-04-25T05:45:42Z</dcterms:created>
  <dcterms:modified xsi:type="dcterms:W3CDTF">2022-04-25T07:01:33Z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LastSaved">
    <vt:filetime>2022-04-25T00:00:00Z</vt:filetime>
  </property>
</Properties>
</file>